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ission briefing" id="{828F10D0-5624-2DAD-9D20-57E48DA0D003}">
          <p14:sldIdLst>
            <p14:sldId id="256"/>
          </p14:sldIdLst>
        </p14:section>
        <p14:section name="Problem" id="{6ECA84AA-B648-869D-D3F2-A23B6040E65A}">
          <p14:sldIdLst>
            <p14:sldId id="257"/>
          </p14:sldIdLst>
        </p14:section>
        <p14:section name="Solution" id="{E6C3C754-AE1C-9D24-7ED9-B018997B2E85}">
          <p14:sldIdLst>
            <p14:sldId id="258"/>
          </p14:sldIdLst>
        </p14:section>
        <p14:section name="AI concepts" id="{9C0FF377-CB23-DE92-F5F4-FA3ABEC4DAC3}">
          <p14:sldIdLst>
            <p14:sldId id="259"/>
          </p14:sldIdLst>
        </p14:section>
        <p14:section name="Search space" id="{35DACC49-E727-790A-1BF3-DED2D6DD2EAA}">
          <p14:sldIdLst>
            <p14:sldId id="260"/>
          </p14:sldIdLst>
        </p14:section>
        <p14:section name="A* decision" id="{695B1325-C1AE-8261-38A0-4FBE7DAA1871}">
          <p14:sldIdLst>
            <p14:sldId id="261"/>
            <p14:sldId id="262"/>
            <p14:sldId id="263"/>
          </p14:sldIdLst>
        </p14:section>
        <p14:section name="Justification" id="{8F866422-4EAD-8177-B181-D440CA1A84D3}">
          <p14:sldIdLst>
            <p14:sldId id="264"/>
          </p14:sldIdLst>
        </p14:section>
        <p14:section name="Impact" id="{600158B3-1608-24FB-DD0A-221308DFA02D}">
          <p14:sldIdLst>
            <p14:sldId id="265"/>
            <p14:sldId id="266"/>
          </p14:sldIdLst>
        </p14:section>
        <p14:section name="Close" id="{0474F1A6-44A0-17A2-627D-E745D140F37A}">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5" d="100"/>
          <a:sy n="85"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552028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Shujaat Khan
Imagine the first hours after an earthquake. Buildings have collapsed, roads are blocked, and nobody knows exactly where survivors are. Our project proposes how an AI-powered drone could decide where to search and how to get there efficiently.
Introduce the three of you and say who covers what: Shujaat = problem, system and AI concepts (slides 2-4); Kaivalya = search space and the A* walkthrough (slides 5-8); Ritesh = why A*, limits, impact and conclusion (slides 9-12).
Stress: this is a PROPOSED system and an academic case study, not a deployed product.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Shujaat Khan
Use the photo: a collapsed neighbourhood, a rescuer on the rubble, a drone overhead. Name the application domain clearly: disaster management and emergency response.
Walk down the four rows, one short sentence each. ACCESS: roads are blocked and the ground is unstable. VIEW: survivors are hidden and a person on the ground sees very little. RISK: aftershocks, and rescuers walk into unknown areas. SEARCH: manual searching is slow and hard to prioritise. The right-hand column is what the drone changes.
Say clearly that these are INTENDED benefits of our proposal, not proven results, and that the drone supports rescuers, it does not replace them.
KEY POINT: we understand the real problem and its domain, and there is a clear need that motivates an AI solution.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Shujaat Khan
Walk the pipeline top to bottom, then point at the photo. The camera and sensors are hardware. AI starts at perception, where computer vision analyses the frames (the picture on the right: camera, sensors, AI processing, and a green box on a possible survivor).
SEE = disaster zone to survivor detection. Detection gives a CANDIDATE survivor location, which becomes the GOAL.
THINK = the environment becomes a state space, and A* plans the route to that goal.
ACT = the drone flies the planned path and human rescuers take over.
Emphasise: cyan = where AI is used. Grey = hardware or action. This is a design proposal, not a product that exists.
KEY POINT: a complete, clearly structured AI solution with the AI components explicitly identified.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Shujaat Khan
Give each concept ONE drone-specific sentence, and point at the loop in the middle (perceive, decide, act, repeat).
1. Intelligent agent: the drone senses its environment, chooses an action (move one cell) and acts, again and again.
2. Computer vision: camera frames go into a trained object detector that outputs a CANDIDATE survivor with a confidence level; that location becomes the goal.
3. State space: a state is the drone's grid cell; an action is a one-cell move; the goal test is "is this the survivor cell?".
4. Heuristic search: A* uses an estimated remaining distance to decide which state to expand next.
5. Goal-based planning: the agent has an explicit goal (reach the survivor) and plans a minimum-cost path to it.
Hand over to Kaivalya: "Now let's see what the state space looks like."
KEY POINT: we APPLY the five concepts to our specific drone, we do not just define them.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Kaivalya Khandeshe
Start with the picture on the left: this is what the drone's map could look like after we lay a grid over the aerial view. Free cells are possible positions, red blocks are collapsed areas. (It is an illustrative image; the path drawn in it is not our worked example.)
The arrow takes us to the simplified model we will actually calculate on: 6 columns A to F, 5 rows, drone at A3, survivor at F3, collapsed cells C2, C3, C4 and D1.
Explain the formulation on the right: every free cell is a state; moving to a neighbouring cell is an action costing 1; the goal test is "are we at F3?".
Point out that the wall C2-C4 sits directly between the drone and the survivor, and D1 closes the gap at the top. That is what makes the problem interesting. Say clearly this is a simplified model; real maps are noisier.
KEY POINT: the state space is correctly formulated: states, actions, step cost and goal test.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Kaivalya Khandeshe
"g is what we have already spent to reach this state. h is our estimate of what is left. f is the sum, and A* always expands the state with the lowest f."
Our h is Manhattan distance: columns to go plus rows to go. It ignores the walls, so it can never be larger than the true remaining cost. That is why A* stays optimal here.
Link the three "why it fits" reasons to the drone: the goal is known (computer vision supplies it), every move costs time and battery, and we want the cheapest path, not just any path.
KEY POINT: we correctly identify and define A* and its heuristic, and tie it to the problem.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Kaivalya Khandeshe
Say: "The drone starts at A3. The small grey numbers are h, the Manhattan estimate to F3. Notice A3 is 5 away, and the wall is in the way. h does not know about the wall."
"From A3 the drone can move to B3, A2 or A4. Each costs 1, so g = 1. h for B3 is 4, for A2 and A4 it is 6. So f is 5 for B3 and 7 for the others. Lowest f wins, so B3 is expanded first."
Do the calculation aloud from the banner: B3 is one step from the start, so g = 1; it is four columns from the goal on the same row, so h = 4; f = 5.
What happens next (say it briefly, the next slide shows the result): A* expands B3 and finds B2 and B4 (f = 7). It then works through every f = 7 state, and only when those run out does it move on to f = 9.
KEY POINT: A* is visibly working and we can compute it ourselves.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Kaivalya Khandeshe
KEY MOMENT. Say: "Once the f = 7 states are finished, the open list contains only f = 9 states. The tie is broken by lowest h, so A* expands B1 and then C1, which looks promising. But C2 and D1 are blocked, so C1 leads nowhere. A* is not lost: this is exactly the trap. It drops C1 and moves on to the next open state, B5."
"From B5 the search follows the open lower route: C5, D5, D4, D3, E3 and F3, with f staying at 9 the whole way. Total cost 9. Of 26 free cells, A* expanded only 15."
Also say, precisely: other equal-cost routes exist (for example via A4 and A5), so A* finds A minimum-cost path, not the only one. The top route is a dead end, and a detour through D2, E2, F2 would cost 11.
The amber cells are generated but never expanded; the 5 blank cells were never even generated.
Hand over to Ritesh: "Why A* and not the other search methods?"
KEY POINT: the result is justified with numbers (dead end vs 11 vs 9), and every figure matches the grid.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Ritesh Talpade
Frame it like this: g alone and h alone are each incomplete, and A* combines them.
BFS looks only at distance from the start, so it spreads in every direction (23 states expanded here). DFS dives deep and ended with a longer path of cost 11 (20 expanded). Greedy looks only at the estimate; on this small grid it happened to match A* (15 expanded, cost 9), but it has no guarantee of the cheapest path and can be misled by walls. A* expanded 15 states and its cost-9 path is guaranteed minimum because h never overestimates.
Be honest about Greedy: do NOT claim it failed on our grid; say it has no guarantee. These figures come from our own toy grid (goal test on expansion, neighbour order up/down/left/right), not from a general benchmark.
KEY POINT: the choice of A* is justified from the problem's needs, with numbers we actually computed.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Ritesh Talpade
Be upfront about the limits, and read the rows as pairs: each challenge on the left has a next step on the right.
Battery: several drones can share the search area. Weather: improved computer vision. Damaged or uncertain maps: dynamic path planning (re-planning algorithms such as D* Lite exist for this). Communication loss: the drone builds its own map onboard. False detections: confidence thresholds, and a human confirming before rescuers move.
Point at the mission-control picture: this is the human-in-the-loop idea. The drone proposes, a coordinator confirms. Our grid is a simplification and real disaster maps are noisier.
KEY POINT: we understand the limits of our approach and have realistic ideas for improving 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Ritesh Talpade
Present these as EXPECTED outcomes and link each to a mechanism: aerial scouting (faster search), A* (efficient navigation), the heuristic (reduced search area), scouting before entry (lower rescuer exposure), a clearer picture on the coordinator's screen (better response), and more drones over larger zones (scalable).
The photo shows the goal: a drone supports the rescuer, who reaches the survivor. Do not quote percentages: we have no experimental results, and testing in simulation or the field would be needed.
KEY POINT: the impact is realistic and honest, and linked to the AI components we described.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Ritesh Talpade
One sentence per verb. SENSE: the camera sees the zone. THINK: we turn it into a state space with a goal. SEARCH: A* uses f = g + h to choose the route. REACH: the survivor location is reached. RESCUE: human teams take over.
Close: "AI perceives, A* plans, the drone acts, and people rescue. It is a proposed design, and we have shown exactly how the search works." Point to the rubric trail so the evaluator can see where each part was covered, then invite questions.
KEY POINT: the story is complete and every rubric area is visibly covered.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Ref idx="1001">
        <a:schemeClr val="bg1"/>
      </p:bgRef>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600200"/>
            <a:ext cx="7315200" cy="1737360"/>
          </a:xfrm>
          <a:prstGeom prst="rect">
            <a:avLst/>
          </a:prstGeom>
          <a:noFill/>
          <a:ln/>
        </p:spPr>
        <p:txBody>
          <a:bodyPr wrap="square" rtlCol="0"/>
          <a:lstStyle>
            <a:lvl1pPr marL="0" indent="0" algn="l">
              <a:buNone/>
              <a:defRPr lang="en-US" sz="4400" b="1" dirty="0">
                <a:solidFill>
                  <a:schemeClr val="tx1"/>
                </a:solidFill>
              </a:defRPr>
            </a:lvl1pPr>
          </a:lstStyle>
          <a:p>
            <a:pPr marL="0" indent="0" algn="l">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Ref idx="1001">
        <a:schemeClr val="bg1"/>
      </p:bgRef>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30352"/>
            <a:ext cx="11091672" cy="640080"/>
          </a:xfrm>
          <a:prstGeom prst="rect">
            <a:avLst/>
          </a:prstGeom>
          <a:noFill/>
          <a:ln/>
        </p:spPr>
        <p:txBody>
          <a:bodyPr wrap="square" rtlCol="0"/>
          <a:lstStyle>
            <a:lvl1pPr marL="0" indent="0" algn="l">
              <a:buNone/>
              <a:defRPr lang="en-US" sz="3200" b="1" dirty="0">
                <a:solidFill>
                  <a:schemeClr val="tx1"/>
                </a:solidFill>
              </a:defRPr>
            </a:lvl1pPr>
          </a:lstStyle>
          <a:p>
            <a:pPr marL="0" indent="0" algn="l">
              <a:buNone/>
            </a:pPr>
            <a:endParaRPr lang="en-US" sz="3200" dirty="0"/>
          </a:p>
        </p:txBody>
      </p:sp>
      <p:sp>
        <p:nvSpPr>
          <p:cNvPr id="3" name="Text 0"/>
          <p:cNvSpPr/>
          <p:nvPr/>
        </p:nvSpPr>
        <p:spPr>
          <a:xfrm>
            <a:off x="548640" y="6473952"/>
            <a:ext cx="5120640" cy="228600"/>
          </a:xfrm>
          <a:prstGeom prst="rect">
            <a:avLst/>
          </a:prstGeom>
          <a:noFill/>
          <a:ln/>
        </p:spPr>
        <p:txBody>
          <a:bodyPr wrap="square" lIns="0" tIns="0" rIns="0" bIns="0" rtlCol="0" anchor="ctr"/>
          <a:lstStyle/>
          <a:p>
            <a:pPr marL="0" indent="0">
              <a:buNone/>
            </a:pPr>
            <a:r>
              <a:rPr lang="en-US" sz="900" dirty="0">
                <a:solidFill>
                  <a:schemeClr val="tx2"/>
                </a:solidFill>
                <a:latin typeface="Consolas" pitchFamily="34" charset="0"/>
                <a:ea typeface="Consolas" pitchFamily="34" charset="-122"/>
                <a:cs typeface="Consolas" pitchFamily="34" charset="-120"/>
              </a:rPr>
              <a:t>AI-BASED DRONE SEARCH &amp; RESCUE  ·  MSE GROUP PRESENTATION</a:t>
            </a:r>
            <a:endParaRPr lang="en-US" sz="900" dirty="0"/>
          </a:p>
        </p:txBody>
      </p:sp>
      <p:sp>
        <p:nvSpPr>
          <p:cNvPr id="25" name="Slide Number Placeholder 0"/>
          <p:cNvSpPr>
            <a:spLocks noGrp="1"/>
          </p:cNvSpPr>
          <p:nvPr>
            <p:ph type="sldNum" sz="quarter" idx="4294967295"/>
          </p:nvPr>
        </p:nvSpPr>
        <p:spPr>
          <a:xfrm>
            <a:off x="11183112" y="6473952"/>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tx2"/>
                </a:solidFill>
                <a:latin typeface="Consolas"/>
                <a:ea typeface="Consolas"/>
                <a:cs typeface="Consolas"/>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73952"/>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tx2"/>
                </a:solidFill>
                <a:latin typeface="Consolas"/>
                <a:ea typeface="Consolas"/>
                <a:cs typeface="Consolas"/>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1.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7.png"/><Relationship Id="rId11" Type="http://schemas.openxmlformats.org/officeDocument/2006/relationships/image" Target="../media/image11.jpg"/><Relationship Id="rId5" Type="http://schemas.openxmlformats.org/officeDocument/2006/relationships/image" Target="../media/image6.png"/><Relationship Id="rId10" Type="http://schemas.openxmlformats.org/officeDocument/2006/relationships/image" Target="../media/image10.png"/><Relationship Id="rId4" Type="http://schemas.openxmlformats.org/officeDocument/2006/relationships/image" Target="../media/image5.png"/><Relationship Id="rId9"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13.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23.jpg"/><Relationship Id="rId3" Type="http://schemas.openxmlformats.org/officeDocument/2006/relationships/image" Target="../media/image15.png"/><Relationship Id="rId7" Type="http://schemas.openxmlformats.org/officeDocument/2006/relationships/image" Target="../media/image18.png"/><Relationship Id="rId12"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7.png"/><Relationship Id="rId11" Type="http://schemas.openxmlformats.org/officeDocument/2006/relationships/image" Target="../media/image21.png"/><Relationship Id="rId5" Type="http://schemas.openxmlformats.org/officeDocument/2006/relationships/image" Target="../media/image17.png"/><Relationship Id="rId10" Type="http://schemas.openxmlformats.org/officeDocument/2006/relationships/image" Target="../media/image20.png"/><Relationship Id="rId4" Type="http://schemas.openxmlformats.org/officeDocument/2006/relationships/image" Target="../media/image16.png"/><Relationship Id="rId9" Type="http://schemas.openxmlformats.org/officeDocument/2006/relationships/image" Target="../media/image19.png"/></Relationships>
</file>

<file path=ppt/slides/_rels/slide11.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4.jpg"/><Relationship Id="rId7"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26.png"/><Relationship Id="rId5" Type="http://schemas.openxmlformats.org/officeDocument/2006/relationships/image" Target="../media/image9.png"/><Relationship Id="rId4" Type="http://schemas.openxmlformats.org/officeDocument/2006/relationships/image" Target="../media/image25.png"/><Relationship Id="rId9"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9.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713232"/>
            <a:ext cx="146304" cy="146304"/>
          </a:xfrm>
          <a:prstGeom prst="ellipse">
            <a:avLst/>
          </a:prstGeom>
          <a:solidFill>
            <a:srgbClr val="EF4444"/>
          </a:solidFill>
          <a:ln w="12700">
            <a:solidFill>
              <a:srgbClr val="EF4444"/>
            </a:solidFill>
            <a:prstDash val="solid"/>
          </a:ln>
        </p:spPr>
      </p:sp>
      <p:sp>
        <p:nvSpPr>
          <p:cNvPr id="3" name="Text 1"/>
          <p:cNvSpPr txBox="1"/>
          <p:nvPr/>
        </p:nvSpPr>
        <p:spPr>
          <a:xfrm>
            <a:off x="804672" y="658368"/>
            <a:ext cx="2743200" cy="256032"/>
          </a:xfrm>
          <a:prstGeom prst="rect">
            <a:avLst/>
          </a:prstGeom>
          <a:noFill/>
          <a:ln/>
        </p:spPr>
        <p:txBody>
          <a:bodyPr wrap="square" lIns="0" tIns="0" rIns="0" bIns="0" rtlCol="0" anchor="ctr"/>
          <a:lstStyle/>
          <a:p>
            <a:pPr marL="0" indent="0">
              <a:buNone/>
            </a:pPr>
            <a:r>
              <a:rPr lang="en-US" sz="1200" b="1" dirty="0">
                <a:solidFill>
                  <a:schemeClr val="accent3"/>
                </a:solidFill>
                <a:latin typeface="Consolas" pitchFamily="34" charset="0"/>
                <a:ea typeface="Consolas" pitchFamily="34" charset="-122"/>
                <a:cs typeface="Consolas" pitchFamily="34" charset="-120"/>
              </a:rPr>
              <a:t>MISSION ACTIVE</a:t>
            </a:r>
            <a:endParaRPr lang="en-US" sz="1200" dirty="0"/>
          </a:p>
        </p:txBody>
      </p:sp>
      <p:sp>
        <p:nvSpPr>
          <p:cNvPr id="4" name="Text 2"/>
          <p:cNvSpPr txBox="1"/>
          <p:nvPr/>
        </p:nvSpPr>
        <p:spPr>
          <a:xfrm>
            <a:off x="548640" y="1051560"/>
            <a:ext cx="7315200" cy="228600"/>
          </a:xfrm>
          <a:prstGeom prst="rect">
            <a:avLst/>
          </a:prstGeom>
          <a:noFill/>
          <a:ln/>
        </p:spPr>
        <p:txBody>
          <a:bodyPr wrap="square" lIns="0" tIns="0" rIns="0" bIns="0" rtlCol="0" anchor="t"/>
          <a:lstStyle/>
          <a:p>
            <a:pPr marL="0" indent="0">
              <a:buNone/>
            </a:pPr>
            <a:r>
              <a:rPr lang="en-US" sz="1100" dirty="0">
                <a:solidFill>
                  <a:schemeClr val="accent1"/>
                </a:solidFill>
                <a:latin typeface="Consolas" pitchFamily="34" charset="0"/>
                <a:ea typeface="Consolas" pitchFamily="34" charset="-122"/>
                <a:cs typeface="Consolas" pitchFamily="34" charset="-120"/>
              </a:rPr>
              <a:t>MISSION CLASSIFICATION: PROPOSED SYSTEM · ACADEMIC CASE STUDY</a:t>
            </a:r>
            <a:endParaRPr lang="en-US" sz="1100" dirty="0"/>
          </a:p>
        </p:txBody>
      </p:sp>
      <p:sp>
        <p:nvSpPr>
          <p:cNvPr id="5" name="Text 0"/>
          <p:cNvSpPr>
            <a:spLocks noGrp="1"/>
          </p:cNvSpPr>
          <p:nvPr>
            <p:ph type="title" idx="100" hasCustomPrompt="1"/>
          </p:nvPr>
        </p:nvSpPr>
        <p:spPr>
          <a:xfrm>
            <a:off x="548640" y="1600200"/>
            <a:ext cx="7315200" cy="1737360"/>
          </a:xfrm>
          <a:prstGeom prst="rect">
            <a:avLst/>
          </a:prstGeom>
          <a:noFill/>
          <a:ln/>
        </p:spPr>
        <p:txBody>
          <a:bodyPr wrap="square" lIns="0" tIns="0" rIns="0" bIns="0" rtlCol="0" anchor="t"/>
          <a:lstStyle/>
          <a:p>
            <a:pPr marL="0" indent="0" algn="l">
              <a:buNone/>
            </a:pPr>
            <a:r>
              <a:rPr lang="en-US" sz="4400" b="1" dirty="0">
                <a:solidFill>
                  <a:schemeClr val="tx1"/>
                </a:solidFill>
              </a:rPr>
              <a:t>AI-Based Drone Search &amp; Rescue in Disaster Zones</a:t>
            </a:r>
            <a:endParaRPr lang="en-US" sz="4400" dirty="0"/>
          </a:p>
        </p:txBody>
      </p:sp>
      <p:sp>
        <p:nvSpPr>
          <p:cNvPr id="6" name="Text 4"/>
          <p:cNvSpPr txBox="1"/>
          <p:nvPr/>
        </p:nvSpPr>
        <p:spPr>
          <a:xfrm>
            <a:off x="548640" y="3657600"/>
            <a:ext cx="7132320" cy="457200"/>
          </a:xfrm>
          <a:prstGeom prst="rect">
            <a:avLst/>
          </a:prstGeom>
          <a:noFill/>
          <a:ln/>
        </p:spPr>
        <p:txBody>
          <a:bodyPr wrap="square" lIns="0" tIns="0" rIns="0" bIns="0" rtlCol="0" anchor="t"/>
          <a:lstStyle/>
          <a:p>
            <a:pPr marL="0" indent="0">
              <a:buNone/>
            </a:pPr>
            <a:r>
              <a:rPr lang="en-US" sz="2000" dirty="0">
                <a:solidFill>
                  <a:schemeClr val="tx2"/>
                </a:solidFill>
              </a:rPr>
              <a:t>Intelligent Search Planning for Faster Emergency Response</a:t>
            </a:r>
            <a:endParaRPr lang="en-US" sz="2000" dirty="0"/>
          </a:p>
        </p:txBody>
      </p:sp>
      <p:sp>
        <p:nvSpPr>
          <p:cNvPr id="7" name="Text 5"/>
          <p:cNvSpPr txBox="1"/>
          <p:nvPr/>
        </p:nvSpPr>
        <p:spPr>
          <a:xfrm>
            <a:off x="548640" y="4892040"/>
            <a:ext cx="2743200" cy="201168"/>
          </a:xfrm>
          <a:prstGeom prst="rect">
            <a:avLst/>
          </a:prstGeom>
          <a:noFill/>
          <a:ln/>
        </p:spPr>
        <p:txBody>
          <a:bodyPr wrap="square" lIns="0" tIns="0" rIns="0" bIns="0" rtlCol="0" anchor="t"/>
          <a:lstStyle/>
          <a:p>
            <a:pPr marL="0" indent="0">
              <a:buNone/>
            </a:pPr>
            <a:r>
              <a:rPr lang="en-US" sz="1000" dirty="0">
                <a:solidFill>
                  <a:schemeClr val="tx2"/>
                </a:solidFill>
                <a:latin typeface="Consolas" pitchFamily="34" charset="0"/>
                <a:ea typeface="Consolas" pitchFamily="34" charset="-122"/>
                <a:cs typeface="Consolas" pitchFamily="34" charset="-120"/>
              </a:rPr>
              <a:t>MISSION TEAM</a:t>
            </a:r>
            <a:endParaRPr lang="en-US" sz="1000" dirty="0"/>
          </a:p>
        </p:txBody>
      </p:sp>
      <p:sp>
        <p:nvSpPr>
          <p:cNvPr id="8" name="Team card 1"/>
          <p:cNvSpPr/>
          <p:nvPr/>
        </p:nvSpPr>
        <p:spPr>
          <a:xfrm>
            <a:off x="548640" y="5166360"/>
            <a:ext cx="2240280" cy="777240"/>
          </a:xfrm>
          <a:prstGeom prst="roundRect">
            <a:avLst>
              <a:gd name="adj" fmla="val 9412"/>
            </a:avLst>
          </a:prstGeom>
          <a:solidFill>
            <a:schemeClr val="bg2"/>
          </a:solidFill>
          <a:ln w="12700">
            <a:solidFill>
              <a:schemeClr val="accent5"/>
            </a:solidFill>
            <a:prstDash val="solid"/>
          </a:ln>
        </p:spPr>
      </p:sp>
      <p:sp>
        <p:nvSpPr>
          <p:cNvPr id="9" name="Text 7"/>
          <p:cNvSpPr txBox="1"/>
          <p:nvPr/>
        </p:nvSpPr>
        <p:spPr>
          <a:xfrm>
            <a:off x="685800" y="5266944"/>
            <a:ext cx="2011680" cy="256032"/>
          </a:xfrm>
          <a:prstGeom prst="rect">
            <a:avLst/>
          </a:prstGeom>
          <a:noFill/>
          <a:ln/>
        </p:spPr>
        <p:txBody>
          <a:bodyPr wrap="square" lIns="0" tIns="0" rIns="0" bIns="0" rtlCol="0" anchor="t"/>
          <a:lstStyle/>
          <a:p>
            <a:pPr marL="0" indent="0">
              <a:buNone/>
            </a:pPr>
            <a:r>
              <a:rPr lang="en-US" sz="1400" b="1" dirty="0">
                <a:solidFill>
                  <a:schemeClr val="tx1"/>
                </a:solidFill>
              </a:rPr>
              <a:t>Shujaat Khan</a:t>
            </a:r>
            <a:endParaRPr lang="en-US" sz="1400" dirty="0"/>
          </a:p>
        </p:txBody>
      </p:sp>
      <p:sp>
        <p:nvSpPr>
          <p:cNvPr id="10" name="Text 8"/>
          <p:cNvSpPr txBox="1"/>
          <p:nvPr/>
        </p:nvSpPr>
        <p:spPr>
          <a:xfrm>
            <a:off x="685800" y="5577840"/>
            <a:ext cx="2011680" cy="228600"/>
          </a:xfrm>
          <a:prstGeom prst="rect">
            <a:avLst/>
          </a:prstGeom>
          <a:noFill/>
          <a:ln/>
        </p:spPr>
        <p:txBody>
          <a:bodyPr wrap="square" lIns="0" tIns="0" rIns="0" bIns="0" rtlCol="0" anchor="t"/>
          <a:lstStyle/>
          <a:p>
            <a:pPr marL="0" indent="0">
              <a:buNone/>
            </a:pPr>
            <a:r>
              <a:rPr lang="en-US" sz="1200" dirty="0">
                <a:solidFill>
                  <a:schemeClr val="accent1"/>
                </a:solidFill>
                <a:latin typeface="Consolas" pitchFamily="34" charset="0"/>
                <a:ea typeface="Consolas" pitchFamily="34" charset="-122"/>
                <a:cs typeface="Consolas" pitchFamily="34" charset="-120"/>
              </a:rPr>
              <a:t>202501110017</a:t>
            </a:r>
            <a:endParaRPr lang="en-US" sz="1200" dirty="0"/>
          </a:p>
        </p:txBody>
      </p:sp>
      <p:sp>
        <p:nvSpPr>
          <p:cNvPr id="11" name="Team card 2"/>
          <p:cNvSpPr/>
          <p:nvPr/>
        </p:nvSpPr>
        <p:spPr>
          <a:xfrm>
            <a:off x="2944368" y="5166360"/>
            <a:ext cx="2240280" cy="777240"/>
          </a:xfrm>
          <a:prstGeom prst="roundRect">
            <a:avLst>
              <a:gd name="adj" fmla="val 9412"/>
            </a:avLst>
          </a:prstGeom>
          <a:solidFill>
            <a:schemeClr val="bg2"/>
          </a:solidFill>
          <a:ln w="12700">
            <a:solidFill>
              <a:schemeClr val="accent5"/>
            </a:solidFill>
            <a:prstDash val="solid"/>
          </a:ln>
        </p:spPr>
      </p:sp>
      <p:sp>
        <p:nvSpPr>
          <p:cNvPr id="12" name="Text 10"/>
          <p:cNvSpPr txBox="1"/>
          <p:nvPr/>
        </p:nvSpPr>
        <p:spPr>
          <a:xfrm>
            <a:off x="3081528" y="5266944"/>
            <a:ext cx="2011680" cy="256032"/>
          </a:xfrm>
          <a:prstGeom prst="rect">
            <a:avLst/>
          </a:prstGeom>
          <a:noFill/>
          <a:ln/>
        </p:spPr>
        <p:txBody>
          <a:bodyPr wrap="square" lIns="0" tIns="0" rIns="0" bIns="0" rtlCol="0" anchor="t"/>
          <a:lstStyle/>
          <a:p>
            <a:pPr marL="0" indent="0">
              <a:buNone/>
            </a:pPr>
            <a:r>
              <a:rPr lang="en-US" sz="1400" b="1" dirty="0">
                <a:solidFill>
                  <a:schemeClr val="tx1"/>
                </a:solidFill>
              </a:rPr>
              <a:t>Kaivalya Khandeshe</a:t>
            </a:r>
            <a:endParaRPr lang="en-US" sz="1400" dirty="0"/>
          </a:p>
        </p:txBody>
      </p:sp>
      <p:sp>
        <p:nvSpPr>
          <p:cNvPr id="13" name="Text 11"/>
          <p:cNvSpPr txBox="1"/>
          <p:nvPr/>
        </p:nvSpPr>
        <p:spPr>
          <a:xfrm>
            <a:off x="3081528" y="5577840"/>
            <a:ext cx="2011680" cy="228600"/>
          </a:xfrm>
          <a:prstGeom prst="rect">
            <a:avLst/>
          </a:prstGeom>
          <a:noFill/>
          <a:ln/>
        </p:spPr>
        <p:txBody>
          <a:bodyPr wrap="square" lIns="0" tIns="0" rIns="0" bIns="0" rtlCol="0" anchor="t"/>
          <a:lstStyle/>
          <a:p>
            <a:pPr marL="0" indent="0">
              <a:buNone/>
            </a:pPr>
            <a:r>
              <a:rPr lang="en-US" sz="1200" dirty="0">
                <a:solidFill>
                  <a:schemeClr val="accent1"/>
                </a:solidFill>
                <a:latin typeface="Consolas" pitchFamily="34" charset="0"/>
                <a:ea typeface="Consolas" pitchFamily="34" charset="-122"/>
                <a:cs typeface="Consolas" pitchFamily="34" charset="-120"/>
              </a:rPr>
              <a:t>202501110016</a:t>
            </a:r>
            <a:endParaRPr lang="en-US" sz="1200" dirty="0"/>
          </a:p>
        </p:txBody>
      </p:sp>
      <p:sp>
        <p:nvSpPr>
          <p:cNvPr id="14" name="Team card 3"/>
          <p:cNvSpPr/>
          <p:nvPr/>
        </p:nvSpPr>
        <p:spPr>
          <a:xfrm>
            <a:off x="5340096" y="5166360"/>
            <a:ext cx="2240280" cy="777240"/>
          </a:xfrm>
          <a:prstGeom prst="roundRect">
            <a:avLst>
              <a:gd name="adj" fmla="val 9412"/>
            </a:avLst>
          </a:prstGeom>
          <a:solidFill>
            <a:schemeClr val="bg2"/>
          </a:solidFill>
          <a:ln w="12700">
            <a:solidFill>
              <a:schemeClr val="accent5"/>
            </a:solidFill>
            <a:prstDash val="solid"/>
          </a:ln>
        </p:spPr>
      </p:sp>
      <p:sp>
        <p:nvSpPr>
          <p:cNvPr id="15" name="Text 13"/>
          <p:cNvSpPr txBox="1"/>
          <p:nvPr/>
        </p:nvSpPr>
        <p:spPr>
          <a:xfrm>
            <a:off x="5477256" y="5266944"/>
            <a:ext cx="2011680" cy="256032"/>
          </a:xfrm>
          <a:prstGeom prst="rect">
            <a:avLst/>
          </a:prstGeom>
          <a:noFill/>
          <a:ln/>
        </p:spPr>
        <p:txBody>
          <a:bodyPr wrap="square" lIns="0" tIns="0" rIns="0" bIns="0" rtlCol="0" anchor="t"/>
          <a:lstStyle/>
          <a:p>
            <a:pPr marL="0" indent="0">
              <a:buNone/>
            </a:pPr>
            <a:r>
              <a:rPr lang="en-US" sz="1400" b="1" dirty="0">
                <a:solidFill>
                  <a:schemeClr val="tx1"/>
                </a:solidFill>
              </a:rPr>
              <a:t>Ritesh Talpade</a:t>
            </a:r>
            <a:endParaRPr lang="en-US" sz="1400" dirty="0"/>
          </a:p>
        </p:txBody>
      </p:sp>
      <p:sp>
        <p:nvSpPr>
          <p:cNvPr id="16" name="Text 14"/>
          <p:cNvSpPr txBox="1"/>
          <p:nvPr/>
        </p:nvSpPr>
        <p:spPr>
          <a:xfrm>
            <a:off x="5477256" y="5577840"/>
            <a:ext cx="2011680" cy="228600"/>
          </a:xfrm>
          <a:prstGeom prst="rect">
            <a:avLst/>
          </a:prstGeom>
          <a:noFill/>
          <a:ln/>
        </p:spPr>
        <p:txBody>
          <a:bodyPr wrap="square" lIns="0" tIns="0" rIns="0" bIns="0" rtlCol="0" anchor="t"/>
          <a:lstStyle/>
          <a:p>
            <a:pPr marL="0" indent="0">
              <a:buNone/>
            </a:pPr>
            <a:r>
              <a:rPr lang="en-US" sz="1200" dirty="0">
                <a:solidFill>
                  <a:schemeClr val="accent1"/>
                </a:solidFill>
                <a:latin typeface="Consolas" pitchFamily="34" charset="0"/>
                <a:ea typeface="Consolas" pitchFamily="34" charset="-122"/>
                <a:cs typeface="Consolas" pitchFamily="34" charset="-120"/>
              </a:rPr>
              <a:t>202501110005</a:t>
            </a:r>
            <a:endParaRPr lang="en-US" sz="1200" dirty="0"/>
          </a:p>
        </p:txBody>
      </p:sp>
      <p:sp>
        <p:nvSpPr>
          <p:cNvPr id="17" name="Text 15"/>
          <p:cNvSpPr txBox="1"/>
          <p:nvPr/>
        </p:nvSpPr>
        <p:spPr>
          <a:xfrm>
            <a:off x="548640" y="6263640"/>
            <a:ext cx="5486400" cy="228600"/>
          </a:xfrm>
          <a:prstGeom prst="rect">
            <a:avLst/>
          </a:prstGeom>
          <a:noFill/>
          <a:ln/>
        </p:spPr>
        <p:txBody>
          <a:bodyPr wrap="square" lIns="0" tIns="0" rIns="0" bIns="0" rtlCol="0" anchor="t"/>
          <a:lstStyle/>
          <a:p>
            <a:pPr marL="0" indent="0">
              <a:buNone/>
            </a:pPr>
            <a:r>
              <a:rPr lang="en-US" sz="1100" dirty="0">
                <a:solidFill>
                  <a:schemeClr val="tx2"/>
                </a:solidFill>
                <a:latin typeface="Consolas" pitchFamily="34" charset="0"/>
                <a:ea typeface="Consolas" pitchFamily="34" charset="-122"/>
                <a:cs typeface="Consolas" pitchFamily="34" charset="-120"/>
              </a:rPr>
              <a:t>Artificial Intelligence  ·  MSE Group Presentation</a:t>
            </a:r>
            <a:endParaRPr lang="en-US" sz="1100" dirty="0"/>
          </a:p>
        </p:txBody>
      </p:sp>
      <p:sp>
        <p:nvSpPr>
          <p:cNvPr id="18" name="Shape 16"/>
          <p:cNvSpPr/>
          <p:nvPr/>
        </p:nvSpPr>
        <p:spPr>
          <a:xfrm>
            <a:off x="7132320" y="1051560"/>
            <a:ext cx="4754880" cy="4754880"/>
          </a:xfrm>
          <a:prstGeom prst="ellipse">
            <a:avLst/>
          </a:prstGeom>
          <a:solidFill>
            <a:schemeClr val="bg1">
              <a:alpha val="0"/>
            </a:schemeClr>
          </a:solidFill>
          <a:ln w="12700">
            <a:solidFill>
              <a:srgbClr val="1B4D5C"/>
            </a:solidFill>
            <a:prstDash val="solid"/>
          </a:ln>
        </p:spPr>
      </p:sp>
      <p:sp>
        <p:nvSpPr>
          <p:cNvPr id="19" name="Shape 17"/>
          <p:cNvSpPr/>
          <p:nvPr/>
        </p:nvSpPr>
        <p:spPr>
          <a:xfrm>
            <a:off x="7909560" y="1828800"/>
            <a:ext cx="3200400" cy="3200400"/>
          </a:xfrm>
          <a:prstGeom prst="ellipse">
            <a:avLst/>
          </a:prstGeom>
          <a:solidFill>
            <a:schemeClr val="bg1">
              <a:alpha val="0"/>
            </a:schemeClr>
          </a:solidFill>
          <a:ln w="12700">
            <a:solidFill>
              <a:srgbClr val="1B4D5C"/>
            </a:solidFill>
            <a:prstDash val="solid"/>
          </a:ln>
        </p:spPr>
      </p:sp>
      <p:sp>
        <p:nvSpPr>
          <p:cNvPr id="20" name="Shape 18"/>
          <p:cNvSpPr/>
          <p:nvPr/>
        </p:nvSpPr>
        <p:spPr>
          <a:xfrm>
            <a:off x="8686800" y="2606040"/>
            <a:ext cx="1645920" cy="1645920"/>
          </a:xfrm>
          <a:prstGeom prst="ellipse">
            <a:avLst/>
          </a:prstGeom>
          <a:solidFill>
            <a:schemeClr val="bg1">
              <a:alpha val="0"/>
            </a:schemeClr>
          </a:solidFill>
          <a:ln w="12700">
            <a:solidFill>
              <a:srgbClr val="1B4D5C"/>
            </a:solidFill>
            <a:prstDash val="solid"/>
          </a:ln>
        </p:spPr>
      </p:sp>
      <p:sp>
        <p:nvSpPr>
          <p:cNvPr id="21" name="Shape 19"/>
          <p:cNvSpPr/>
          <p:nvPr/>
        </p:nvSpPr>
        <p:spPr>
          <a:xfrm>
            <a:off x="7132320" y="1051560"/>
            <a:ext cx="4754880" cy="4754880"/>
          </a:xfrm>
          <a:prstGeom prst="pie">
            <a:avLst>
              <a:gd name="adj1" fmla="val 17100000"/>
              <a:gd name="adj2" fmla="val 21600000"/>
            </a:avLst>
          </a:prstGeom>
          <a:solidFill>
            <a:schemeClr val="accent1">
              <a:alpha val="14000"/>
            </a:schemeClr>
          </a:solidFill>
          <a:ln w="12700">
            <a:solidFill>
              <a:schemeClr val="accent1">
                <a:alpha val="0"/>
              </a:schemeClr>
            </a:solidFill>
            <a:prstDash val="solid"/>
          </a:ln>
        </p:spPr>
      </p:sp>
      <p:sp>
        <p:nvSpPr>
          <p:cNvPr id="22" name="Shape 20"/>
          <p:cNvSpPr/>
          <p:nvPr/>
        </p:nvSpPr>
        <p:spPr>
          <a:xfrm>
            <a:off x="7132320" y="3429000"/>
            <a:ext cx="4754880" cy="0"/>
          </a:xfrm>
          <a:prstGeom prst="line">
            <a:avLst/>
          </a:prstGeom>
          <a:noFill/>
          <a:ln w="12700">
            <a:solidFill>
              <a:srgbClr val="1B4D5C"/>
            </a:solidFill>
            <a:prstDash val="solid"/>
          </a:ln>
        </p:spPr>
      </p:sp>
      <p:sp>
        <p:nvSpPr>
          <p:cNvPr id="23" name="Shape 21"/>
          <p:cNvSpPr/>
          <p:nvPr/>
        </p:nvSpPr>
        <p:spPr>
          <a:xfrm>
            <a:off x="9509760" y="1051560"/>
            <a:ext cx="0" cy="4754880"/>
          </a:xfrm>
          <a:prstGeom prst="line">
            <a:avLst/>
          </a:prstGeom>
          <a:noFill/>
          <a:ln w="12700">
            <a:solidFill>
              <a:srgbClr val="1B4D5C"/>
            </a:solidFill>
            <a:prstDash val="solid"/>
          </a:ln>
        </p:spPr>
      </p:sp>
      <p:sp>
        <p:nvSpPr>
          <p:cNvPr id="24" name="Shape 22"/>
          <p:cNvSpPr/>
          <p:nvPr/>
        </p:nvSpPr>
        <p:spPr>
          <a:xfrm>
            <a:off x="8869680" y="1874520"/>
            <a:ext cx="128016" cy="128016"/>
          </a:xfrm>
          <a:prstGeom prst="ellipse">
            <a:avLst/>
          </a:prstGeom>
          <a:solidFill>
            <a:srgbClr val="EF4444"/>
          </a:solidFill>
          <a:ln w="12700">
            <a:solidFill>
              <a:srgbClr val="EF4444"/>
            </a:solidFill>
            <a:prstDash val="solid"/>
          </a:ln>
        </p:spPr>
      </p:sp>
      <p:sp>
        <p:nvSpPr>
          <p:cNvPr id="25" name="Shape 23"/>
          <p:cNvSpPr/>
          <p:nvPr/>
        </p:nvSpPr>
        <p:spPr>
          <a:xfrm>
            <a:off x="7772400" y="4251960"/>
            <a:ext cx="128016" cy="128016"/>
          </a:xfrm>
          <a:prstGeom prst="ellipse">
            <a:avLst/>
          </a:prstGeom>
          <a:solidFill>
            <a:srgbClr val="EF4444"/>
          </a:solidFill>
          <a:ln w="12700">
            <a:solidFill>
              <a:srgbClr val="EF4444"/>
            </a:solidFill>
            <a:prstDash val="solid"/>
          </a:ln>
        </p:spPr>
      </p:sp>
      <p:sp>
        <p:nvSpPr>
          <p:cNvPr id="26" name="Shape 24"/>
          <p:cNvSpPr/>
          <p:nvPr/>
        </p:nvSpPr>
        <p:spPr>
          <a:xfrm>
            <a:off x="10332720" y="4791456"/>
            <a:ext cx="128016" cy="128016"/>
          </a:xfrm>
          <a:prstGeom prst="ellipse">
            <a:avLst/>
          </a:prstGeom>
          <a:solidFill>
            <a:srgbClr val="EF4444"/>
          </a:solidFill>
          <a:ln w="12700">
            <a:solidFill>
              <a:srgbClr val="EF4444"/>
            </a:solidFill>
            <a:prstDash val="solid"/>
          </a:ln>
        </p:spPr>
      </p:sp>
      <p:sp>
        <p:nvSpPr>
          <p:cNvPr id="27" name="Shape 25"/>
          <p:cNvSpPr/>
          <p:nvPr/>
        </p:nvSpPr>
        <p:spPr>
          <a:xfrm>
            <a:off x="10689336" y="2286000"/>
            <a:ext cx="457200" cy="457200"/>
          </a:xfrm>
          <a:prstGeom prst="ellipse">
            <a:avLst/>
          </a:prstGeom>
          <a:solidFill>
            <a:schemeClr val="bg1">
              <a:alpha val="0"/>
            </a:schemeClr>
          </a:solidFill>
          <a:ln w="15875">
            <a:solidFill>
              <a:schemeClr val="accent2"/>
            </a:solidFill>
            <a:prstDash val="solid"/>
          </a:ln>
        </p:spPr>
      </p:sp>
      <p:sp>
        <p:nvSpPr>
          <p:cNvPr id="28" name="Shape 26"/>
          <p:cNvSpPr/>
          <p:nvPr/>
        </p:nvSpPr>
        <p:spPr>
          <a:xfrm>
            <a:off x="10826496" y="2423160"/>
            <a:ext cx="182880" cy="182880"/>
          </a:xfrm>
          <a:prstGeom prst="ellipse">
            <a:avLst/>
          </a:prstGeom>
          <a:solidFill>
            <a:srgbClr val="F59E0B"/>
          </a:solidFill>
          <a:ln w="12700">
            <a:solidFill>
              <a:srgbClr val="F59E0B"/>
            </a:solidFill>
            <a:prstDash val="solid"/>
          </a:ln>
        </p:spPr>
      </p:sp>
      <p:sp>
        <p:nvSpPr>
          <p:cNvPr id="29" name="Text 27"/>
          <p:cNvSpPr txBox="1"/>
          <p:nvPr/>
        </p:nvSpPr>
        <p:spPr>
          <a:xfrm>
            <a:off x="10058400" y="1993392"/>
            <a:ext cx="1691640" cy="201168"/>
          </a:xfrm>
          <a:prstGeom prst="rect">
            <a:avLst/>
          </a:prstGeom>
          <a:noFill/>
          <a:ln/>
        </p:spPr>
        <p:txBody>
          <a:bodyPr wrap="square" lIns="0" tIns="0" rIns="0" bIns="0" rtlCol="0" anchor="t"/>
          <a:lstStyle/>
          <a:p>
            <a:pPr marL="0" indent="0" algn="r">
              <a:buNone/>
            </a:pPr>
            <a:r>
              <a:rPr lang="en-US" sz="1000" b="1" dirty="0">
                <a:solidFill>
                  <a:schemeClr val="accent2"/>
                </a:solidFill>
                <a:latin typeface="Consolas" pitchFamily="34" charset="0"/>
                <a:ea typeface="Consolas" pitchFamily="34" charset="-122"/>
                <a:cs typeface="Consolas" pitchFamily="34" charset="-120"/>
              </a:rPr>
              <a:t>POSSIBLE SURVIVOR?</a:t>
            </a:r>
            <a:endParaRPr lang="en-US" sz="1000" dirty="0"/>
          </a:p>
        </p:txBody>
      </p:sp>
      <p:sp>
        <p:nvSpPr>
          <p:cNvPr id="30" name="Shape 28"/>
          <p:cNvSpPr/>
          <p:nvPr/>
        </p:nvSpPr>
        <p:spPr>
          <a:xfrm>
            <a:off x="9052560" y="2971800"/>
            <a:ext cx="914400" cy="914400"/>
          </a:xfrm>
          <a:prstGeom prst="ellipse">
            <a:avLst/>
          </a:prstGeom>
          <a:solidFill>
            <a:schemeClr val="bg2"/>
          </a:solidFill>
          <a:ln w="28575">
            <a:solidFill>
              <a:schemeClr val="accent1"/>
            </a:solidFill>
            <a:prstDash val="solid"/>
          </a:ln>
        </p:spPr>
      </p:sp>
      <p:pic>
        <p:nvPicPr>
          <p:cNvPr id="31" name="Image 0" descr="Drone at radar centre"/>
          <p:cNvPicPr>
            <a:picLocks noChangeAspect="1"/>
          </p:cNvPicPr>
          <p:nvPr/>
        </p:nvPicPr>
        <p:blipFill>
          <a:blip r:embed="rId3"/>
          <a:stretch>
            <a:fillRect/>
          </a:stretch>
        </p:blipFill>
        <p:spPr>
          <a:xfrm>
            <a:off x="9198864" y="3118104"/>
            <a:ext cx="621792" cy="621792"/>
          </a:xfrm>
          <a:prstGeom prst="rect">
            <a:avLst/>
          </a:prstGeom>
        </p:spPr>
      </p:pic>
      <p:sp>
        <p:nvSpPr>
          <p:cNvPr id="32" name="Text 29"/>
          <p:cNvSpPr txBox="1"/>
          <p:nvPr/>
        </p:nvSpPr>
        <p:spPr>
          <a:xfrm>
            <a:off x="8412480" y="6126480"/>
            <a:ext cx="2377440" cy="201168"/>
          </a:xfrm>
          <a:prstGeom prst="rect">
            <a:avLst/>
          </a:prstGeom>
          <a:noFill/>
          <a:ln/>
        </p:spPr>
        <p:txBody>
          <a:bodyPr wrap="square" lIns="0" tIns="0" rIns="0" bIns="0" rtlCol="0" anchor="t"/>
          <a:lstStyle/>
          <a:p>
            <a:pPr marL="0" indent="0" algn="ctr">
              <a:buNone/>
            </a:pPr>
            <a:r>
              <a:rPr lang="en-US" sz="1000" dirty="0">
                <a:solidFill>
                  <a:schemeClr val="tx2"/>
                </a:solidFill>
                <a:latin typeface="Consolas" pitchFamily="34" charset="0"/>
                <a:ea typeface="Consolas" pitchFamily="34" charset="-122"/>
                <a:cs typeface="Consolas" pitchFamily="34" charset="-120"/>
              </a:rPr>
              <a:t>SCAN SECTOR · DISASTER ZONE</a:t>
            </a:r>
            <a:endParaRPr lang="en-US" sz="10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74320"/>
            <a:ext cx="7315200" cy="201168"/>
          </a:xfrm>
          <a:prstGeom prst="rect">
            <a:avLst/>
          </a:prstGeom>
          <a:noFill/>
          <a:ln/>
        </p:spPr>
        <p:txBody>
          <a:bodyPr wrap="square" lIns="0" tIns="0" rIns="0" bIns="0" rtlCol="0" anchor="t"/>
          <a:lstStyle/>
          <a:p>
            <a:pPr marL="0" indent="0">
              <a:buNone/>
            </a:pPr>
            <a:r>
              <a:rPr lang="en-US" sz="1000" b="1" dirty="0">
                <a:solidFill>
                  <a:schemeClr val="accent1"/>
                </a:solidFill>
                <a:latin typeface="Consolas" pitchFamily="34" charset="0"/>
                <a:ea typeface="Consolas" pitchFamily="34" charset="-122"/>
                <a:cs typeface="Consolas" pitchFamily="34" charset="-120"/>
              </a:rPr>
              <a:t>PHASE 01 · PROBLEM &amp; DOMAIN</a:t>
            </a:r>
            <a:endParaRPr lang="en-US" sz="1000" dirty="0"/>
          </a:p>
        </p:txBody>
      </p:sp>
      <p:sp>
        <p:nvSpPr>
          <p:cNvPr id="3" name="Shape 1"/>
          <p:cNvSpPr/>
          <p:nvPr/>
        </p:nvSpPr>
        <p:spPr>
          <a:xfrm>
            <a:off x="10314432" y="301752"/>
            <a:ext cx="109728" cy="109728"/>
          </a:xfrm>
          <a:prstGeom prst="rect">
            <a:avLst/>
          </a:prstGeom>
          <a:solidFill>
            <a:schemeClr val="accent1"/>
          </a:solidFill>
          <a:ln w="12700">
            <a:solidFill>
              <a:schemeClr val="accent1"/>
            </a:solidFill>
            <a:prstDash val="solid"/>
          </a:ln>
        </p:spPr>
      </p:sp>
      <p:sp>
        <p:nvSpPr>
          <p:cNvPr id="4" name="Shape 2"/>
          <p:cNvSpPr/>
          <p:nvPr/>
        </p:nvSpPr>
        <p:spPr>
          <a:xfrm>
            <a:off x="10488168" y="301752"/>
            <a:ext cx="109728" cy="109728"/>
          </a:xfrm>
          <a:prstGeom prst="rect">
            <a:avLst/>
          </a:prstGeom>
          <a:solidFill>
            <a:schemeClr val="accent5"/>
          </a:solidFill>
          <a:ln w="12700">
            <a:solidFill>
              <a:schemeClr val="accent5"/>
            </a:solidFill>
            <a:prstDash val="solid"/>
          </a:ln>
        </p:spPr>
      </p:sp>
      <p:sp>
        <p:nvSpPr>
          <p:cNvPr id="5" name="Shape 3"/>
          <p:cNvSpPr/>
          <p:nvPr/>
        </p:nvSpPr>
        <p:spPr>
          <a:xfrm>
            <a:off x="10661904" y="301752"/>
            <a:ext cx="109728" cy="109728"/>
          </a:xfrm>
          <a:prstGeom prst="rect">
            <a:avLst/>
          </a:prstGeom>
          <a:solidFill>
            <a:schemeClr val="accent5"/>
          </a:solidFill>
          <a:ln w="12700">
            <a:solidFill>
              <a:schemeClr val="accent5"/>
            </a:solidFill>
            <a:prstDash val="solid"/>
          </a:ln>
        </p:spPr>
      </p:sp>
      <p:sp>
        <p:nvSpPr>
          <p:cNvPr id="6" name="Shape 4"/>
          <p:cNvSpPr/>
          <p:nvPr/>
        </p:nvSpPr>
        <p:spPr>
          <a:xfrm>
            <a:off x="10835640" y="301752"/>
            <a:ext cx="109728" cy="109728"/>
          </a:xfrm>
          <a:prstGeom prst="rect">
            <a:avLst/>
          </a:prstGeom>
          <a:solidFill>
            <a:schemeClr val="accent5"/>
          </a:solidFill>
          <a:ln w="12700">
            <a:solidFill>
              <a:schemeClr val="accent5"/>
            </a:solidFill>
            <a:prstDash val="solid"/>
          </a:ln>
        </p:spPr>
      </p:sp>
      <p:sp>
        <p:nvSpPr>
          <p:cNvPr id="7" name="Shape 5"/>
          <p:cNvSpPr/>
          <p:nvPr/>
        </p:nvSpPr>
        <p:spPr>
          <a:xfrm>
            <a:off x="11009376" y="301752"/>
            <a:ext cx="109728" cy="109728"/>
          </a:xfrm>
          <a:prstGeom prst="rect">
            <a:avLst/>
          </a:prstGeom>
          <a:solidFill>
            <a:schemeClr val="accent5"/>
          </a:solidFill>
          <a:ln w="12700">
            <a:solidFill>
              <a:schemeClr val="accent5"/>
            </a:solidFill>
            <a:prstDash val="solid"/>
          </a:ln>
        </p:spPr>
      </p:sp>
      <p:sp>
        <p:nvSpPr>
          <p:cNvPr id="8" name="Shape 6"/>
          <p:cNvSpPr/>
          <p:nvPr/>
        </p:nvSpPr>
        <p:spPr>
          <a:xfrm>
            <a:off x="11183112" y="301752"/>
            <a:ext cx="109728" cy="109728"/>
          </a:xfrm>
          <a:prstGeom prst="rect">
            <a:avLst/>
          </a:prstGeom>
          <a:solidFill>
            <a:schemeClr val="accent5"/>
          </a:solidFill>
          <a:ln w="12700">
            <a:solidFill>
              <a:schemeClr val="accent5"/>
            </a:solidFill>
            <a:prstDash val="solid"/>
          </a:ln>
        </p:spPr>
      </p:sp>
      <p:sp>
        <p:nvSpPr>
          <p:cNvPr id="9" name="Shape 7"/>
          <p:cNvSpPr/>
          <p:nvPr/>
        </p:nvSpPr>
        <p:spPr>
          <a:xfrm>
            <a:off x="11356848" y="301752"/>
            <a:ext cx="109728" cy="109728"/>
          </a:xfrm>
          <a:prstGeom prst="rect">
            <a:avLst/>
          </a:prstGeom>
          <a:solidFill>
            <a:schemeClr val="accent5"/>
          </a:solidFill>
          <a:ln w="12700">
            <a:solidFill>
              <a:schemeClr val="accent5"/>
            </a:solidFill>
            <a:prstDash val="solid"/>
          </a:ln>
        </p:spPr>
      </p:sp>
      <p:sp>
        <p:nvSpPr>
          <p:cNvPr id="10" name="Shape 8"/>
          <p:cNvSpPr/>
          <p:nvPr/>
        </p:nvSpPr>
        <p:spPr>
          <a:xfrm>
            <a:off x="11530584" y="301752"/>
            <a:ext cx="109728" cy="109728"/>
          </a:xfrm>
          <a:prstGeom prst="rect">
            <a:avLst/>
          </a:prstGeom>
          <a:solidFill>
            <a:schemeClr val="accent5"/>
          </a:solidFill>
          <a:ln w="12700">
            <a:solidFill>
              <a:schemeClr val="accent5"/>
            </a:solidFill>
            <a:prstDash val="solid"/>
          </a:ln>
        </p:spPr>
      </p:sp>
      <p:sp>
        <p:nvSpPr>
          <p:cNvPr id="11" name="Text 0"/>
          <p:cNvSpPr>
            <a:spLocks noGrp="1"/>
          </p:cNvSpPr>
          <p:nvPr>
            <p:ph type="title" idx="100" hasCustomPrompt="1"/>
          </p:nvPr>
        </p:nvSpPr>
        <p:spPr>
          <a:xfrm>
            <a:off x="548640" y="530352"/>
            <a:ext cx="11091672" cy="640080"/>
          </a:xfrm>
          <a:prstGeom prst="rect">
            <a:avLst/>
          </a:prstGeom>
          <a:noFill/>
          <a:ln/>
        </p:spPr>
        <p:txBody>
          <a:bodyPr wrap="square" lIns="0" tIns="0" rIns="0" bIns="0" rtlCol="0" anchor="ctr"/>
          <a:lstStyle/>
          <a:p>
            <a:pPr marL="0" indent="0" algn="l">
              <a:buNone/>
            </a:pPr>
            <a:r>
              <a:rPr lang="en-US" sz="3200" b="1" dirty="0">
                <a:solidFill>
                  <a:schemeClr val="tx1"/>
                </a:solidFill>
              </a:rPr>
              <a:t>Why conventional search is hard</a:t>
            </a:r>
            <a:endParaRPr lang="en-US" sz="3200" dirty="0"/>
          </a:p>
        </p:txBody>
      </p:sp>
      <p:pic>
        <p:nvPicPr>
          <p:cNvPr id="12" name="Disaster scene" descr="Rescuer in collapsed city with a search drone overhead at sunset"/>
          <p:cNvPicPr>
            <a:picLocks noChangeAspect="1"/>
          </p:cNvPicPr>
          <p:nvPr/>
        </p:nvPicPr>
        <p:blipFill>
          <a:blip r:embed="rId3"/>
          <a:stretch>
            <a:fillRect/>
          </a:stretch>
        </p:blipFill>
        <p:spPr>
          <a:xfrm>
            <a:off x="548640" y="1417320"/>
            <a:ext cx="4572000" cy="4736592"/>
          </a:xfrm>
          <a:prstGeom prst="rect">
            <a:avLst/>
          </a:prstGeom>
        </p:spPr>
      </p:pic>
      <p:sp>
        <p:nvSpPr>
          <p:cNvPr id="13" name="Shape 10"/>
          <p:cNvSpPr/>
          <p:nvPr/>
        </p:nvSpPr>
        <p:spPr>
          <a:xfrm>
            <a:off x="484632" y="1353312"/>
            <a:ext cx="274320" cy="0"/>
          </a:xfrm>
          <a:prstGeom prst="line">
            <a:avLst/>
          </a:prstGeom>
          <a:noFill/>
          <a:ln w="25400">
            <a:solidFill>
              <a:schemeClr val="accent1"/>
            </a:solidFill>
            <a:prstDash val="solid"/>
          </a:ln>
        </p:spPr>
      </p:sp>
      <p:sp>
        <p:nvSpPr>
          <p:cNvPr id="14" name="Shape 11"/>
          <p:cNvSpPr/>
          <p:nvPr/>
        </p:nvSpPr>
        <p:spPr>
          <a:xfrm>
            <a:off x="484632" y="1353312"/>
            <a:ext cx="0" cy="274320"/>
          </a:xfrm>
          <a:prstGeom prst="line">
            <a:avLst/>
          </a:prstGeom>
          <a:noFill/>
          <a:ln w="25400">
            <a:solidFill>
              <a:schemeClr val="accent1"/>
            </a:solidFill>
            <a:prstDash val="solid"/>
          </a:ln>
        </p:spPr>
      </p:sp>
      <p:sp>
        <p:nvSpPr>
          <p:cNvPr id="15" name="Shape 12"/>
          <p:cNvSpPr/>
          <p:nvPr/>
        </p:nvSpPr>
        <p:spPr>
          <a:xfrm>
            <a:off x="4910328" y="1353312"/>
            <a:ext cx="274320" cy="0"/>
          </a:xfrm>
          <a:prstGeom prst="line">
            <a:avLst/>
          </a:prstGeom>
          <a:noFill/>
          <a:ln w="25400">
            <a:solidFill>
              <a:schemeClr val="accent1"/>
            </a:solidFill>
            <a:prstDash val="solid"/>
          </a:ln>
        </p:spPr>
      </p:sp>
      <p:sp>
        <p:nvSpPr>
          <p:cNvPr id="16" name="Shape 13"/>
          <p:cNvSpPr/>
          <p:nvPr/>
        </p:nvSpPr>
        <p:spPr>
          <a:xfrm>
            <a:off x="5184648" y="1353312"/>
            <a:ext cx="0" cy="274320"/>
          </a:xfrm>
          <a:prstGeom prst="line">
            <a:avLst/>
          </a:prstGeom>
          <a:noFill/>
          <a:ln w="25400">
            <a:solidFill>
              <a:schemeClr val="accent1"/>
            </a:solidFill>
            <a:prstDash val="solid"/>
          </a:ln>
        </p:spPr>
      </p:sp>
      <p:sp>
        <p:nvSpPr>
          <p:cNvPr id="17" name="Shape 14"/>
          <p:cNvSpPr/>
          <p:nvPr/>
        </p:nvSpPr>
        <p:spPr>
          <a:xfrm>
            <a:off x="484632" y="6217920"/>
            <a:ext cx="274320" cy="0"/>
          </a:xfrm>
          <a:prstGeom prst="line">
            <a:avLst/>
          </a:prstGeom>
          <a:noFill/>
          <a:ln w="25400">
            <a:solidFill>
              <a:schemeClr val="accent1"/>
            </a:solidFill>
            <a:prstDash val="solid"/>
          </a:ln>
        </p:spPr>
      </p:sp>
      <p:sp>
        <p:nvSpPr>
          <p:cNvPr id="18" name="Shape 15"/>
          <p:cNvSpPr/>
          <p:nvPr/>
        </p:nvSpPr>
        <p:spPr>
          <a:xfrm>
            <a:off x="484632" y="5943600"/>
            <a:ext cx="0" cy="274320"/>
          </a:xfrm>
          <a:prstGeom prst="line">
            <a:avLst/>
          </a:prstGeom>
          <a:noFill/>
          <a:ln w="25400">
            <a:solidFill>
              <a:schemeClr val="accent1"/>
            </a:solidFill>
            <a:prstDash val="solid"/>
          </a:ln>
        </p:spPr>
      </p:sp>
      <p:sp>
        <p:nvSpPr>
          <p:cNvPr id="19" name="Shape 16"/>
          <p:cNvSpPr/>
          <p:nvPr/>
        </p:nvSpPr>
        <p:spPr>
          <a:xfrm>
            <a:off x="4910328" y="6217920"/>
            <a:ext cx="274320" cy="0"/>
          </a:xfrm>
          <a:prstGeom prst="line">
            <a:avLst/>
          </a:prstGeom>
          <a:noFill/>
          <a:ln w="25400">
            <a:solidFill>
              <a:schemeClr val="accent1"/>
            </a:solidFill>
            <a:prstDash val="solid"/>
          </a:ln>
        </p:spPr>
      </p:sp>
      <p:sp>
        <p:nvSpPr>
          <p:cNvPr id="20" name="Shape 17"/>
          <p:cNvSpPr/>
          <p:nvPr/>
        </p:nvSpPr>
        <p:spPr>
          <a:xfrm>
            <a:off x="5184648" y="5943600"/>
            <a:ext cx="0" cy="274320"/>
          </a:xfrm>
          <a:prstGeom prst="line">
            <a:avLst/>
          </a:prstGeom>
          <a:noFill/>
          <a:ln w="25400">
            <a:solidFill>
              <a:schemeClr val="accent1"/>
            </a:solidFill>
            <a:prstDash val="solid"/>
          </a:ln>
        </p:spPr>
      </p:sp>
      <p:sp>
        <p:nvSpPr>
          <p:cNvPr id="21" name="Shape 18"/>
          <p:cNvSpPr/>
          <p:nvPr/>
        </p:nvSpPr>
        <p:spPr>
          <a:xfrm>
            <a:off x="713232" y="5788152"/>
            <a:ext cx="4242816" cy="246888"/>
          </a:xfrm>
          <a:prstGeom prst="roundRect">
            <a:avLst>
              <a:gd name="adj" fmla="val 18519"/>
            </a:avLst>
          </a:prstGeom>
          <a:solidFill>
            <a:schemeClr val="bg1">
              <a:alpha val="75000"/>
            </a:schemeClr>
          </a:solidFill>
          <a:ln w="12700">
            <a:solidFill>
              <a:srgbClr val="22D3EE"/>
            </a:solidFill>
            <a:prstDash val="solid"/>
          </a:ln>
        </p:spPr>
      </p:sp>
      <p:sp>
        <p:nvSpPr>
          <p:cNvPr id="22" name="Text 19"/>
          <p:cNvSpPr txBox="1"/>
          <p:nvPr/>
        </p:nvSpPr>
        <p:spPr>
          <a:xfrm>
            <a:off x="713232" y="5788152"/>
            <a:ext cx="4242816" cy="246888"/>
          </a:xfrm>
          <a:prstGeom prst="rect">
            <a:avLst/>
          </a:prstGeom>
          <a:noFill/>
          <a:ln/>
        </p:spPr>
        <p:txBody>
          <a:bodyPr wrap="square" lIns="0" tIns="0" rIns="0" bIns="0" rtlCol="0" anchor="ctr"/>
          <a:lstStyle/>
          <a:p>
            <a:pPr marL="0" indent="0" algn="ctr">
              <a:buNone/>
            </a:pPr>
            <a:r>
              <a:rPr lang="en-US" sz="900" b="1" dirty="0">
                <a:solidFill>
                  <a:srgbClr val="22D3EE"/>
                </a:solidFill>
                <a:latin typeface="Consolas" pitchFamily="34" charset="0"/>
                <a:ea typeface="Consolas" pitchFamily="34" charset="-122"/>
                <a:cs typeface="Consolas" pitchFamily="34" charset="-120"/>
              </a:rPr>
              <a:t>DOMAIN: DISASTER MANAGEMENT &amp; EMERGENCY RESPONSE</a:t>
            </a:r>
            <a:endParaRPr lang="en-US" sz="900" dirty="0"/>
          </a:p>
        </p:txBody>
      </p:sp>
      <p:sp>
        <p:nvSpPr>
          <p:cNvPr id="23" name="Text 20"/>
          <p:cNvSpPr txBox="1"/>
          <p:nvPr/>
        </p:nvSpPr>
        <p:spPr>
          <a:xfrm>
            <a:off x="5943600" y="1417320"/>
            <a:ext cx="2468880" cy="292608"/>
          </a:xfrm>
          <a:prstGeom prst="rect">
            <a:avLst/>
          </a:prstGeom>
          <a:noFill/>
          <a:ln/>
        </p:spPr>
        <p:txBody>
          <a:bodyPr wrap="square" lIns="0" tIns="0" rIns="0" bIns="0" rtlCol="0" anchor="ctr"/>
          <a:lstStyle/>
          <a:p>
            <a:pPr marL="0" indent="0">
              <a:buNone/>
            </a:pPr>
            <a:r>
              <a:rPr lang="en-US" sz="1300" b="1" dirty="0">
                <a:solidFill>
                  <a:schemeClr val="accent3"/>
                </a:solidFill>
                <a:latin typeface="Consolas" pitchFamily="34" charset="0"/>
                <a:ea typeface="Consolas" pitchFamily="34" charset="-122"/>
                <a:cs typeface="Consolas" pitchFamily="34" charset="-120"/>
              </a:rPr>
              <a:t>GROUND TEAM</a:t>
            </a:r>
            <a:endParaRPr lang="en-US" sz="1300" dirty="0"/>
          </a:p>
        </p:txBody>
      </p:sp>
      <p:pic>
        <p:nvPicPr>
          <p:cNvPr id="24" name="Image 1" descr="preencoded.png"/>
          <p:cNvPicPr>
            <a:picLocks noChangeAspect="1"/>
          </p:cNvPicPr>
          <p:nvPr/>
        </p:nvPicPr>
        <p:blipFill>
          <a:blip r:embed="rId4"/>
          <a:stretch>
            <a:fillRect/>
          </a:stretch>
        </p:blipFill>
        <p:spPr>
          <a:xfrm>
            <a:off x="5623560" y="1435608"/>
            <a:ext cx="256032" cy="256032"/>
          </a:xfrm>
          <a:prstGeom prst="rect">
            <a:avLst/>
          </a:prstGeom>
        </p:spPr>
      </p:pic>
      <p:sp>
        <p:nvSpPr>
          <p:cNvPr id="25" name="Text 21"/>
          <p:cNvSpPr txBox="1"/>
          <p:nvPr/>
        </p:nvSpPr>
        <p:spPr>
          <a:xfrm>
            <a:off x="9125712" y="1417320"/>
            <a:ext cx="2468880" cy="292608"/>
          </a:xfrm>
          <a:prstGeom prst="rect">
            <a:avLst/>
          </a:prstGeom>
          <a:noFill/>
          <a:ln/>
        </p:spPr>
        <p:txBody>
          <a:bodyPr wrap="square" lIns="0" tIns="0" rIns="0" bIns="0" rtlCol="0" anchor="ctr"/>
          <a:lstStyle/>
          <a:p>
            <a:pPr marL="0" indent="0">
              <a:buNone/>
            </a:pPr>
            <a:r>
              <a:rPr lang="en-US" sz="1300" b="1" dirty="0">
                <a:solidFill>
                  <a:schemeClr val="accent1"/>
                </a:solidFill>
                <a:latin typeface="Consolas" pitchFamily="34" charset="0"/>
                <a:ea typeface="Consolas" pitchFamily="34" charset="-122"/>
                <a:cs typeface="Consolas" pitchFamily="34" charset="-120"/>
              </a:rPr>
              <a:t>AI-ASSISTED DRONE</a:t>
            </a:r>
            <a:endParaRPr lang="en-US" sz="1300" dirty="0"/>
          </a:p>
        </p:txBody>
      </p:sp>
      <p:pic>
        <p:nvPicPr>
          <p:cNvPr id="26" name="Image 2" descr="/home/claude/work/assets/drone.png"/>
          <p:cNvPicPr>
            <a:picLocks noChangeAspect="1"/>
          </p:cNvPicPr>
          <p:nvPr/>
        </p:nvPicPr>
        <p:blipFill>
          <a:blip r:embed="rId5"/>
          <a:stretch>
            <a:fillRect/>
          </a:stretch>
        </p:blipFill>
        <p:spPr>
          <a:xfrm>
            <a:off x="8805672" y="1417320"/>
            <a:ext cx="292608" cy="292608"/>
          </a:xfrm>
          <a:prstGeom prst="rect">
            <a:avLst/>
          </a:prstGeom>
        </p:spPr>
      </p:pic>
      <p:sp>
        <p:nvSpPr>
          <p:cNvPr id="27" name="Text 22"/>
          <p:cNvSpPr txBox="1"/>
          <p:nvPr/>
        </p:nvSpPr>
        <p:spPr>
          <a:xfrm>
            <a:off x="5623560" y="1874520"/>
            <a:ext cx="1828800" cy="182880"/>
          </a:xfrm>
          <a:prstGeom prst="rect">
            <a:avLst/>
          </a:prstGeom>
          <a:noFill/>
          <a:ln/>
        </p:spPr>
        <p:txBody>
          <a:bodyPr wrap="square" lIns="0" tIns="0" rIns="0" bIns="0" rtlCol="0" anchor="t"/>
          <a:lstStyle/>
          <a:p>
            <a:pPr marL="0" indent="0">
              <a:buNone/>
            </a:pPr>
            <a:r>
              <a:rPr lang="en-US" sz="900" b="1" dirty="0">
                <a:solidFill>
                  <a:schemeClr val="tx2"/>
                </a:solidFill>
                <a:latin typeface="Consolas" pitchFamily="34" charset="0"/>
                <a:ea typeface="Consolas" pitchFamily="34" charset="-122"/>
                <a:cs typeface="Consolas" pitchFamily="34" charset="-120"/>
              </a:rPr>
              <a:t>ACCESS</a:t>
            </a:r>
            <a:endParaRPr lang="en-US" sz="900" dirty="0"/>
          </a:p>
        </p:txBody>
      </p:sp>
      <p:sp>
        <p:nvSpPr>
          <p:cNvPr id="28" name="Shape 23"/>
          <p:cNvSpPr/>
          <p:nvPr/>
        </p:nvSpPr>
        <p:spPr>
          <a:xfrm>
            <a:off x="5623560" y="2093976"/>
            <a:ext cx="2834640" cy="694944"/>
          </a:xfrm>
          <a:prstGeom prst="roundRect">
            <a:avLst>
              <a:gd name="adj" fmla="val 10526"/>
            </a:avLst>
          </a:prstGeom>
          <a:solidFill>
            <a:schemeClr val="accent3">
              <a:alpha val="10000"/>
            </a:schemeClr>
          </a:solidFill>
          <a:ln w="15875">
            <a:solidFill>
              <a:schemeClr val="accent3"/>
            </a:solidFill>
            <a:prstDash val="solid"/>
          </a:ln>
        </p:spPr>
      </p:sp>
      <p:sp>
        <p:nvSpPr>
          <p:cNvPr id="29" name="Text 24"/>
          <p:cNvSpPr txBox="1"/>
          <p:nvPr/>
        </p:nvSpPr>
        <p:spPr>
          <a:xfrm>
            <a:off x="5760720" y="2093976"/>
            <a:ext cx="2560320" cy="694944"/>
          </a:xfrm>
          <a:prstGeom prst="rect">
            <a:avLst/>
          </a:prstGeom>
          <a:noFill/>
          <a:ln/>
        </p:spPr>
        <p:txBody>
          <a:bodyPr wrap="square" lIns="0" tIns="0" rIns="0" bIns="0" rtlCol="0" anchor="ctr"/>
          <a:lstStyle/>
          <a:p>
            <a:pPr marL="0" indent="0">
              <a:buNone/>
            </a:pPr>
            <a:r>
              <a:rPr lang="en-US" sz="1400" dirty="0">
                <a:solidFill>
                  <a:schemeClr val="tx1"/>
                </a:solidFill>
              </a:rPr>
              <a:t>Roads blocked by debris, unstable ground</a:t>
            </a:r>
            <a:endParaRPr lang="en-US" sz="1400" dirty="0"/>
          </a:p>
        </p:txBody>
      </p:sp>
      <p:sp>
        <p:nvSpPr>
          <p:cNvPr id="30" name="Shape 25"/>
          <p:cNvSpPr/>
          <p:nvPr/>
        </p:nvSpPr>
        <p:spPr>
          <a:xfrm>
            <a:off x="8485632" y="2322576"/>
            <a:ext cx="182880" cy="237744"/>
          </a:xfrm>
          <a:prstGeom prst="chevron">
            <a:avLst/>
          </a:prstGeom>
          <a:solidFill>
            <a:schemeClr val="accent1"/>
          </a:solidFill>
          <a:ln w="12700">
            <a:solidFill>
              <a:schemeClr val="accent1"/>
            </a:solidFill>
            <a:prstDash val="solid"/>
          </a:ln>
        </p:spPr>
      </p:sp>
      <p:sp>
        <p:nvSpPr>
          <p:cNvPr id="31" name="Shape 26"/>
          <p:cNvSpPr/>
          <p:nvPr/>
        </p:nvSpPr>
        <p:spPr>
          <a:xfrm>
            <a:off x="8805672" y="2093976"/>
            <a:ext cx="2834640" cy="694944"/>
          </a:xfrm>
          <a:prstGeom prst="roundRect">
            <a:avLst>
              <a:gd name="adj" fmla="val 10526"/>
            </a:avLst>
          </a:prstGeom>
          <a:solidFill>
            <a:schemeClr val="accent1">
              <a:alpha val="10000"/>
            </a:schemeClr>
          </a:solidFill>
          <a:ln w="15875">
            <a:solidFill>
              <a:schemeClr val="accent1"/>
            </a:solidFill>
            <a:prstDash val="solid"/>
          </a:ln>
        </p:spPr>
      </p:sp>
      <p:sp>
        <p:nvSpPr>
          <p:cNvPr id="32" name="Text 27"/>
          <p:cNvSpPr txBox="1"/>
          <p:nvPr/>
        </p:nvSpPr>
        <p:spPr>
          <a:xfrm>
            <a:off x="8942832" y="2093976"/>
            <a:ext cx="2560320" cy="694944"/>
          </a:xfrm>
          <a:prstGeom prst="rect">
            <a:avLst/>
          </a:prstGeom>
          <a:noFill/>
          <a:ln/>
        </p:spPr>
        <p:txBody>
          <a:bodyPr wrap="square" lIns="0" tIns="0" rIns="0" bIns="0" rtlCol="0" anchor="ctr"/>
          <a:lstStyle/>
          <a:p>
            <a:pPr marL="0" indent="0">
              <a:buNone/>
            </a:pPr>
            <a:r>
              <a:rPr lang="en-US" sz="1400" dirty="0">
                <a:solidFill>
                  <a:schemeClr val="tx1"/>
                </a:solidFill>
              </a:rPr>
              <a:t>Flies over rubble and water</a:t>
            </a:r>
            <a:endParaRPr lang="en-US" sz="1400" dirty="0"/>
          </a:p>
        </p:txBody>
      </p:sp>
      <p:sp>
        <p:nvSpPr>
          <p:cNvPr id="33" name="Text 28"/>
          <p:cNvSpPr txBox="1"/>
          <p:nvPr/>
        </p:nvSpPr>
        <p:spPr>
          <a:xfrm>
            <a:off x="5623560" y="2862072"/>
            <a:ext cx="1828800" cy="182880"/>
          </a:xfrm>
          <a:prstGeom prst="rect">
            <a:avLst/>
          </a:prstGeom>
          <a:noFill/>
          <a:ln/>
        </p:spPr>
        <p:txBody>
          <a:bodyPr wrap="square" lIns="0" tIns="0" rIns="0" bIns="0" rtlCol="0" anchor="t"/>
          <a:lstStyle/>
          <a:p>
            <a:pPr marL="0" indent="0">
              <a:buNone/>
            </a:pPr>
            <a:r>
              <a:rPr lang="en-US" sz="900" b="1" dirty="0">
                <a:solidFill>
                  <a:schemeClr val="tx2"/>
                </a:solidFill>
                <a:latin typeface="Consolas" pitchFamily="34" charset="0"/>
                <a:ea typeface="Consolas" pitchFamily="34" charset="-122"/>
                <a:cs typeface="Consolas" pitchFamily="34" charset="-120"/>
              </a:rPr>
              <a:t>VIEW</a:t>
            </a:r>
            <a:endParaRPr lang="en-US" sz="900" dirty="0"/>
          </a:p>
        </p:txBody>
      </p:sp>
      <p:sp>
        <p:nvSpPr>
          <p:cNvPr id="34" name="Shape 29"/>
          <p:cNvSpPr/>
          <p:nvPr/>
        </p:nvSpPr>
        <p:spPr>
          <a:xfrm>
            <a:off x="5623560" y="3081528"/>
            <a:ext cx="2834640" cy="694944"/>
          </a:xfrm>
          <a:prstGeom prst="roundRect">
            <a:avLst>
              <a:gd name="adj" fmla="val 10526"/>
            </a:avLst>
          </a:prstGeom>
          <a:solidFill>
            <a:schemeClr val="accent3">
              <a:alpha val="10000"/>
            </a:schemeClr>
          </a:solidFill>
          <a:ln w="15875">
            <a:solidFill>
              <a:schemeClr val="accent3"/>
            </a:solidFill>
            <a:prstDash val="solid"/>
          </a:ln>
        </p:spPr>
      </p:sp>
      <p:sp>
        <p:nvSpPr>
          <p:cNvPr id="35" name="Text 30"/>
          <p:cNvSpPr txBox="1"/>
          <p:nvPr/>
        </p:nvSpPr>
        <p:spPr>
          <a:xfrm>
            <a:off x="5760720" y="3081528"/>
            <a:ext cx="2560320" cy="694944"/>
          </a:xfrm>
          <a:prstGeom prst="rect">
            <a:avLst/>
          </a:prstGeom>
          <a:noFill/>
          <a:ln/>
        </p:spPr>
        <p:txBody>
          <a:bodyPr wrap="square" lIns="0" tIns="0" rIns="0" bIns="0" rtlCol="0" anchor="ctr"/>
          <a:lstStyle/>
          <a:p>
            <a:pPr marL="0" indent="0">
              <a:buNone/>
            </a:pPr>
            <a:r>
              <a:rPr lang="en-US" sz="1400" dirty="0">
                <a:solidFill>
                  <a:schemeClr val="tx1"/>
                </a:solidFill>
              </a:rPr>
              <a:t>Survivors hidden, limited line of sight</a:t>
            </a:r>
            <a:endParaRPr lang="en-US" sz="1400" dirty="0"/>
          </a:p>
        </p:txBody>
      </p:sp>
      <p:sp>
        <p:nvSpPr>
          <p:cNvPr id="36" name="Shape 31"/>
          <p:cNvSpPr/>
          <p:nvPr/>
        </p:nvSpPr>
        <p:spPr>
          <a:xfrm>
            <a:off x="8485632" y="3310128"/>
            <a:ext cx="182880" cy="237744"/>
          </a:xfrm>
          <a:prstGeom prst="chevron">
            <a:avLst/>
          </a:prstGeom>
          <a:solidFill>
            <a:schemeClr val="accent1"/>
          </a:solidFill>
          <a:ln w="12700">
            <a:solidFill>
              <a:schemeClr val="accent1"/>
            </a:solidFill>
            <a:prstDash val="solid"/>
          </a:ln>
        </p:spPr>
      </p:sp>
      <p:sp>
        <p:nvSpPr>
          <p:cNvPr id="37" name="Shape 32"/>
          <p:cNvSpPr/>
          <p:nvPr/>
        </p:nvSpPr>
        <p:spPr>
          <a:xfrm>
            <a:off x="8805672" y="3081528"/>
            <a:ext cx="2834640" cy="694944"/>
          </a:xfrm>
          <a:prstGeom prst="roundRect">
            <a:avLst>
              <a:gd name="adj" fmla="val 10526"/>
            </a:avLst>
          </a:prstGeom>
          <a:solidFill>
            <a:schemeClr val="accent1">
              <a:alpha val="10000"/>
            </a:schemeClr>
          </a:solidFill>
          <a:ln w="15875">
            <a:solidFill>
              <a:schemeClr val="accent1"/>
            </a:solidFill>
            <a:prstDash val="solid"/>
          </a:ln>
        </p:spPr>
      </p:sp>
      <p:sp>
        <p:nvSpPr>
          <p:cNvPr id="38" name="Text 33"/>
          <p:cNvSpPr txBox="1"/>
          <p:nvPr/>
        </p:nvSpPr>
        <p:spPr>
          <a:xfrm>
            <a:off x="8942832" y="3081528"/>
            <a:ext cx="2560320" cy="694944"/>
          </a:xfrm>
          <a:prstGeom prst="rect">
            <a:avLst/>
          </a:prstGeom>
          <a:noFill/>
          <a:ln/>
        </p:spPr>
        <p:txBody>
          <a:bodyPr wrap="square" lIns="0" tIns="0" rIns="0" bIns="0" rtlCol="0" anchor="ctr"/>
          <a:lstStyle/>
          <a:p>
            <a:pPr marL="0" indent="0">
              <a:buNone/>
            </a:pPr>
            <a:r>
              <a:rPr lang="en-US" sz="1400" dirty="0">
                <a:solidFill>
                  <a:schemeClr val="tx1"/>
                </a:solidFill>
              </a:rPr>
              <a:t>Wide aerial view of the whole zone</a:t>
            </a:r>
            <a:endParaRPr lang="en-US" sz="1400" dirty="0"/>
          </a:p>
        </p:txBody>
      </p:sp>
      <p:sp>
        <p:nvSpPr>
          <p:cNvPr id="39" name="Text 34"/>
          <p:cNvSpPr txBox="1"/>
          <p:nvPr/>
        </p:nvSpPr>
        <p:spPr>
          <a:xfrm>
            <a:off x="5623560" y="3849624"/>
            <a:ext cx="1828800" cy="182880"/>
          </a:xfrm>
          <a:prstGeom prst="rect">
            <a:avLst/>
          </a:prstGeom>
          <a:noFill/>
          <a:ln/>
        </p:spPr>
        <p:txBody>
          <a:bodyPr wrap="square" lIns="0" tIns="0" rIns="0" bIns="0" rtlCol="0" anchor="t"/>
          <a:lstStyle/>
          <a:p>
            <a:pPr marL="0" indent="0">
              <a:buNone/>
            </a:pPr>
            <a:r>
              <a:rPr lang="en-US" sz="900" b="1" dirty="0">
                <a:solidFill>
                  <a:schemeClr val="tx2"/>
                </a:solidFill>
                <a:latin typeface="Consolas" pitchFamily="34" charset="0"/>
                <a:ea typeface="Consolas" pitchFamily="34" charset="-122"/>
                <a:cs typeface="Consolas" pitchFamily="34" charset="-120"/>
              </a:rPr>
              <a:t>RISK</a:t>
            </a:r>
            <a:endParaRPr lang="en-US" sz="900" dirty="0"/>
          </a:p>
        </p:txBody>
      </p:sp>
      <p:sp>
        <p:nvSpPr>
          <p:cNvPr id="40" name="Shape 35"/>
          <p:cNvSpPr/>
          <p:nvPr/>
        </p:nvSpPr>
        <p:spPr>
          <a:xfrm>
            <a:off x="5623560" y="4069080"/>
            <a:ext cx="2834640" cy="694944"/>
          </a:xfrm>
          <a:prstGeom prst="roundRect">
            <a:avLst>
              <a:gd name="adj" fmla="val 10526"/>
            </a:avLst>
          </a:prstGeom>
          <a:solidFill>
            <a:schemeClr val="accent3">
              <a:alpha val="10000"/>
            </a:schemeClr>
          </a:solidFill>
          <a:ln w="15875">
            <a:solidFill>
              <a:schemeClr val="accent3"/>
            </a:solidFill>
            <a:prstDash val="solid"/>
          </a:ln>
        </p:spPr>
      </p:sp>
      <p:sp>
        <p:nvSpPr>
          <p:cNvPr id="41" name="Text 36"/>
          <p:cNvSpPr txBox="1"/>
          <p:nvPr/>
        </p:nvSpPr>
        <p:spPr>
          <a:xfrm>
            <a:off x="5760720" y="4069080"/>
            <a:ext cx="2560320" cy="694944"/>
          </a:xfrm>
          <a:prstGeom prst="rect">
            <a:avLst/>
          </a:prstGeom>
          <a:noFill/>
          <a:ln/>
        </p:spPr>
        <p:txBody>
          <a:bodyPr wrap="square" lIns="0" tIns="0" rIns="0" bIns="0" rtlCol="0" anchor="ctr"/>
          <a:lstStyle/>
          <a:p>
            <a:pPr marL="0" indent="0">
              <a:buNone/>
            </a:pPr>
            <a:r>
              <a:rPr lang="en-US" sz="1400" dirty="0">
                <a:solidFill>
                  <a:schemeClr val="tx1"/>
                </a:solidFill>
              </a:rPr>
              <a:t>Aftershocks; rescuers enter unknown areas</a:t>
            </a:r>
            <a:endParaRPr lang="en-US" sz="1400" dirty="0"/>
          </a:p>
        </p:txBody>
      </p:sp>
      <p:sp>
        <p:nvSpPr>
          <p:cNvPr id="42" name="Shape 37"/>
          <p:cNvSpPr/>
          <p:nvPr/>
        </p:nvSpPr>
        <p:spPr>
          <a:xfrm>
            <a:off x="8485632" y="4297680"/>
            <a:ext cx="182880" cy="237744"/>
          </a:xfrm>
          <a:prstGeom prst="chevron">
            <a:avLst/>
          </a:prstGeom>
          <a:solidFill>
            <a:schemeClr val="accent1"/>
          </a:solidFill>
          <a:ln w="12700">
            <a:solidFill>
              <a:schemeClr val="accent1"/>
            </a:solidFill>
            <a:prstDash val="solid"/>
          </a:ln>
        </p:spPr>
      </p:sp>
      <p:sp>
        <p:nvSpPr>
          <p:cNvPr id="43" name="Shape 38"/>
          <p:cNvSpPr/>
          <p:nvPr/>
        </p:nvSpPr>
        <p:spPr>
          <a:xfrm>
            <a:off x="8805672" y="4069080"/>
            <a:ext cx="2834640" cy="694944"/>
          </a:xfrm>
          <a:prstGeom prst="roundRect">
            <a:avLst>
              <a:gd name="adj" fmla="val 10526"/>
            </a:avLst>
          </a:prstGeom>
          <a:solidFill>
            <a:schemeClr val="accent1">
              <a:alpha val="10000"/>
            </a:schemeClr>
          </a:solidFill>
          <a:ln w="15875">
            <a:solidFill>
              <a:schemeClr val="accent1"/>
            </a:solidFill>
            <a:prstDash val="solid"/>
          </a:ln>
        </p:spPr>
      </p:sp>
      <p:sp>
        <p:nvSpPr>
          <p:cNvPr id="44" name="Text 39"/>
          <p:cNvSpPr txBox="1"/>
          <p:nvPr/>
        </p:nvSpPr>
        <p:spPr>
          <a:xfrm>
            <a:off x="8942832" y="4069080"/>
            <a:ext cx="2560320" cy="694944"/>
          </a:xfrm>
          <a:prstGeom prst="rect">
            <a:avLst/>
          </a:prstGeom>
          <a:noFill/>
          <a:ln/>
        </p:spPr>
        <p:txBody>
          <a:bodyPr wrap="square" lIns="0" tIns="0" rIns="0" bIns="0" rtlCol="0" anchor="ctr"/>
          <a:lstStyle/>
          <a:p>
            <a:pPr marL="0" indent="0">
              <a:buNone/>
            </a:pPr>
            <a:r>
              <a:rPr lang="en-US" sz="1400" dirty="0">
                <a:solidFill>
                  <a:schemeClr val="tx1"/>
                </a:solidFill>
              </a:rPr>
              <a:t>Scouts first, so no one is exposed</a:t>
            </a:r>
            <a:endParaRPr lang="en-US" sz="1400" dirty="0"/>
          </a:p>
        </p:txBody>
      </p:sp>
      <p:sp>
        <p:nvSpPr>
          <p:cNvPr id="45" name="Text 40"/>
          <p:cNvSpPr txBox="1"/>
          <p:nvPr/>
        </p:nvSpPr>
        <p:spPr>
          <a:xfrm>
            <a:off x="5623560" y="4837176"/>
            <a:ext cx="1828800" cy="182880"/>
          </a:xfrm>
          <a:prstGeom prst="rect">
            <a:avLst/>
          </a:prstGeom>
          <a:noFill/>
          <a:ln/>
        </p:spPr>
        <p:txBody>
          <a:bodyPr wrap="square" lIns="0" tIns="0" rIns="0" bIns="0" rtlCol="0" anchor="t"/>
          <a:lstStyle/>
          <a:p>
            <a:pPr marL="0" indent="0">
              <a:buNone/>
            </a:pPr>
            <a:r>
              <a:rPr lang="en-US" sz="900" b="1" dirty="0">
                <a:solidFill>
                  <a:schemeClr val="tx2"/>
                </a:solidFill>
                <a:latin typeface="Consolas" pitchFamily="34" charset="0"/>
                <a:ea typeface="Consolas" pitchFamily="34" charset="-122"/>
                <a:cs typeface="Consolas" pitchFamily="34" charset="-120"/>
              </a:rPr>
              <a:t>SEARCH</a:t>
            </a:r>
            <a:endParaRPr lang="en-US" sz="900" dirty="0"/>
          </a:p>
        </p:txBody>
      </p:sp>
      <p:sp>
        <p:nvSpPr>
          <p:cNvPr id="46" name="Shape 41"/>
          <p:cNvSpPr/>
          <p:nvPr/>
        </p:nvSpPr>
        <p:spPr>
          <a:xfrm>
            <a:off x="5623560" y="5056632"/>
            <a:ext cx="2834640" cy="694944"/>
          </a:xfrm>
          <a:prstGeom prst="roundRect">
            <a:avLst>
              <a:gd name="adj" fmla="val 10526"/>
            </a:avLst>
          </a:prstGeom>
          <a:solidFill>
            <a:schemeClr val="accent3">
              <a:alpha val="10000"/>
            </a:schemeClr>
          </a:solidFill>
          <a:ln w="15875">
            <a:solidFill>
              <a:schemeClr val="accent3"/>
            </a:solidFill>
            <a:prstDash val="solid"/>
          </a:ln>
        </p:spPr>
      </p:sp>
      <p:sp>
        <p:nvSpPr>
          <p:cNvPr id="47" name="Text 42"/>
          <p:cNvSpPr txBox="1"/>
          <p:nvPr/>
        </p:nvSpPr>
        <p:spPr>
          <a:xfrm>
            <a:off x="5760720" y="5056632"/>
            <a:ext cx="2560320" cy="694944"/>
          </a:xfrm>
          <a:prstGeom prst="rect">
            <a:avLst/>
          </a:prstGeom>
          <a:noFill/>
          <a:ln/>
        </p:spPr>
        <p:txBody>
          <a:bodyPr wrap="square" lIns="0" tIns="0" rIns="0" bIns="0" rtlCol="0" anchor="ctr"/>
          <a:lstStyle/>
          <a:p>
            <a:pPr marL="0" indent="0">
              <a:buNone/>
            </a:pPr>
            <a:r>
              <a:rPr lang="en-US" sz="1400" dirty="0">
                <a:solidFill>
                  <a:schemeClr val="tx1"/>
                </a:solidFill>
              </a:rPr>
              <a:t>Slow, manual, hard to prioritise</a:t>
            </a:r>
            <a:endParaRPr lang="en-US" sz="1400" dirty="0"/>
          </a:p>
        </p:txBody>
      </p:sp>
      <p:sp>
        <p:nvSpPr>
          <p:cNvPr id="48" name="Shape 43"/>
          <p:cNvSpPr/>
          <p:nvPr/>
        </p:nvSpPr>
        <p:spPr>
          <a:xfrm>
            <a:off x="8485632" y="5285232"/>
            <a:ext cx="182880" cy="237744"/>
          </a:xfrm>
          <a:prstGeom prst="chevron">
            <a:avLst/>
          </a:prstGeom>
          <a:solidFill>
            <a:schemeClr val="accent1"/>
          </a:solidFill>
          <a:ln w="12700">
            <a:solidFill>
              <a:schemeClr val="accent1"/>
            </a:solidFill>
            <a:prstDash val="solid"/>
          </a:ln>
        </p:spPr>
      </p:sp>
      <p:sp>
        <p:nvSpPr>
          <p:cNvPr id="49" name="Shape 44"/>
          <p:cNvSpPr/>
          <p:nvPr/>
        </p:nvSpPr>
        <p:spPr>
          <a:xfrm>
            <a:off x="8805672" y="5056632"/>
            <a:ext cx="2834640" cy="694944"/>
          </a:xfrm>
          <a:prstGeom prst="roundRect">
            <a:avLst>
              <a:gd name="adj" fmla="val 10526"/>
            </a:avLst>
          </a:prstGeom>
          <a:solidFill>
            <a:schemeClr val="accent1">
              <a:alpha val="10000"/>
            </a:schemeClr>
          </a:solidFill>
          <a:ln w="15875">
            <a:solidFill>
              <a:schemeClr val="accent1"/>
            </a:solidFill>
            <a:prstDash val="solid"/>
          </a:ln>
        </p:spPr>
      </p:sp>
      <p:sp>
        <p:nvSpPr>
          <p:cNvPr id="50" name="Text 45"/>
          <p:cNvSpPr txBox="1"/>
          <p:nvPr/>
        </p:nvSpPr>
        <p:spPr>
          <a:xfrm>
            <a:off x="8942832" y="5056632"/>
            <a:ext cx="2560320" cy="694944"/>
          </a:xfrm>
          <a:prstGeom prst="rect">
            <a:avLst/>
          </a:prstGeom>
          <a:noFill/>
          <a:ln/>
        </p:spPr>
        <p:txBody>
          <a:bodyPr wrap="square" lIns="0" tIns="0" rIns="0" bIns="0" rtlCol="0" anchor="ctr"/>
          <a:lstStyle/>
          <a:p>
            <a:pPr marL="0" indent="0">
              <a:buNone/>
            </a:pPr>
            <a:r>
              <a:rPr lang="en-US" sz="1400" dirty="0">
                <a:solidFill>
                  <a:schemeClr val="tx1"/>
                </a:solidFill>
              </a:rPr>
              <a:t>Systematic, planned with A*</a:t>
            </a:r>
            <a:endParaRPr lang="en-US" sz="1400" dirty="0"/>
          </a:p>
        </p:txBody>
      </p:sp>
      <p:sp>
        <p:nvSpPr>
          <p:cNvPr id="51" name="Text 46"/>
          <p:cNvSpPr txBox="1"/>
          <p:nvPr/>
        </p:nvSpPr>
        <p:spPr>
          <a:xfrm>
            <a:off x="5623560" y="5870448"/>
            <a:ext cx="6035040" cy="365760"/>
          </a:xfrm>
          <a:prstGeom prst="rect">
            <a:avLst/>
          </a:prstGeom>
          <a:noFill/>
          <a:ln/>
        </p:spPr>
        <p:txBody>
          <a:bodyPr wrap="square" lIns="0" tIns="0" rIns="0" bIns="0" rtlCol="0" anchor="t"/>
          <a:lstStyle/>
          <a:p>
            <a:pPr marL="0" indent="0">
              <a:buNone/>
            </a:pPr>
            <a:r>
              <a:rPr lang="en-US" sz="1000" dirty="0">
                <a:solidFill>
                  <a:schemeClr val="tx2"/>
                </a:solidFill>
                <a:latin typeface="Consolas" pitchFamily="34" charset="0"/>
                <a:ea typeface="Consolas" pitchFamily="34" charset="-122"/>
                <a:cs typeface="Consolas" pitchFamily="34" charset="-120"/>
              </a:rPr>
              <a:t>Intended benefits of the proposed design. The drone supports rescuers; it does not replace them.</a:t>
            </a:r>
            <a:endParaRPr lang="en-US" sz="1000" dirty="0"/>
          </a:p>
        </p:txBody>
      </p:sp>
      <p:sp>
        <p:nvSpPr>
          <p:cNvPr id="52" name="Text 47"/>
          <p:cNvSpPr txBox="1"/>
          <p:nvPr/>
        </p:nvSpPr>
        <p:spPr>
          <a:xfrm>
            <a:off x="5852160" y="6473952"/>
            <a:ext cx="5212080" cy="228600"/>
          </a:xfrm>
          <a:prstGeom prst="rect">
            <a:avLst/>
          </a:prstGeom>
          <a:noFill/>
          <a:ln/>
        </p:spPr>
        <p:txBody>
          <a:bodyPr wrap="square" lIns="0" tIns="0" rIns="0" bIns="0" rtlCol="0" anchor="ctr"/>
          <a:lstStyle/>
          <a:p>
            <a:pPr marL="0" indent="0" algn="r">
              <a:buNone/>
            </a:pPr>
            <a:r>
              <a:rPr lang="en-US" sz="900" b="1" dirty="0">
                <a:solidFill>
                  <a:schemeClr val="accent2"/>
                </a:solidFill>
                <a:latin typeface="Consolas" pitchFamily="34" charset="0"/>
                <a:ea typeface="Consolas" pitchFamily="34" charset="-122"/>
                <a:cs typeface="Consolas" pitchFamily="34" charset="-120"/>
              </a:rPr>
              <a:t>RUBRIC · PROBLEM &amp; DOMAIN · 2 MARKS</a:t>
            </a:r>
            <a:endParaRPr lang="en-US" sz="900" dirty="0"/>
          </a:p>
        </p:txBody>
      </p:sp>
      <p:sp>
        <p:nvSpPr>
          <p:cNvPr id="53" name="Slide Number Placeholder 0"/>
          <p:cNvSpPr>
            <a:spLocks noGrp="1"/>
          </p:cNvSpPr>
          <p:nvPr>
            <p:ph type="sldNum" sz="quarter" idx="4294967295"/>
          </p:nvPr>
        </p:nvSpPr>
        <p:spPr>
          <a:xfrm>
            <a:off x="11183112" y="6473952"/>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tx2"/>
                </a:solidFill>
                <a:latin typeface="Consolas"/>
                <a:ea typeface="Consolas"/>
                <a:cs typeface="Consolas"/>
              </a:defRPr>
            </a:lvl1pPr>
          </a:lstStyle>
          <a:p>
            <a:pPr algn="r"/>
            <a:fld id="{F7021451-1387-4CA6-816F-3879F97B5CBC}" type="slidenum">
              <a:rPr lang="en-US" b="0"/>
              <a:t>2</a:t>
            </a:fld>
            <a:endParaRPr lang="en-US"/>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74320"/>
            <a:ext cx="7315200" cy="201168"/>
          </a:xfrm>
          <a:prstGeom prst="rect">
            <a:avLst/>
          </a:prstGeom>
          <a:noFill/>
          <a:ln/>
        </p:spPr>
        <p:txBody>
          <a:bodyPr wrap="square" lIns="0" tIns="0" rIns="0" bIns="0" rtlCol="0" anchor="t"/>
          <a:lstStyle/>
          <a:p>
            <a:pPr marL="0" indent="0">
              <a:buNone/>
            </a:pPr>
            <a:r>
              <a:rPr lang="en-US" sz="1000" b="1" dirty="0">
                <a:solidFill>
                  <a:schemeClr val="accent1"/>
                </a:solidFill>
                <a:latin typeface="Consolas" pitchFamily="34" charset="0"/>
                <a:ea typeface="Consolas" pitchFamily="34" charset="-122"/>
                <a:cs typeface="Consolas" pitchFamily="34" charset="-120"/>
              </a:rPr>
              <a:t>PHASE 02 · PROPOSED SYSTEM</a:t>
            </a:r>
            <a:endParaRPr lang="en-US" sz="1000" dirty="0"/>
          </a:p>
        </p:txBody>
      </p:sp>
      <p:sp>
        <p:nvSpPr>
          <p:cNvPr id="3" name="Shape 1"/>
          <p:cNvSpPr/>
          <p:nvPr/>
        </p:nvSpPr>
        <p:spPr>
          <a:xfrm>
            <a:off x="10314432" y="301752"/>
            <a:ext cx="109728" cy="109728"/>
          </a:xfrm>
          <a:prstGeom prst="rect">
            <a:avLst/>
          </a:prstGeom>
          <a:solidFill>
            <a:schemeClr val="accent1"/>
          </a:solidFill>
          <a:ln w="12700">
            <a:solidFill>
              <a:schemeClr val="accent1"/>
            </a:solidFill>
            <a:prstDash val="solid"/>
          </a:ln>
        </p:spPr>
      </p:sp>
      <p:sp>
        <p:nvSpPr>
          <p:cNvPr id="4" name="Shape 2"/>
          <p:cNvSpPr/>
          <p:nvPr/>
        </p:nvSpPr>
        <p:spPr>
          <a:xfrm>
            <a:off x="10488168" y="301752"/>
            <a:ext cx="109728" cy="109728"/>
          </a:xfrm>
          <a:prstGeom prst="rect">
            <a:avLst/>
          </a:prstGeom>
          <a:solidFill>
            <a:schemeClr val="accent1"/>
          </a:solidFill>
          <a:ln w="12700">
            <a:solidFill>
              <a:schemeClr val="accent1"/>
            </a:solidFill>
            <a:prstDash val="solid"/>
          </a:ln>
        </p:spPr>
      </p:sp>
      <p:sp>
        <p:nvSpPr>
          <p:cNvPr id="5" name="Shape 3"/>
          <p:cNvSpPr/>
          <p:nvPr/>
        </p:nvSpPr>
        <p:spPr>
          <a:xfrm>
            <a:off x="10661904" y="301752"/>
            <a:ext cx="109728" cy="109728"/>
          </a:xfrm>
          <a:prstGeom prst="rect">
            <a:avLst/>
          </a:prstGeom>
          <a:solidFill>
            <a:schemeClr val="accent5"/>
          </a:solidFill>
          <a:ln w="12700">
            <a:solidFill>
              <a:schemeClr val="accent5"/>
            </a:solidFill>
            <a:prstDash val="solid"/>
          </a:ln>
        </p:spPr>
      </p:sp>
      <p:sp>
        <p:nvSpPr>
          <p:cNvPr id="6" name="Shape 4"/>
          <p:cNvSpPr/>
          <p:nvPr/>
        </p:nvSpPr>
        <p:spPr>
          <a:xfrm>
            <a:off x="10835640" y="301752"/>
            <a:ext cx="109728" cy="109728"/>
          </a:xfrm>
          <a:prstGeom prst="rect">
            <a:avLst/>
          </a:prstGeom>
          <a:solidFill>
            <a:schemeClr val="accent5"/>
          </a:solidFill>
          <a:ln w="12700">
            <a:solidFill>
              <a:schemeClr val="accent5"/>
            </a:solidFill>
            <a:prstDash val="solid"/>
          </a:ln>
        </p:spPr>
      </p:sp>
      <p:sp>
        <p:nvSpPr>
          <p:cNvPr id="7" name="Shape 5"/>
          <p:cNvSpPr/>
          <p:nvPr/>
        </p:nvSpPr>
        <p:spPr>
          <a:xfrm>
            <a:off x="11009376" y="301752"/>
            <a:ext cx="109728" cy="109728"/>
          </a:xfrm>
          <a:prstGeom prst="rect">
            <a:avLst/>
          </a:prstGeom>
          <a:solidFill>
            <a:schemeClr val="accent5"/>
          </a:solidFill>
          <a:ln w="12700">
            <a:solidFill>
              <a:schemeClr val="accent5"/>
            </a:solidFill>
            <a:prstDash val="solid"/>
          </a:ln>
        </p:spPr>
      </p:sp>
      <p:sp>
        <p:nvSpPr>
          <p:cNvPr id="8" name="Shape 6"/>
          <p:cNvSpPr/>
          <p:nvPr/>
        </p:nvSpPr>
        <p:spPr>
          <a:xfrm>
            <a:off x="11183112" y="301752"/>
            <a:ext cx="109728" cy="109728"/>
          </a:xfrm>
          <a:prstGeom prst="rect">
            <a:avLst/>
          </a:prstGeom>
          <a:solidFill>
            <a:schemeClr val="accent5"/>
          </a:solidFill>
          <a:ln w="12700">
            <a:solidFill>
              <a:schemeClr val="accent5"/>
            </a:solidFill>
            <a:prstDash val="solid"/>
          </a:ln>
        </p:spPr>
      </p:sp>
      <p:sp>
        <p:nvSpPr>
          <p:cNvPr id="9" name="Shape 7"/>
          <p:cNvSpPr/>
          <p:nvPr/>
        </p:nvSpPr>
        <p:spPr>
          <a:xfrm>
            <a:off x="11356848" y="301752"/>
            <a:ext cx="109728" cy="109728"/>
          </a:xfrm>
          <a:prstGeom prst="rect">
            <a:avLst/>
          </a:prstGeom>
          <a:solidFill>
            <a:schemeClr val="accent5"/>
          </a:solidFill>
          <a:ln w="12700">
            <a:solidFill>
              <a:schemeClr val="accent5"/>
            </a:solidFill>
            <a:prstDash val="solid"/>
          </a:ln>
        </p:spPr>
      </p:sp>
      <p:sp>
        <p:nvSpPr>
          <p:cNvPr id="10" name="Shape 8"/>
          <p:cNvSpPr/>
          <p:nvPr/>
        </p:nvSpPr>
        <p:spPr>
          <a:xfrm>
            <a:off x="11530584" y="301752"/>
            <a:ext cx="109728" cy="109728"/>
          </a:xfrm>
          <a:prstGeom prst="rect">
            <a:avLst/>
          </a:prstGeom>
          <a:solidFill>
            <a:schemeClr val="accent5"/>
          </a:solidFill>
          <a:ln w="12700">
            <a:solidFill>
              <a:schemeClr val="accent5"/>
            </a:solidFill>
            <a:prstDash val="solid"/>
          </a:ln>
        </p:spPr>
      </p:sp>
      <p:sp>
        <p:nvSpPr>
          <p:cNvPr id="11" name="Text 0"/>
          <p:cNvSpPr>
            <a:spLocks noGrp="1"/>
          </p:cNvSpPr>
          <p:nvPr>
            <p:ph type="title" idx="100" hasCustomPrompt="1"/>
          </p:nvPr>
        </p:nvSpPr>
        <p:spPr>
          <a:xfrm>
            <a:off x="548640" y="530352"/>
            <a:ext cx="11091672" cy="640080"/>
          </a:xfrm>
          <a:prstGeom prst="rect">
            <a:avLst/>
          </a:prstGeom>
          <a:noFill/>
          <a:ln/>
        </p:spPr>
        <p:txBody>
          <a:bodyPr wrap="square" lIns="0" tIns="0" rIns="0" bIns="0" rtlCol="0" anchor="ctr"/>
          <a:lstStyle/>
          <a:p>
            <a:pPr marL="0" indent="0" algn="l">
              <a:buNone/>
            </a:pPr>
            <a:r>
              <a:rPr lang="en-US" sz="3200" b="1" dirty="0">
                <a:solidFill>
                  <a:schemeClr val="tx1"/>
                </a:solidFill>
              </a:rPr>
              <a:t>Our proposed system: from camera to rescue</a:t>
            </a:r>
            <a:endParaRPr lang="en-US" sz="3200" dirty="0"/>
          </a:p>
        </p:txBody>
      </p:sp>
      <p:sp>
        <p:nvSpPr>
          <p:cNvPr id="12" name="Shape 10"/>
          <p:cNvSpPr/>
          <p:nvPr/>
        </p:nvSpPr>
        <p:spPr>
          <a:xfrm>
            <a:off x="1078992" y="1655064"/>
            <a:ext cx="0" cy="3968496"/>
          </a:xfrm>
          <a:prstGeom prst="line">
            <a:avLst/>
          </a:prstGeom>
          <a:noFill/>
          <a:ln w="25400">
            <a:solidFill>
              <a:schemeClr val="accent5"/>
            </a:solidFill>
            <a:prstDash val="solid"/>
          </a:ln>
        </p:spPr>
      </p:sp>
      <p:sp>
        <p:nvSpPr>
          <p:cNvPr id="13" name="Shape 11"/>
          <p:cNvSpPr/>
          <p:nvPr/>
        </p:nvSpPr>
        <p:spPr>
          <a:xfrm>
            <a:off x="868680" y="1444752"/>
            <a:ext cx="420624" cy="420624"/>
          </a:xfrm>
          <a:prstGeom prst="ellipse">
            <a:avLst/>
          </a:prstGeom>
          <a:solidFill>
            <a:schemeClr val="bg2"/>
          </a:solidFill>
          <a:ln w="19050">
            <a:solidFill>
              <a:schemeClr val="accent5"/>
            </a:solidFill>
            <a:prstDash val="solid"/>
          </a:ln>
        </p:spPr>
      </p:sp>
      <p:pic>
        <p:nvPicPr>
          <p:cNvPr id="14" name="Image 0" descr="preencoded.png"/>
          <p:cNvPicPr>
            <a:picLocks noChangeAspect="1"/>
          </p:cNvPicPr>
          <p:nvPr/>
        </p:nvPicPr>
        <p:blipFill>
          <a:blip r:embed="rId3"/>
          <a:stretch>
            <a:fillRect/>
          </a:stretch>
        </p:blipFill>
        <p:spPr>
          <a:xfrm>
            <a:off x="969264" y="1545336"/>
            <a:ext cx="219456" cy="219456"/>
          </a:xfrm>
          <a:prstGeom prst="rect">
            <a:avLst/>
          </a:prstGeom>
        </p:spPr>
      </p:pic>
      <p:sp>
        <p:nvSpPr>
          <p:cNvPr id="15" name="Text 12"/>
          <p:cNvSpPr txBox="1"/>
          <p:nvPr/>
        </p:nvSpPr>
        <p:spPr>
          <a:xfrm>
            <a:off x="1508760" y="1444752"/>
            <a:ext cx="2377440" cy="420624"/>
          </a:xfrm>
          <a:prstGeom prst="rect">
            <a:avLst/>
          </a:prstGeom>
          <a:noFill/>
          <a:ln/>
        </p:spPr>
        <p:txBody>
          <a:bodyPr wrap="square" lIns="0" tIns="0" rIns="0" bIns="0" rtlCol="0" anchor="ctr"/>
          <a:lstStyle/>
          <a:p>
            <a:pPr marL="0" indent="0">
              <a:buNone/>
            </a:pPr>
            <a:r>
              <a:rPr lang="en-US" sz="1600" b="1" dirty="0">
                <a:solidFill>
                  <a:schemeClr val="tx1"/>
                </a:solidFill>
              </a:rPr>
              <a:t>Disaster zone</a:t>
            </a:r>
            <a:endParaRPr lang="en-US" sz="1600" dirty="0"/>
          </a:p>
        </p:txBody>
      </p:sp>
      <p:sp>
        <p:nvSpPr>
          <p:cNvPr id="16" name="Text 13"/>
          <p:cNvSpPr txBox="1"/>
          <p:nvPr/>
        </p:nvSpPr>
        <p:spPr>
          <a:xfrm>
            <a:off x="3840480" y="1444752"/>
            <a:ext cx="1737360" cy="420624"/>
          </a:xfrm>
          <a:prstGeom prst="rect">
            <a:avLst/>
          </a:prstGeom>
          <a:noFill/>
          <a:ln/>
        </p:spPr>
        <p:txBody>
          <a:bodyPr wrap="square" lIns="0" tIns="0" rIns="0" bIns="0" rtlCol="0" anchor="ctr"/>
          <a:lstStyle/>
          <a:p>
            <a:pPr marL="0" indent="0">
              <a:buNone/>
            </a:pPr>
            <a:r>
              <a:rPr lang="en-US" sz="1000" dirty="0">
                <a:solidFill>
                  <a:schemeClr val="tx2"/>
                </a:solidFill>
                <a:latin typeface="Consolas" pitchFamily="34" charset="0"/>
                <a:ea typeface="Consolas" pitchFamily="34" charset="-122"/>
                <a:cs typeface="Consolas" pitchFamily="34" charset="-120"/>
              </a:rPr>
              <a:t>Environment</a:t>
            </a:r>
            <a:endParaRPr lang="en-US" sz="1000" dirty="0"/>
          </a:p>
        </p:txBody>
      </p:sp>
      <p:sp>
        <p:nvSpPr>
          <p:cNvPr id="17" name="Shape 14"/>
          <p:cNvSpPr/>
          <p:nvPr/>
        </p:nvSpPr>
        <p:spPr>
          <a:xfrm>
            <a:off x="868680" y="2011680"/>
            <a:ext cx="420624" cy="420624"/>
          </a:xfrm>
          <a:prstGeom prst="ellipse">
            <a:avLst/>
          </a:prstGeom>
          <a:solidFill>
            <a:schemeClr val="bg2"/>
          </a:solidFill>
          <a:ln w="19050">
            <a:solidFill>
              <a:schemeClr val="accent5"/>
            </a:solidFill>
            <a:prstDash val="solid"/>
          </a:ln>
        </p:spPr>
      </p:sp>
      <p:pic>
        <p:nvPicPr>
          <p:cNvPr id="18" name="Image 1" descr="preencoded.png"/>
          <p:cNvPicPr>
            <a:picLocks noChangeAspect="1"/>
          </p:cNvPicPr>
          <p:nvPr/>
        </p:nvPicPr>
        <p:blipFill>
          <a:blip r:embed="rId4"/>
          <a:stretch>
            <a:fillRect/>
          </a:stretch>
        </p:blipFill>
        <p:spPr>
          <a:xfrm>
            <a:off x="969264" y="2112264"/>
            <a:ext cx="219456" cy="219456"/>
          </a:xfrm>
          <a:prstGeom prst="rect">
            <a:avLst/>
          </a:prstGeom>
        </p:spPr>
      </p:pic>
      <p:sp>
        <p:nvSpPr>
          <p:cNvPr id="19" name="Text 15"/>
          <p:cNvSpPr txBox="1"/>
          <p:nvPr/>
        </p:nvSpPr>
        <p:spPr>
          <a:xfrm>
            <a:off x="1508760" y="2011680"/>
            <a:ext cx="2377440" cy="420624"/>
          </a:xfrm>
          <a:prstGeom prst="rect">
            <a:avLst/>
          </a:prstGeom>
          <a:noFill/>
          <a:ln/>
        </p:spPr>
        <p:txBody>
          <a:bodyPr wrap="square" lIns="0" tIns="0" rIns="0" bIns="0" rtlCol="0" anchor="ctr"/>
          <a:lstStyle/>
          <a:p>
            <a:pPr marL="0" indent="0">
              <a:buNone/>
            </a:pPr>
            <a:r>
              <a:rPr lang="en-US" sz="1600" b="1" dirty="0">
                <a:solidFill>
                  <a:schemeClr val="tx1"/>
                </a:solidFill>
              </a:rPr>
              <a:t>Camera &amp; sensors</a:t>
            </a:r>
            <a:endParaRPr lang="en-US" sz="1600" dirty="0"/>
          </a:p>
        </p:txBody>
      </p:sp>
      <p:sp>
        <p:nvSpPr>
          <p:cNvPr id="20" name="Text 16"/>
          <p:cNvSpPr txBox="1"/>
          <p:nvPr/>
        </p:nvSpPr>
        <p:spPr>
          <a:xfrm>
            <a:off x="3840480" y="2011680"/>
            <a:ext cx="1737360" cy="420624"/>
          </a:xfrm>
          <a:prstGeom prst="rect">
            <a:avLst/>
          </a:prstGeom>
          <a:noFill/>
          <a:ln/>
        </p:spPr>
        <p:txBody>
          <a:bodyPr wrap="square" lIns="0" tIns="0" rIns="0" bIns="0" rtlCol="0" anchor="ctr"/>
          <a:lstStyle/>
          <a:p>
            <a:pPr marL="0" indent="0">
              <a:buNone/>
            </a:pPr>
            <a:r>
              <a:rPr lang="en-US" sz="1000" dirty="0">
                <a:solidFill>
                  <a:schemeClr val="tx2"/>
                </a:solidFill>
                <a:latin typeface="Consolas" pitchFamily="34" charset="0"/>
                <a:ea typeface="Consolas" pitchFamily="34" charset="-122"/>
                <a:cs typeface="Consolas" pitchFamily="34" charset="-120"/>
              </a:rPr>
              <a:t>Hardware</a:t>
            </a:r>
            <a:endParaRPr lang="en-US" sz="1000" dirty="0"/>
          </a:p>
        </p:txBody>
      </p:sp>
      <p:sp>
        <p:nvSpPr>
          <p:cNvPr id="21" name="Shape 17"/>
          <p:cNvSpPr/>
          <p:nvPr/>
        </p:nvSpPr>
        <p:spPr>
          <a:xfrm>
            <a:off x="868680" y="2578608"/>
            <a:ext cx="420624" cy="420624"/>
          </a:xfrm>
          <a:prstGeom prst="ellipse">
            <a:avLst/>
          </a:prstGeom>
          <a:solidFill>
            <a:schemeClr val="bg2"/>
          </a:solidFill>
          <a:ln w="28575">
            <a:solidFill>
              <a:schemeClr val="accent1"/>
            </a:solidFill>
            <a:prstDash val="solid"/>
          </a:ln>
        </p:spPr>
      </p:sp>
      <p:pic>
        <p:nvPicPr>
          <p:cNvPr id="22" name="Image 2" descr="preencoded.png"/>
          <p:cNvPicPr>
            <a:picLocks noChangeAspect="1"/>
          </p:cNvPicPr>
          <p:nvPr/>
        </p:nvPicPr>
        <p:blipFill>
          <a:blip r:embed="rId5"/>
          <a:stretch>
            <a:fillRect/>
          </a:stretch>
        </p:blipFill>
        <p:spPr>
          <a:xfrm>
            <a:off x="969264" y="2679192"/>
            <a:ext cx="219456" cy="219456"/>
          </a:xfrm>
          <a:prstGeom prst="rect">
            <a:avLst/>
          </a:prstGeom>
        </p:spPr>
      </p:pic>
      <p:sp>
        <p:nvSpPr>
          <p:cNvPr id="23" name="Text 18"/>
          <p:cNvSpPr txBox="1"/>
          <p:nvPr/>
        </p:nvSpPr>
        <p:spPr>
          <a:xfrm>
            <a:off x="1508760" y="2578608"/>
            <a:ext cx="2377440" cy="420624"/>
          </a:xfrm>
          <a:prstGeom prst="rect">
            <a:avLst/>
          </a:prstGeom>
          <a:noFill/>
          <a:ln/>
        </p:spPr>
        <p:txBody>
          <a:bodyPr wrap="square" lIns="0" tIns="0" rIns="0" bIns="0" rtlCol="0" anchor="ctr"/>
          <a:lstStyle/>
          <a:p>
            <a:pPr marL="0" indent="0">
              <a:buNone/>
            </a:pPr>
            <a:r>
              <a:rPr lang="en-US" sz="1600" b="1" dirty="0">
                <a:solidFill>
                  <a:schemeClr val="accent1"/>
                </a:solidFill>
              </a:rPr>
              <a:t>AI perception</a:t>
            </a:r>
            <a:endParaRPr lang="en-US" sz="1600" dirty="0"/>
          </a:p>
        </p:txBody>
      </p:sp>
      <p:sp>
        <p:nvSpPr>
          <p:cNvPr id="24" name="Text 19"/>
          <p:cNvSpPr txBox="1"/>
          <p:nvPr/>
        </p:nvSpPr>
        <p:spPr>
          <a:xfrm>
            <a:off x="3840480" y="2578608"/>
            <a:ext cx="1737360" cy="420624"/>
          </a:xfrm>
          <a:prstGeom prst="rect">
            <a:avLst/>
          </a:prstGeom>
          <a:noFill/>
          <a:ln/>
        </p:spPr>
        <p:txBody>
          <a:bodyPr wrap="square" lIns="0" tIns="0" rIns="0" bIns="0" rtlCol="0" anchor="ctr"/>
          <a:lstStyle/>
          <a:p>
            <a:pPr marL="0" indent="0">
              <a:buNone/>
            </a:pPr>
            <a:r>
              <a:rPr lang="en-US" sz="1000" dirty="0">
                <a:solidFill>
                  <a:schemeClr val="tx2"/>
                </a:solidFill>
                <a:latin typeface="Consolas" pitchFamily="34" charset="0"/>
                <a:ea typeface="Consolas" pitchFamily="34" charset="-122"/>
                <a:cs typeface="Consolas" pitchFamily="34" charset="-120"/>
              </a:rPr>
              <a:t>Computer vision</a:t>
            </a:r>
            <a:endParaRPr lang="en-US" sz="1000" dirty="0"/>
          </a:p>
        </p:txBody>
      </p:sp>
      <p:sp>
        <p:nvSpPr>
          <p:cNvPr id="25" name="Shape 20"/>
          <p:cNvSpPr/>
          <p:nvPr/>
        </p:nvSpPr>
        <p:spPr>
          <a:xfrm>
            <a:off x="868680" y="3145536"/>
            <a:ext cx="420624" cy="420624"/>
          </a:xfrm>
          <a:prstGeom prst="ellipse">
            <a:avLst/>
          </a:prstGeom>
          <a:solidFill>
            <a:schemeClr val="bg2"/>
          </a:solidFill>
          <a:ln w="28575">
            <a:solidFill>
              <a:schemeClr val="accent1"/>
            </a:solidFill>
            <a:prstDash val="solid"/>
          </a:ln>
        </p:spPr>
      </p:sp>
      <p:pic>
        <p:nvPicPr>
          <p:cNvPr id="26" name="Image 3" descr="preencoded.png"/>
          <p:cNvPicPr>
            <a:picLocks noChangeAspect="1"/>
          </p:cNvPicPr>
          <p:nvPr/>
        </p:nvPicPr>
        <p:blipFill>
          <a:blip r:embed="rId6"/>
          <a:stretch>
            <a:fillRect/>
          </a:stretch>
        </p:blipFill>
        <p:spPr>
          <a:xfrm>
            <a:off x="969264" y="3246120"/>
            <a:ext cx="219456" cy="219456"/>
          </a:xfrm>
          <a:prstGeom prst="rect">
            <a:avLst/>
          </a:prstGeom>
        </p:spPr>
      </p:pic>
      <p:sp>
        <p:nvSpPr>
          <p:cNvPr id="27" name="Text 21"/>
          <p:cNvSpPr txBox="1"/>
          <p:nvPr/>
        </p:nvSpPr>
        <p:spPr>
          <a:xfrm>
            <a:off x="1508760" y="3145536"/>
            <a:ext cx="2377440" cy="420624"/>
          </a:xfrm>
          <a:prstGeom prst="rect">
            <a:avLst/>
          </a:prstGeom>
          <a:noFill/>
          <a:ln/>
        </p:spPr>
        <p:txBody>
          <a:bodyPr wrap="square" lIns="0" tIns="0" rIns="0" bIns="0" rtlCol="0" anchor="ctr"/>
          <a:lstStyle/>
          <a:p>
            <a:pPr marL="0" indent="0">
              <a:buNone/>
            </a:pPr>
            <a:r>
              <a:rPr lang="en-US" sz="1600" b="1" dirty="0">
                <a:solidFill>
                  <a:schemeClr val="accent1"/>
                </a:solidFill>
              </a:rPr>
              <a:t>Survivor detection</a:t>
            </a:r>
            <a:endParaRPr lang="en-US" sz="1600" dirty="0"/>
          </a:p>
        </p:txBody>
      </p:sp>
      <p:sp>
        <p:nvSpPr>
          <p:cNvPr id="28" name="Text 22"/>
          <p:cNvSpPr txBox="1"/>
          <p:nvPr/>
        </p:nvSpPr>
        <p:spPr>
          <a:xfrm>
            <a:off x="3840480" y="3145536"/>
            <a:ext cx="1737360" cy="420624"/>
          </a:xfrm>
          <a:prstGeom prst="rect">
            <a:avLst/>
          </a:prstGeom>
          <a:noFill/>
          <a:ln/>
        </p:spPr>
        <p:txBody>
          <a:bodyPr wrap="square" lIns="0" tIns="0" rIns="0" bIns="0" rtlCol="0" anchor="ctr"/>
          <a:lstStyle/>
          <a:p>
            <a:pPr marL="0" indent="0">
              <a:buNone/>
            </a:pPr>
            <a:r>
              <a:rPr lang="en-US" sz="1000" dirty="0">
                <a:solidFill>
                  <a:schemeClr val="tx2"/>
                </a:solidFill>
                <a:latin typeface="Consolas" pitchFamily="34" charset="0"/>
                <a:ea typeface="Consolas" pitchFamily="34" charset="-122"/>
                <a:cs typeface="Consolas" pitchFamily="34" charset="-120"/>
              </a:rPr>
              <a:t>Candidate target</a:t>
            </a:r>
            <a:endParaRPr lang="en-US" sz="1000" dirty="0"/>
          </a:p>
        </p:txBody>
      </p:sp>
      <p:sp>
        <p:nvSpPr>
          <p:cNvPr id="29" name="Shape 23"/>
          <p:cNvSpPr/>
          <p:nvPr/>
        </p:nvSpPr>
        <p:spPr>
          <a:xfrm>
            <a:off x="868680" y="3712464"/>
            <a:ext cx="420624" cy="420624"/>
          </a:xfrm>
          <a:prstGeom prst="ellipse">
            <a:avLst/>
          </a:prstGeom>
          <a:solidFill>
            <a:schemeClr val="bg2"/>
          </a:solidFill>
          <a:ln w="28575">
            <a:solidFill>
              <a:schemeClr val="accent1"/>
            </a:solidFill>
            <a:prstDash val="solid"/>
          </a:ln>
        </p:spPr>
      </p:sp>
      <p:pic>
        <p:nvPicPr>
          <p:cNvPr id="30" name="Image 4" descr="preencoded.png"/>
          <p:cNvPicPr>
            <a:picLocks noChangeAspect="1"/>
          </p:cNvPicPr>
          <p:nvPr/>
        </p:nvPicPr>
        <p:blipFill>
          <a:blip r:embed="rId7"/>
          <a:stretch>
            <a:fillRect/>
          </a:stretch>
        </p:blipFill>
        <p:spPr>
          <a:xfrm>
            <a:off x="969264" y="3813048"/>
            <a:ext cx="219456" cy="219456"/>
          </a:xfrm>
          <a:prstGeom prst="rect">
            <a:avLst/>
          </a:prstGeom>
        </p:spPr>
      </p:pic>
      <p:sp>
        <p:nvSpPr>
          <p:cNvPr id="31" name="Text 24"/>
          <p:cNvSpPr txBox="1"/>
          <p:nvPr/>
        </p:nvSpPr>
        <p:spPr>
          <a:xfrm>
            <a:off x="1508760" y="3712464"/>
            <a:ext cx="2377440" cy="420624"/>
          </a:xfrm>
          <a:prstGeom prst="rect">
            <a:avLst/>
          </a:prstGeom>
          <a:noFill/>
          <a:ln/>
        </p:spPr>
        <p:txBody>
          <a:bodyPr wrap="square" lIns="0" tIns="0" rIns="0" bIns="0" rtlCol="0" anchor="ctr"/>
          <a:lstStyle/>
          <a:p>
            <a:pPr marL="0" indent="0">
              <a:buNone/>
            </a:pPr>
            <a:r>
              <a:rPr lang="en-US" sz="1600" b="1" dirty="0">
                <a:solidFill>
                  <a:schemeClr val="accent1"/>
                </a:solidFill>
              </a:rPr>
              <a:t>State space</a:t>
            </a:r>
            <a:endParaRPr lang="en-US" sz="1600" dirty="0"/>
          </a:p>
        </p:txBody>
      </p:sp>
      <p:sp>
        <p:nvSpPr>
          <p:cNvPr id="32" name="Text 25"/>
          <p:cNvSpPr txBox="1"/>
          <p:nvPr/>
        </p:nvSpPr>
        <p:spPr>
          <a:xfrm>
            <a:off x="3840480" y="3712464"/>
            <a:ext cx="1737360" cy="420624"/>
          </a:xfrm>
          <a:prstGeom prst="rect">
            <a:avLst/>
          </a:prstGeom>
          <a:noFill/>
          <a:ln/>
        </p:spPr>
        <p:txBody>
          <a:bodyPr wrap="square" lIns="0" tIns="0" rIns="0" bIns="0" rtlCol="0" anchor="ctr"/>
          <a:lstStyle/>
          <a:p>
            <a:pPr marL="0" indent="0">
              <a:buNone/>
            </a:pPr>
            <a:r>
              <a:rPr lang="en-US" sz="1000" dirty="0">
                <a:solidFill>
                  <a:schemeClr val="tx2"/>
                </a:solidFill>
                <a:latin typeface="Consolas" pitchFamily="34" charset="0"/>
                <a:ea typeface="Consolas" pitchFamily="34" charset="-122"/>
                <a:cs typeface="Consolas" pitchFamily="34" charset="-120"/>
              </a:rPr>
              <a:t>Grid of positions</a:t>
            </a:r>
            <a:endParaRPr lang="en-US" sz="1000" dirty="0"/>
          </a:p>
        </p:txBody>
      </p:sp>
      <p:sp>
        <p:nvSpPr>
          <p:cNvPr id="33" name="Shape 26"/>
          <p:cNvSpPr/>
          <p:nvPr/>
        </p:nvSpPr>
        <p:spPr>
          <a:xfrm>
            <a:off x="868680" y="4279392"/>
            <a:ext cx="420624" cy="420624"/>
          </a:xfrm>
          <a:prstGeom prst="ellipse">
            <a:avLst/>
          </a:prstGeom>
          <a:solidFill>
            <a:schemeClr val="bg2"/>
          </a:solidFill>
          <a:ln w="28575">
            <a:solidFill>
              <a:schemeClr val="accent1"/>
            </a:solidFill>
            <a:prstDash val="solid"/>
          </a:ln>
        </p:spPr>
      </p:sp>
      <p:pic>
        <p:nvPicPr>
          <p:cNvPr id="34" name="Image 5" descr="preencoded.png"/>
          <p:cNvPicPr>
            <a:picLocks noChangeAspect="1"/>
          </p:cNvPicPr>
          <p:nvPr/>
        </p:nvPicPr>
        <p:blipFill>
          <a:blip r:embed="rId8"/>
          <a:stretch>
            <a:fillRect/>
          </a:stretch>
        </p:blipFill>
        <p:spPr>
          <a:xfrm>
            <a:off x="969264" y="4379976"/>
            <a:ext cx="219456" cy="219456"/>
          </a:xfrm>
          <a:prstGeom prst="rect">
            <a:avLst/>
          </a:prstGeom>
        </p:spPr>
      </p:pic>
      <p:sp>
        <p:nvSpPr>
          <p:cNvPr id="35" name="Text 27"/>
          <p:cNvSpPr txBox="1"/>
          <p:nvPr/>
        </p:nvSpPr>
        <p:spPr>
          <a:xfrm>
            <a:off x="1508760" y="4279392"/>
            <a:ext cx="2377440" cy="420624"/>
          </a:xfrm>
          <a:prstGeom prst="rect">
            <a:avLst/>
          </a:prstGeom>
          <a:noFill/>
          <a:ln/>
        </p:spPr>
        <p:txBody>
          <a:bodyPr wrap="square" lIns="0" tIns="0" rIns="0" bIns="0" rtlCol="0" anchor="ctr"/>
          <a:lstStyle/>
          <a:p>
            <a:pPr marL="0" indent="0">
              <a:buNone/>
            </a:pPr>
            <a:r>
              <a:rPr lang="en-US" sz="1600" b="1" dirty="0">
                <a:solidFill>
                  <a:schemeClr val="accent1"/>
                </a:solidFill>
              </a:rPr>
              <a:t>A* search</a:t>
            </a:r>
            <a:endParaRPr lang="en-US" sz="1600" dirty="0"/>
          </a:p>
        </p:txBody>
      </p:sp>
      <p:sp>
        <p:nvSpPr>
          <p:cNvPr id="36" name="Text 28"/>
          <p:cNvSpPr txBox="1"/>
          <p:nvPr/>
        </p:nvSpPr>
        <p:spPr>
          <a:xfrm>
            <a:off x="3840480" y="4279392"/>
            <a:ext cx="1737360" cy="420624"/>
          </a:xfrm>
          <a:prstGeom prst="rect">
            <a:avLst/>
          </a:prstGeom>
          <a:noFill/>
          <a:ln/>
        </p:spPr>
        <p:txBody>
          <a:bodyPr wrap="square" lIns="0" tIns="0" rIns="0" bIns="0" rtlCol="0" anchor="ctr"/>
          <a:lstStyle/>
          <a:p>
            <a:pPr marL="0" indent="0">
              <a:buNone/>
            </a:pPr>
            <a:r>
              <a:rPr lang="en-US" sz="1000" dirty="0">
                <a:solidFill>
                  <a:schemeClr val="tx2"/>
                </a:solidFill>
                <a:latin typeface="Consolas" pitchFamily="34" charset="0"/>
                <a:ea typeface="Consolas" pitchFamily="34" charset="-122"/>
                <a:cs typeface="Consolas" pitchFamily="34" charset="-120"/>
              </a:rPr>
              <a:t>f = g + h</a:t>
            </a:r>
            <a:endParaRPr lang="en-US" sz="1000" dirty="0"/>
          </a:p>
        </p:txBody>
      </p:sp>
      <p:sp>
        <p:nvSpPr>
          <p:cNvPr id="37" name="Shape 29"/>
          <p:cNvSpPr/>
          <p:nvPr/>
        </p:nvSpPr>
        <p:spPr>
          <a:xfrm>
            <a:off x="868680" y="4846320"/>
            <a:ext cx="420624" cy="420624"/>
          </a:xfrm>
          <a:prstGeom prst="ellipse">
            <a:avLst/>
          </a:prstGeom>
          <a:solidFill>
            <a:schemeClr val="bg2"/>
          </a:solidFill>
          <a:ln w="19050">
            <a:solidFill>
              <a:schemeClr val="accent5"/>
            </a:solidFill>
            <a:prstDash val="solid"/>
          </a:ln>
        </p:spPr>
      </p:sp>
      <p:pic>
        <p:nvPicPr>
          <p:cNvPr id="38" name="Image 6" descr="/home/claude/work/assets/drone.png"/>
          <p:cNvPicPr>
            <a:picLocks noChangeAspect="1"/>
          </p:cNvPicPr>
          <p:nvPr/>
        </p:nvPicPr>
        <p:blipFill>
          <a:blip r:embed="rId9"/>
          <a:stretch>
            <a:fillRect/>
          </a:stretch>
        </p:blipFill>
        <p:spPr>
          <a:xfrm>
            <a:off x="960120" y="4937760"/>
            <a:ext cx="237744" cy="237744"/>
          </a:xfrm>
          <a:prstGeom prst="rect">
            <a:avLst/>
          </a:prstGeom>
        </p:spPr>
      </p:pic>
      <p:sp>
        <p:nvSpPr>
          <p:cNvPr id="39" name="Text 30"/>
          <p:cNvSpPr txBox="1"/>
          <p:nvPr/>
        </p:nvSpPr>
        <p:spPr>
          <a:xfrm>
            <a:off x="1508760" y="4846320"/>
            <a:ext cx="2377440" cy="420624"/>
          </a:xfrm>
          <a:prstGeom prst="rect">
            <a:avLst/>
          </a:prstGeom>
          <a:noFill/>
          <a:ln/>
        </p:spPr>
        <p:txBody>
          <a:bodyPr wrap="square" lIns="0" tIns="0" rIns="0" bIns="0" rtlCol="0" anchor="ctr"/>
          <a:lstStyle/>
          <a:p>
            <a:pPr marL="0" indent="0">
              <a:buNone/>
            </a:pPr>
            <a:r>
              <a:rPr lang="en-US" sz="1600" b="1" dirty="0">
                <a:solidFill>
                  <a:schemeClr val="tx1"/>
                </a:solidFill>
              </a:rPr>
              <a:t>Navigation</a:t>
            </a:r>
            <a:endParaRPr lang="en-US" sz="1600" dirty="0"/>
          </a:p>
        </p:txBody>
      </p:sp>
      <p:sp>
        <p:nvSpPr>
          <p:cNvPr id="40" name="Text 31"/>
          <p:cNvSpPr txBox="1"/>
          <p:nvPr/>
        </p:nvSpPr>
        <p:spPr>
          <a:xfrm>
            <a:off x="3840480" y="4846320"/>
            <a:ext cx="1737360" cy="420624"/>
          </a:xfrm>
          <a:prstGeom prst="rect">
            <a:avLst/>
          </a:prstGeom>
          <a:noFill/>
          <a:ln/>
        </p:spPr>
        <p:txBody>
          <a:bodyPr wrap="square" lIns="0" tIns="0" rIns="0" bIns="0" rtlCol="0" anchor="ctr"/>
          <a:lstStyle/>
          <a:p>
            <a:pPr marL="0" indent="0">
              <a:buNone/>
            </a:pPr>
            <a:r>
              <a:rPr lang="en-US" sz="1000" dirty="0">
                <a:solidFill>
                  <a:schemeClr val="tx2"/>
                </a:solidFill>
                <a:latin typeface="Consolas" pitchFamily="34" charset="0"/>
                <a:ea typeface="Consolas" pitchFamily="34" charset="-122"/>
                <a:cs typeface="Consolas" pitchFamily="34" charset="-120"/>
              </a:rPr>
              <a:t>Fly planned path</a:t>
            </a:r>
            <a:endParaRPr lang="en-US" sz="1000" dirty="0"/>
          </a:p>
        </p:txBody>
      </p:sp>
      <p:sp>
        <p:nvSpPr>
          <p:cNvPr id="41" name="Shape 32"/>
          <p:cNvSpPr/>
          <p:nvPr/>
        </p:nvSpPr>
        <p:spPr>
          <a:xfrm>
            <a:off x="868680" y="5413248"/>
            <a:ext cx="420624" cy="420624"/>
          </a:xfrm>
          <a:prstGeom prst="ellipse">
            <a:avLst/>
          </a:prstGeom>
          <a:solidFill>
            <a:schemeClr val="bg2"/>
          </a:solidFill>
          <a:ln w="19050">
            <a:solidFill>
              <a:schemeClr val="accent5"/>
            </a:solidFill>
            <a:prstDash val="solid"/>
          </a:ln>
        </p:spPr>
      </p:sp>
      <p:pic>
        <p:nvPicPr>
          <p:cNvPr id="42" name="Image 7" descr="preencoded.png"/>
          <p:cNvPicPr>
            <a:picLocks noChangeAspect="1"/>
          </p:cNvPicPr>
          <p:nvPr/>
        </p:nvPicPr>
        <p:blipFill>
          <a:blip r:embed="rId10"/>
          <a:stretch>
            <a:fillRect/>
          </a:stretch>
        </p:blipFill>
        <p:spPr>
          <a:xfrm>
            <a:off x="969264" y="5513832"/>
            <a:ext cx="219456" cy="219456"/>
          </a:xfrm>
          <a:prstGeom prst="rect">
            <a:avLst/>
          </a:prstGeom>
        </p:spPr>
      </p:pic>
      <p:sp>
        <p:nvSpPr>
          <p:cNvPr id="43" name="Text 33"/>
          <p:cNvSpPr txBox="1"/>
          <p:nvPr/>
        </p:nvSpPr>
        <p:spPr>
          <a:xfrm>
            <a:off x="1508760" y="5413248"/>
            <a:ext cx="2377440" cy="420624"/>
          </a:xfrm>
          <a:prstGeom prst="rect">
            <a:avLst/>
          </a:prstGeom>
          <a:noFill/>
          <a:ln/>
        </p:spPr>
        <p:txBody>
          <a:bodyPr wrap="square" lIns="0" tIns="0" rIns="0" bIns="0" rtlCol="0" anchor="ctr"/>
          <a:lstStyle/>
          <a:p>
            <a:pPr marL="0" indent="0">
              <a:buNone/>
            </a:pPr>
            <a:r>
              <a:rPr lang="en-US" sz="1600" b="1" dirty="0">
                <a:solidFill>
                  <a:schemeClr val="tx1"/>
                </a:solidFill>
              </a:rPr>
              <a:t>Rescue</a:t>
            </a:r>
            <a:endParaRPr lang="en-US" sz="1600" dirty="0"/>
          </a:p>
        </p:txBody>
      </p:sp>
      <p:sp>
        <p:nvSpPr>
          <p:cNvPr id="44" name="Text 34"/>
          <p:cNvSpPr txBox="1"/>
          <p:nvPr/>
        </p:nvSpPr>
        <p:spPr>
          <a:xfrm>
            <a:off x="3840480" y="5413248"/>
            <a:ext cx="1737360" cy="420624"/>
          </a:xfrm>
          <a:prstGeom prst="rect">
            <a:avLst/>
          </a:prstGeom>
          <a:noFill/>
          <a:ln/>
        </p:spPr>
        <p:txBody>
          <a:bodyPr wrap="square" lIns="0" tIns="0" rIns="0" bIns="0" rtlCol="0" anchor="ctr"/>
          <a:lstStyle/>
          <a:p>
            <a:pPr marL="0" indent="0">
              <a:buNone/>
            </a:pPr>
            <a:r>
              <a:rPr lang="en-US" sz="1000" dirty="0">
                <a:solidFill>
                  <a:schemeClr val="tx2"/>
                </a:solidFill>
                <a:latin typeface="Consolas" pitchFamily="34" charset="0"/>
                <a:ea typeface="Consolas" pitchFamily="34" charset="-122"/>
                <a:cs typeface="Consolas" pitchFamily="34" charset="-120"/>
              </a:rPr>
              <a:t>Human team</a:t>
            </a:r>
            <a:endParaRPr lang="en-US" sz="1000" dirty="0"/>
          </a:p>
        </p:txBody>
      </p:sp>
      <p:sp>
        <p:nvSpPr>
          <p:cNvPr id="45" name="Shape 35"/>
          <p:cNvSpPr/>
          <p:nvPr/>
        </p:nvSpPr>
        <p:spPr>
          <a:xfrm>
            <a:off x="5669280" y="1490472"/>
            <a:ext cx="0" cy="2029968"/>
          </a:xfrm>
          <a:prstGeom prst="line">
            <a:avLst/>
          </a:prstGeom>
          <a:noFill/>
          <a:ln w="25400">
            <a:solidFill>
              <a:schemeClr val="accent1"/>
            </a:solidFill>
            <a:prstDash val="solid"/>
          </a:ln>
        </p:spPr>
      </p:sp>
      <p:sp>
        <p:nvSpPr>
          <p:cNvPr id="46" name="Shape 36"/>
          <p:cNvSpPr/>
          <p:nvPr/>
        </p:nvSpPr>
        <p:spPr>
          <a:xfrm>
            <a:off x="5852160" y="2368296"/>
            <a:ext cx="868680" cy="274320"/>
          </a:xfrm>
          <a:prstGeom prst="roundRect">
            <a:avLst>
              <a:gd name="adj" fmla="val 16667"/>
            </a:avLst>
          </a:prstGeom>
          <a:solidFill>
            <a:schemeClr val="bg1">
              <a:alpha val="75000"/>
            </a:schemeClr>
          </a:solidFill>
          <a:ln w="12700">
            <a:solidFill>
              <a:srgbClr val="22D3EE"/>
            </a:solidFill>
            <a:prstDash val="solid"/>
          </a:ln>
        </p:spPr>
      </p:sp>
      <p:sp>
        <p:nvSpPr>
          <p:cNvPr id="47" name="Text 37"/>
          <p:cNvSpPr txBox="1"/>
          <p:nvPr/>
        </p:nvSpPr>
        <p:spPr>
          <a:xfrm>
            <a:off x="5852160" y="2368296"/>
            <a:ext cx="868680" cy="274320"/>
          </a:xfrm>
          <a:prstGeom prst="rect">
            <a:avLst/>
          </a:prstGeom>
          <a:noFill/>
          <a:ln/>
        </p:spPr>
        <p:txBody>
          <a:bodyPr wrap="square" lIns="0" tIns="0" rIns="0" bIns="0" rtlCol="0" anchor="ctr"/>
          <a:lstStyle/>
          <a:p>
            <a:pPr marL="0" indent="0" algn="ctr">
              <a:buNone/>
            </a:pPr>
            <a:r>
              <a:rPr lang="en-US" sz="900" b="1" dirty="0">
                <a:solidFill>
                  <a:srgbClr val="22D3EE"/>
                </a:solidFill>
                <a:latin typeface="Consolas" pitchFamily="34" charset="0"/>
                <a:ea typeface="Consolas" pitchFamily="34" charset="-122"/>
                <a:cs typeface="Consolas" pitchFamily="34" charset="-120"/>
              </a:rPr>
              <a:t>SEE</a:t>
            </a:r>
            <a:endParaRPr lang="en-US" sz="900" dirty="0"/>
          </a:p>
        </p:txBody>
      </p:sp>
      <p:sp>
        <p:nvSpPr>
          <p:cNvPr id="48" name="Shape 38"/>
          <p:cNvSpPr/>
          <p:nvPr/>
        </p:nvSpPr>
        <p:spPr>
          <a:xfrm>
            <a:off x="5669280" y="3758184"/>
            <a:ext cx="0" cy="896112"/>
          </a:xfrm>
          <a:prstGeom prst="line">
            <a:avLst/>
          </a:prstGeom>
          <a:noFill/>
          <a:ln w="25400">
            <a:solidFill>
              <a:schemeClr val="accent1"/>
            </a:solidFill>
            <a:prstDash val="solid"/>
          </a:ln>
        </p:spPr>
      </p:sp>
      <p:sp>
        <p:nvSpPr>
          <p:cNvPr id="49" name="Shape 39"/>
          <p:cNvSpPr/>
          <p:nvPr/>
        </p:nvSpPr>
        <p:spPr>
          <a:xfrm>
            <a:off x="5852160" y="4069080"/>
            <a:ext cx="868680" cy="274320"/>
          </a:xfrm>
          <a:prstGeom prst="roundRect">
            <a:avLst>
              <a:gd name="adj" fmla="val 16667"/>
            </a:avLst>
          </a:prstGeom>
          <a:solidFill>
            <a:schemeClr val="bg1">
              <a:alpha val="75000"/>
            </a:schemeClr>
          </a:solidFill>
          <a:ln w="12700">
            <a:solidFill>
              <a:srgbClr val="22D3EE"/>
            </a:solidFill>
            <a:prstDash val="solid"/>
          </a:ln>
        </p:spPr>
      </p:sp>
      <p:sp>
        <p:nvSpPr>
          <p:cNvPr id="50" name="Text 40"/>
          <p:cNvSpPr txBox="1"/>
          <p:nvPr/>
        </p:nvSpPr>
        <p:spPr>
          <a:xfrm>
            <a:off x="5852160" y="4069080"/>
            <a:ext cx="868680" cy="274320"/>
          </a:xfrm>
          <a:prstGeom prst="rect">
            <a:avLst/>
          </a:prstGeom>
          <a:noFill/>
          <a:ln/>
        </p:spPr>
        <p:txBody>
          <a:bodyPr wrap="square" lIns="0" tIns="0" rIns="0" bIns="0" rtlCol="0" anchor="ctr"/>
          <a:lstStyle/>
          <a:p>
            <a:pPr marL="0" indent="0" algn="ctr">
              <a:buNone/>
            </a:pPr>
            <a:r>
              <a:rPr lang="en-US" sz="900" b="1" dirty="0">
                <a:solidFill>
                  <a:srgbClr val="22D3EE"/>
                </a:solidFill>
                <a:latin typeface="Consolas" pitchFamily="34" charset="0"/>
                <a:ea typeface="Consolas" pitchFamily="34" charset="-122"/>
                <a:cs typeface="Consolas" pitchFamily="34" charset="-120"/>
              </a:rPr>
              <a:t>THINK</a:t>
            </a:r>
            <a:endParaRPr lang="en-US" sz="900" dirty="0"/>
          </a:p>
        </p:txBody>
      </p:sp>
      <p:sp>
        <p:nvSpPr>
          <p:cNvPr id="51" name="Shape 41"/>
          <p:cNvSpPr/>
          <p:nvPr/>
        </p:nvSpPr>
        <p:spPr>
          <a:xfrm>
            <a:off x="5669280" y="4892040"/>
            <a:ext cx="0" cy="896112"/>
          </a:xfrm>
          <a:prstGeom prst="line">
            <a:avLst/>
          </a:prstGeom>
          <a:noFill/>
          <a:ln w="25400">
            <a:solidFill>
              <a:schemeClr val="accent2"/>
            </a:solidFill>
            <a:prstDash val="solid"/>
          </a:ln>
        </p:spPr>
      </p:sp>
      <p:sp>
        <p:nvSpPr>
          <p:cNvPr id="52" name="Shape 42"/>
          <p:cNvSpPr/>
          <p:nvPr/>
        </p:nvSpPr>
        <p:spPr>
          <a:xfrm>
            <a:off x="5852160" y="5202936"/>
            <a:ext cx="868680" cy="274320"/>
          </a:xfrm>
          <a:prstGeom prst="roundRect">
            <a:avLst>
              <a:gd name="adj" fmla="val 16667"/>
            </a:avLst>
          </a:prstGeom>
          <a:solidFill>
            <a:schemeClr val="bg1">
              <a:alpha val="75000"/>
            </a:schemeClr>
          </a:solidFill>
          <a:ln w="12700">
            <a:solidFill>
              <a:srgbClr val="F59E0B"/>
            </a:solidFill>
            <a:prstDash val="solid"/>
          </a:ln>
        </p:spPr>
      </p:sp>
      <p:sp>
        <p:nvSpPr>
          <p:cNvPr id="53" name="Text 43"/>
          <p:cNvSpPr txBox="1"/>
          <p:nvPr/>
        </p:nvSpPr>
        <p:spPr>
          <a:xfrm>
            <a:off x="5852160" y="5202936"/>
            <a:ext cx="868680" cy="274320"/>
          </a:xfrm>
          <a:prstGeom prst="rect">
            <a:avLst/>
          </a:prstGeom>
          <a:noFill/>
          <a:ln/>
        </p:spPr>
        <p:txBody>
          <a:bodyPr wrap="square" lIns="0" tIns="0" rIns="0" bIns="0" rtlCol="0" anchor="ctr"/>
          <a:lstStyle/>
          <a:p>
            <a:pPr marL="0" indent="0" algn="ctr">
              <a:buNone/>
            </a:pPr>
            <a:r>
              <a:rPr lang="en-US" sz="900" b="1" dirty="0">
                <a:solidFill>
                  <a:srgbClr val="F59E0B"/>
                </a:solidFill>
                <a:latin typeface="Consolas" pitchFamily="34" charset="0"/>
                <a:ea typeface="Consolas" pitchFamily="34" charset="-122"/>
                <a:cs typeface="Consolas" pitchFamily="34" charset="-120"/>
              </a:rPr>
              <a:t>ACT</a:t>
            </a:r>
            <a:endParaRPr lang="en-US" sz="900" dirty="0"/>
          </a:p>
        </p:txBody>
      </p:sp>
      <p:sp>
        <p:nvSpPr>
          <p:cNvPr id="54" name="Shape 44"/>
          <p:cNvSpPr/>
          <p:nvPr/>
        </p:nvSpPr>
        <p:spPr>
          <a:xfrm>
            <a:off x="6766560" y="2386584"/>
            <a:ext cx="329184" cy="0"/>
          </a:xfrm>
          <a:prstGeom prst="line">
            <a:avLst/>
          </a:prstGeom>
          <a:noFill/>
          <a:ln w="15875">
            <a:solidFill>
              <a:schemeClr val="accent1"/>
            </a:solidFill>
            <a:prstDash val="dash"/>
          </a:ln>
        </p:spPr>
      </p:sp>
      <p:sp>
        <p:nvSpPr>
          <p:cNvPr id="55" name="Shape 45"/>
          <p:cNvSpPr/>
          <p:nvPr/>
        </p:nvSpPr>
        <p:spPr>
          <a:xfrm>
            <a:off x="868680" y="6035040"/>
            <a:ext cx="155448" cy="155448"/>
          </a:xfrm>
          <a:prstGeom prst="ellipse">
            <a:avLst/>
          </a:prstGeom>
          <a:solidFill>
            <a:schemeClr val="bg2"/>
          </a:solidFill>
          <a:ln w="25400">
            <a:solidFill>
              <a:schemeClr val="accent1"/>
            </a:solidFill>
            <a:prstDash val="solid"/>
          </a:ln>
        </p:spPr>
      </p:sp>
      <p:sp>
        <p:nvSpPr>
          <p:cNvPr id="56" name="Text 46"/>
          <p:cNvSpPr txBox="1"/>
          <p:nvPr/>
        </p:nvSpPr>
        <p:spPr>
          <a:xfrm>
            <a:off x="1097280" y="5998464"/>
            <a:ext cx="1280160" cy="228600"/>
          </a:xfrm>
          <a:prstGeom prst="rect">
            <a:avLst/>
          </a:prstGeom>
          <a:noFill/>
          <a:ln/>
        </p:spPr>
        <p:txBody>
          <a:bodyPr wrap="square" lIns="0" tIns="0" rIns="0" bIns="0" rtlCol="0" anchor="ctr"/>
          <a:lstStyle/>
          <a:p>
            <a:pPr marL="0" indent="0">
              <a:buNone/>
            </a:pPr>
            <a:r>
              <a:rPr lang="en-US" sz="1000" dirty="0">
                <a:solidFill>
                  <a:schemeClr val="tx2"/>
                </a:solidFill>
                <a:latin typeface="Consolas" pitchFamily="34" charset="0"/>
                <a:ea typeface="Consolas" pitchFamily="34" charset="-122"/>
                <a:cs typeface="Consolas" pitchFamily="34" charset="-120"/>
              </a:rPr>
              <a:t>AI component</a:t>
            </a:r>
            <a:endParaRPr lang="en-US" sz="1000" dirty="0"/>
          </a:p>
        </p:txBody>
      </p:sp>
      <p:sp>
        <p:nvSpPr>
          <p:cNvPr id="57" name="Shape 47"/>
          <p:cNvSpPr/>
          <p:nvPr/>
        </p:nvSpPr>
        <p:spPr>
          <a:xfrm>
            <a:off x="2468880" y="6035040"/>
            <a:ext cx="155448" cy="155448"/>
          </a:xfrm>
          <a:prstGeom prst="ellipse">
            <a:avLst/>
          </a:prstGeom>
          <a:solidFill>
            <a:schemeClr val="bg2"/>
          </a:solidFill>
          <a:ln w="19050">
            <a:solidFill>
              <a:schemeClr val="accent5"/>
            </a:solidFill>
            <a:prstDash val="solid"/>
          </a:ln>
        </p:spPr>
      </p:sp>
      <p:sp>
        <p:nvSpPr>
          <p:cNvPr id="58" name="Text 48"/>
          <p:cNvSpPr txBox="1"/>
          <p:nvPr/>
        </p:nvSpPr>
        <p:spPr>
          <a:xfrm>
            <a:off x="2697480" y="5998464"/>
            <a:ext cx="1463040" cy="228600"/>
          </a:xfrm>
          <a:prstGeom prst="rect">
            <a:avLst/>
          </a:prstGeom>
          <a:noFill/>
          <a:ln/>
        </p:spPr>
        <p:txBody>
          <a:bodyPr wrap="square" lIns="0" tIns="0" rIns="0" bIns="0" rtlCol="0" anchor="ctr"/>
          <a:lstStyle/>
          <a:p>
            <a:pPr marL="0" indent="0">
              <a:buNone/>
            </a:pPr>
            <a:r>
              <a:rPr lang="en-US" sz="1000" dirty="0">
                <a:solidFill>
                  <a:schemeClr val="tx2"/>
                </a:solidFill>
                <a:latin typeface="Consolas" pitchFamily="34" charset="0"/>
                <a:ea typeface="Consolas" pitchFamily="34" charset="-122"/>
                <a:cs typeface="Consolas" pitchFamily="34" charset="-120"/>
              </a:rPr>
              <a:t>Hardware / action</a:t>
            </a:r>
            <a:endParaRPr lang="en-US" sz="1000" dirty="0"/>
          </a:p>
        </p:txBody>
      </p:sp>
      <p:sp>
        <p:nvSpPr>
          <p:cNvPr id="59" name="Shape 49"/>
          <p:cNvSpPr/>
          <p:nvPr/>
        </p:nvSpPr>
        <p:spPr>
          <a:xfrm>
            <a:off x="4160520" y="5943600"/>
            <a:ext cx="2743200" cy="329184"/>
          </a:xfrm>
          <a:prstGeom prst="roundRect">
            <a:avLst>
              <a:gd name="adj" fmla="val 22222"/>
            </a:avLst>
          </a:prstGeom>
          <a:solidFill>
            <a:schemeClr val="bg1"/>
          </a:solidFill>
          <a:ln w="15875">
            <a:solidFill>
              <a:schemeClr val="accent2"/>
            </a:solidFill>
            <a:prstDash val="solid"/>
          </a:ln>
        </p:spPr>
      </p:sp>
      <p:sp>
        <p:nvSpPr>
          <p:cNvPr id="60" name="Text 50"/>
          <p:cNvSpPr txBox="1"/>
          <p:nvPr/>
        </p:nvSpPr>
        <p:spPr>
          <a:xfrm>
            <a:off x="4160520" y="5943600"/>
            <a:ext cx="2743200" cy="329184"/>
          </a:xfrm>
          <a:prstGeom prst="rect">
            <a:avLst/>
          </a:prstGeom>
          <a:noFill/>
          <a:ln/>
        </p:spPr>
        <p:txBody>
          <a:bodyPr wrap="square" lIns="0" tIns="0" rIns="0" bIns="0" rtlCol="0" anchor="ctr"/>
          <a:lstStyle/>
          <a:p>
            <a:pPr marL="0" indent="0" algn="ctr">
              <a:buNone/>
            </a:pPr>
            <a:r>
              <a:rPr lang="en-US" sz="800" b="1" dirty="0">
                <a:solidFill>
                  <a:schemeClr val="accent2"/>
                </a:solidFill>
                <a:latin typeface="Consolas" pitchFamily="34" charset="0"/>
                <a:ea typeface="Consolas" pitchFamily="34" charset="-122"/>
                <a:cs typeface="Consolas" pitchFamily="34" charset="-120"/>
              </a:rPr>
              <a:t>PROPOSED SYSTEM · NOT A DEPLOYED PRODUCT</a:t>
            </a:r>
            <a:endParaRPr lang="en-US" sz="800" dirty="0"/>
          </a:p>
        </p:txBody>
      </p:sp>
      <p:pic>
        <p:nvPicPr>
          <p:cNvPr id="61" name="Perception feed" descr="Drone camera feed: camera, sensors and AI processing detect a survivor in rubble"/>
          <p:cNvPicPr>
            <a:picLocks noChangeAspect="1"/>
          </p:cNvPicPr>
          <p:nvPr/>
        </p:nvPicPr>
        <p:blipFill>
          <a:blip r:embed="rId11"/>
          <a:stretch>
            <a:fillRect/>
          </a:stretch>
        </p:blipFill>
        <p:spPr>
          <a:xfrm>
            <a:off x="7086600" y="1417320"/>
            <a:ext cx="4553712" cy="4718304"/>
          </a:xfrm>
          <a:prstGeom prst="rect">
            <a:avLst/>
          </a:prstGeom>
        </p:spPr>
      </p:pic>
      <p:sp>
        <p:nvSpPr>
          <p:cNvPr id="62" name="Shape 51"/>
          <p:cNvSpPr/>
          <p:nvPr/>
        </p:nvSpPr>
        <p:spPr>
          <a:xfrm>
            <a:off x="7022592" y="1353312"/>
            <a:ext cx="274320" cy="0"/>
          </a:xfrm>
          <a:prstGeom prst="line">
            <a:avLst/>
          </a:prstGeom>
          <a:noFill/>
          <a:ln w="25400">
            <a:solidFill>
              <a:schemeClr val="accent1"/>
            </a:solidFill>
            <a:prstDash val="solid"/>
          </a:ln>
        </p:spPr>
      </p:sp>
      <p:sp>
        <p:nvSpPr>
          <p:cNvPr id="63" name="Shape 52"/>
          <p:cNvSpPr/>
          <p:nvPr/>
        </p:nvSpPr>
        <p:spPr>
          <a:xfrm>
            <a:off x="7022592" y="1353312"/>
            <a:ext cx="0" cy="274320"/>
          </a:xfrm>
          <a:prstGeom prst="line">
            <a:avLst/>
          </a:prstGeom>
          <a:noFill/>
          <a:ln w="25400">
            <a:solidFill>
              <a:schemeClr val="accent1"/>
            </a:solidFill>
            <a:prstDash val="solid"/>
          </a:ln>
        </p:spPr>
      </p:sp>
      <p:sp>
        <p:nvSpPr>
          <p:cNvPr id="64" name="Shape 53"/>
          <p:cNvSpPr/>
          <p:nvPr/>
        </p:nvSpPr>
        <p:spPr>
          <a:xfrm>
            <a:off x="11430000" y="1353312"/>
            <a:ext cx="274320" cy="0"/>
          </a:xfrm>
          <a:prstGeom prst="line">
            <a:avLst/>
          </a:prstGeom>
          <a:noFill/>
          <a:ln w="25400">
            <a:solidFill>
              <a:schemeClr val="accent1"/>
            </a:solidFill>
            <a:prstDash val="solid"/>
          </a:ln>
        </p:spPr>
      </p:sp>
      <p:sp>
        <p:nvSpPr>
          <p:cNvPr id="65" name="Shape 54"/>
          <p:cNvSpPr/>
          <p:nvPr/>
        </p:nvSpPr>
        <p:spPr>
          <a:xfrm>
            <a:off x="11704320" y="1353312"/>
            <a:ext cx="0" cy="274320"/>
          </a:xfrm>
          <a:prstGeom prst="line">
            <a:avLst/>
          </a:prstGeom>
          <a:noFill/>
          <a:ln w="25400">
            <a:solidFill>
              <a:schemeClr val="accent1"/>
            </a:solidFill>
            <a:prstDash val="solid"/>
          </a:ln>
        </p:spPr>
      </p:sp>
      <p:sp>
        <p:nvSpPr>
          <p:cNvPr id="66" name="Shape 55"/>
          <p:cNvSpPr/>
          <p:nvPr/>
        </p:nvSpPr>
        <p:spPr>
          <a:xfrm>
            <a:off x="7022592" y="6199632"/>
            <a:ext cx="274320" cy="0"/>
          </a:xfrm>
          <a:prstGeom prst="line">
            <a:avLst/>
          </a:prstGeom>
          <a:noFill/>
          <a:ln w="25400">
            <a:solidFill>
              <a:schemeClr val="accent1"/>
            </a:solidFill>
            <a:prstDash val="solid"/>
          </a:ln>
        </p:spPr>
      </p:sp>
      <p:sp>
        <p:nvSpPr>
          <p:cNvPr id="67" name="Shape 56"/>
          <p:cNvSpPr/>
          <p:nvPr/>
        </p:nvSpPr>
        <p:spPr>
          <a:xfrm>
            <a:off x="7022592" y="5925312"/>
            <a:ext cx="0" cy="274320"/>
          </a:xfrm>
          <a:prstGeom prst="line">
            <a:avLst/>
          </a:prstGeom>
          <a:noFill/>
          <a:ln w="25400">
            <a:solidFill>
              <a:schemeClr val="accent1"/>
            </a:solidFill>
            <a:prstDash val="solid"/>
          </a:ln>
        </p:spPr>
      </p:sp>
      <p:sp>
        <p:nvSpPr>
          <p:cNvPr id="68" name="Shape 57"/>
          <p:cNvSpPr/>
          <p:nvPr/>
        </p:nvSpPr>
        <p:spPr>
          <a:xfrm>
            <a:off x="11430000" y="6199632"/>
            <a:ext cx="274320" cy="0"/>
          </a:xfrm>
          <a:prstGeom prst="line">
            <a:avLst/>
          </a:prstGeom>
          <a:noFill/>
          <a:ln w="25400">
            <a:solidFill>
              <a:schemeClr val="accent1"/>
            </a:solidFill>
            <a:prstDash val="solid"/>
          </a:ln>
        </p:spPr>
      </p:sp>
      <p:sp>
        <p:nvSpPr>
          <p:cNvPr id="69" name="Shape 58"/>
          <p:cNvSpPr/>
          <p:nvPr/>
        </p:nvSpPr>
        <p:spPr>
          <a:xfrm>
            <a:off x="11704320" y="5925312"/>
            <a:ext cx="0" cy="274320"/>
          </a:xfrm>
          <a:prstGeom prst="line">
            <a:avLst/>
          </a:prstGeom>
          <a:noFill/>
          <a:ln w="25400">
            <a:solidFill>
              <a:schemeClr val="accent1"/>
            </a:solidFill>
            <a:prstDash val="solid"/>
          </a:ln>
        </p:spPr>
      </p:sp>
      <p:sp>
        <p:nvSpPr>
          <p:cNvPr id="70" name="Shape 59"/>
          <p:cNvSpPr/>
          <p:nvPr/>
        </p:nvSpPr>
        <p:spPr>
          <a:xfrm>
            <a:off x="7251192" y="5769864"/>
            <a:ext cx="2514600" cy="246888"/>
          </a:xfrm>
          <a:prstGeom prst="roundRect">
            <a:avLst>
              <a:gd name="adj" fmla="val 18519"/>
            </a:avLst>
          </a:prstGeom>
          <a:solidFill>
            <a:schemeClr val="bg1">
              <a:alpha val="75000"/>
            </a:schemeClr>
          </a:solidFill>
          <a:ln w="12700">
            <a:solidFill>
              <a:srgbClr val="22D3EE"/>
            </a:solidFill>
            <a:prstDash val="solid"/>
          </a:ln>
        </p:spPr>
      </p:sp>
      <p:sp>
        <p:nvSpPr>
          <p:cNvPr id="71" name="Text 60"/>
          <p:cNvSpPr txBox="1"/>
          <p:nvPr/>
        </p:nvSpPr>
        <p:spPr>
          <a:xfrm>
            <a:off x="7251192" y="5769864"/>
            <a:ext cx="2514600" cy="246888"/>
          </a:xfrm>
          <a:prstGeom prst="rect">
            <a:avLst/>
          </a:prstGeom>
          <a:noFill/>
          <a:ln/>
        </p:spPr>
        <p:txBody>
          <a:bodyPr wrap="square" lIns="0" tIns="0" rIns="0" bIns="0" rtlCol="0" anchor="ctr"/>
          <a:lstStyle/>
          <a:p>
            <a:pPr marL="0" indent="0" algn="ctr">
              <a:buNone/>
            </a:pPr>
            <a:r>
              <a:rPr lang="en-US" sz="900" b="1" dirty="0">
                <a:solidFill>
                  <a:srgbClr val="22D3EE"/>
                </a:solidFill>
                <a:latin typeface="Consolas" pitchFamily="34" charset="0"/>
                <a:ea typeface="Consolas" pitchFamily="34" charset="-122"/>
                <a:cs typeface="Consolas" pitchFamily="34" charset="-120"/>
              </a:rPr>
              <a:t>SEE · AI PERCEPTION FEED</a:t>
            </a:r>
            <a:endParaRPr lang="en-US" sz="900" dirty="0"/>
          </a:p>
        </p:txBody>
      </p:sp>
      <p:sp>
        <p:nvSpPr>
          <p:cNvPr id="72" name="Text 61"/>
          <p:cNvSpPr txBox="1"/>
          <p:nvPr/>
        </p:nvSpPr>
        <p:spPr>
          <a:xfrm>
            <a:off x="5852160" y="6473952"/>
            <a:ext cx="5212080" cy="228600"/>
          </a:xfrm>
          <a:prstGeom prst="rect">
            <a:avLst/>
          </a:prstGeom>
          <a:noFill/>
          <a:ln/>
        </p:spPr>
        <p:txBody>
          <a:bodyPr wrap="square" lIns="0" tIns="0" rIns="0" bIns="0" rtlCol="0" anchor="ctr"/>
          <a:lstStyle/>
          <a:p>
            <a:pPr marL="0" indent="0" algn="r">
              <a:buNone/>
            </a:pPr>
            <a:r>
              <a:rPr lang="en-US" sz="900" b="1" dirty="0">
                <a:solidFill>
                  <a:schemeClr val="accent2"/>
                </a:solidFill>
                <a:latin typeface="Consolas" pitchFamily="34" charset="0"/>
                <a:ea typeface="Consolas" pitchFamily="34" charset="-122"/>
                <a:cs typeface="Consolas" pitchFamily="34" charset="-120"/>
              </a:rPr>
              <a:t>RUBRIC · AI SOLUTION &amp; IMPACT · 3 MARKS</a:t>
            </a:r>
            <a:endParaRPr lang="en-US" sz="900" dirty="0"/>
          </a:p>
        </p:txBody>
      </p:sp>
      <p:sp>
        <p:nvSpPr>
          <p:cNvPr id="73" name="Slide Number Placeholder 0"/>
          <p:cNvSpPr>
            <a:spLocks noGrp="1"/>
          </p:cNvSpPr>
          <p:nvPr>
            <p:ph type="sldNum" sz="quarter" idx="4294967295"/>
          </p:nvPr>
        </p:nvSpPr>
        <p:spPr>
          <a:xfrm>
            <a:off x="11183112" y="6473952"/>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tx2"/>
                </a:solidFill>
                <a:latin typeface="Consolas"/>
                <a:ea typeface="Consolas"/>
                <a:cs typeface="Consolas"/>
              </a:defRPr>
            </a:lvl1pPr>
          </a:lstStyle>
          <a:p>
            <a:pPr algn="r"/>
            <a:fld id="{F7021451-1387-4CA6-816F-3879F97B5CBC}" type="slidenum">
              <a:rPr lang="en-US" b="0"/>
              <a:t>3</a:t>
            </a:fld>
            <a:endParaRPr lang="en-US"/>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74320"/>
            <a:ext cx="7315200" cy="201168"/>
          </a:xfrm>
          <a:prstGeom prst="rect">
            <a:avLst/>
          </a:prstGeom>
          <a:noFill/>
          <a:ln/>
        </p:spPr>
        <p:txBody>
          <a:bodyPr wrap="square" lIns="0" tIns="0" rIns="0" bIns="0" rtlCol="0" anchor="t"/>
          <a:lstStyle/>
          <a:p>
            <a:pPr marL="0" indent="0">
              <a:buNone/>
            </a:pPr>
            <a:r>
              <a:rPr lang="en-US" sz="1000" b="1" dirty="0">
                <a:solidFill>
                  <a:schemeClr val="accent1"/>
                </a:solidFill>
                <a:latin typeface="Consolas" pitchFamily="34" charset="0"/>
                <a:ea typeface="Consolas" pitchFamily="34" charset="-122"/>
                <a:cs typeface="Consolas" pitchFamily="34" charset="-120"/>
              </a:rPr>
              <a:t>PHASE 03 · AI CONCEPTS</a:t>
            </a:r>
            <a:endParaRPr lang="en-US" sz="1000" dirty="0"/>
          </a:p>
        </p:txBody>
      </p:sp>
      <p:sp>
        <p:nvSpPr>
          <p:cNvPr id="3" name="Shape 1"/>
          <p:cNvSpPr/>
          <p:nvPr/>
        </p:nvSpPr>
        <p:spPr>
          <a:xfrm>
            <a:off x="10314432" y="301752"/>
            <a:ext cx="109728" cy="109728"/>
          </a:xfrm>
          <a:prstGeom prst="rect">
            <a:avLst/>
          </a:prstGeom>
          <a:solidFill>
            <a:schemeClr val="accent1"/>
          </a:solidFill>
          <a:ln w="12700">
            <a:solidFill>
              <a:schemeClr val="accent1"/>
            </a:solidFill>
            <a:prstDash val="solid"/>
          </a:ln>
        </p:spPr>
      </p:sp>
      <p:sp>
        <p:nvSpPr>
          <p:cNvPr id="4" name="Shape 2"/>
          <p:cNvSpPr/>
          <p:nvPr/>
        </p:nvSpPr>
        <p:spPr>
          <a:xfrm>
            <a:off x="10488168" y="301752"/>
            <a:ext cx="109728" cy="109728"/>
          </a:xfrm>
          <a:prstGeom prst="rect">
            <a:avLst/>
          </a:prstGeom>
          <a:solidFill>
            <a:schemeClr val="accent1"/>
          </a:solidFill>
          <a:ln w="12700">
            <a:solidFill>
              <a:schemeClr val="accent1"/>
            </a:solidFill>
            <a:prstDash val="solid"/>
          </a:ln>
        </p:spPr>
      </p:sp>
      <p:sp>
        <p:nvSpPr>
          <p:cNvPr id="5" name="Shape 3"/>
          <p:cNvSpPr/>
          <p:nvPr/>
        </p:nvSpPr>
        <p:spPr>
          <a:xfrm>
            <a:off x="10661904" y="301752"/>
            <a:ext cx="109728" cy="109728"/>
          </a:xfrm>
          <a:prstGeom prst="rect">
            <a:avLst/>
          </a:prstGeom>
          <a:solidFill>
            <a:schemeClr val="accent1"/>
          </a:solidFill>
          <a:ln w="12700">
            <a:solidFill>
              <a:schemeClr val="accent1"/>
            </a:solidFill>
            <a:prstDash val="solid"/>
          </a:ln>
        </p:spPr>
      </p:sp>
      <p:sp>
        <p:nvSpPr>
          <p:cNvPr id="6" name="Shape 4"/>
          <p:cNvSpPr/>
          <p:nvPr/>
        </p:nvSpPr>
        <p:spPr>
          <a:xfrm>
            <a:off x="10835640" y="301752"/>
            <a:ext cx="109728" cy="109728"/>
          </a:xfrm>
          <a:prstGeom prst="rect">
            <a:avLst/>
          </a:prstGeom>
          <a:solidFill>
            <a:schemeClr val="accent5"/>
          </a:solidFill>
          <a:ln w="12700">
            <a:solidFill>
              <a:schemeClr val="accent5"/>
            </a:solidFill>
            <a:prstDash val="solid"/>
          </a:ln>
        </p:spPr>
      </p:sp>
      <p:sp>
        <p:nvSpPr>
          <p:cNvPr id="7" name="Shape 5"/>
          <p:cNvSpPr/>
          <p:nvPr/>
        </p:nvSpPr>
        <p:spPr>
          <a:xfrm>
            <a:off x="11009376" y="301752"/>
            <a:ext cx="109728" cy="109728"/>
          </a:xfrm>
          <a:prstGeom prst="rect">
            <a:avLst/>
          </a:prstGeom>
          <a:solidFill>
            <a:schemeClr val="accent5"/>
          </a:solidFill>
          <a:ln w="12700">
            <a:solidFill>
              <a:schemeClr val="accent5"/>
            </a:solidFill>
            <a:prstDash val="solid"/>
          </a:ln>
        </p:spPr>
      </p:sp>
      <p:sp>
        <p:nvSpPr>
          <p:cNvPr id="8" name="Shape 6"/>
          <p:cNvSpPr/>
          <p:nvPr/>
        </p:nvSpPr>
        <p:spPr>
          <a:xfrm>
            <a:off x="11183112" y="301752"/>
            <a:ext cx="109728" cy="109728"/>
          </a:xfrm>
          <a:prstGeom prst="rect">
            <a:avLst/>
          </a:prstGeom>
          <a:solidFill>
            <a:schemeClr val="accent5"/>
          </a:solidFill>
          <a:ln w="12700">
            <a:solidFill>
              <a:schemeClr val="accent5"/>
            </a:solidFill>
            <a:prstDash val="solid"/>
          </a:ln>
        </p:spPr>
      </p:sp>
      <p:sp>
        <p:nvSpPr>
          <p:cNvPr id="9" name="Shape 7"/>
          <p:cNvSpPr/>
          <p:nvPr/>
        </p:nvSpPr>
        <p:spPr>
          <a:xfrm>
            <a:off x="11356848" y="301752"/>
            <a:ext cx="109728" cy="109728"/>
          </a:xfrm>
          <a:prstGeom prst="rect">
            <a:avLst/>
          </a:prstGeom>
          <a:solidFill>
            <a:schemeClr val="accent5"/>
          </a:solidFill>
          <a:ln w="12700">
            <a:solidFill>
              <a:schemeClr val="accent5"/>
            </a:solidFill>
            <a:prstDash val="solid"/>
          </a:ln>
        </p:spPr>
      </p:sp>
      <p:sp>
        <p:nvSpPr>
          <p:cNvPr id="10" name="Shape 8"/>
          <p:cNvSpPr/>
          <p:nvPr/>
        </p:nvSpPr>
        <p:spPr>
          <a:xfrm>
            <a:off x="11530584" y="301752"/>
            <a:ext cx="109728" cy="109728"/>
          </a:xfrm>
          <a:prstGeom prst="rect">
            <a:avLst/>
          </a:prstGeom>
          <a:solidFill>
            <a:schemeClr val="accent5"/>
          </a:solidFill>
          <a:ln w="12700">
            <a:solidFill>
              <a:schemeClr val="accent5"/>
            </a:solidFill>
            <a:prstDash val="solid"/>
          </a:ln>
        </p:spPr>
      </p:sp>
      <p:sp>
        <p:nvSpPr>
          <p:cNvPr id="11" name="Text 0"/>
          <p:cNvSpPr>
            <a:spLocks noGrp="1"/>
          </p:cNvSpPr>
          <p:nvPr>
            <p:ph type="title" idx="100" hasCustomPrompt="1"/>
          </p:nvPr>
        </p:nvSpPr>
        <p:spPr>
          <a:xfrm>
            <a:off x="548640" y="530352"/>
            <a:ext cx="11091672" cy="640080"/>
          </a:xfrm>
          <a:prstGeom prst="rect">
            <a:avLst/>
          </a:prstGeom>
          <a:noFill/>
          <a:ln/>
        </p:spPr>
        <p:txBody>
          <a:bodyPr wrap="square" lIns="0" tIns="0" rIns="0" bIns="0" rtlCol="0" anchor="ctr"/>
          <a:lstStyle/>
          <a:p>
            <a:pPr marL="0" indent="0" algn="l">
              <a:buNone/>
            </a:pPr>
            <a:r>
              <a:rPr lang="en-US" sz="3200" b="1" dirty="0">
                <a:solidFill>
                  <a:schemeClr val="tx1"/>
                </a:solidFill>
              </a:rPr>
              <a:t>How the drone “thinks”: five AI concepts</a:t>
            </a:r>
            <a:endParaRPr lang="en-US" sz="3200" dirty="0"/>
          </a:p>
        </p:txBody>
      </p:sp>
      <p:sp>
        <p:nvSpPr>
          <p:cNvPr id="12" name="Concept 1"/>
          <p:cNvSpPr/>
          <p:nvPr/>
        </p:nvSpPr>
        <p:spPr>
          <a:xfrm>
            <a:off x="548640" y="1554480"/>
            <a:ext cx="3657600" cy="1188720"/>
          </a:xfrm>
          <a:prstGeom prst="roundRect">
            <a:avLst>
              <a:gd name="adj" fmla="val 6154"/>
            </a:avLst>
          </a:prstGeom>
          <a:solidFill>
            <a:schemeClr val="bg2"/>
          </a:solidFill>
          <a:ln w="12700">
            <a:solidFill>
              <a:schemeClr val="accent5"/>
            </a:solidFill>
            <a:prstDash val="solid"/>
          </a:ln>
        </p:spPr>
      </p:sp>
      <p:sp>
        <p:nvSpPr>
          <p:cNvPr id="13" name="Shape 11"/>
          <p:cNvSpPr/>
          <p:nvPr/>
        </p:nvSpPr>
        <p:spPr>
          <a:xfrm>
            <a:off x="713232" y="1719072"/>
            <a:ext cx="329184" cy="329184"/>
          </a:xfrm>
          <a:prstGeom prst="ellipse">
            <a:avLst/>
          </a:prstGeom>
          <a:solidFill>
            <a:schemeClr val="bg1"/>
          </a:solidFill>
          <a:ln w="19050">
            <a:solidFill>
              <a:schemeClr val="accent1"/>
            </a:solidFill>
            <a:prstDash val="solid"/>
          </a:ln>
        </p:spPr>
      </p:sp>
      <p:sp>
        <p:nvSpPr>
          <p:cNvPr id="14" name="Text 12"/>
          <p:cNvSpPr txBox="1"/>
          <p:nvPr/>
        </p:nvSpPr>
        <p:spPr>
          <a:xfrm>
            <a:off x="713232" y="1719072"/>
            <a:ext cx="329184" cy="329184"/>
          </a:xfrm>
          <a:prstGeom prst="rect">
            <a:avLst/>
          </a:prstGeom>
          <a:noFill/>
          <a:ln/>
        </p:spPr>
        <p:txBody>
          <a:bodyPr wrap="square" lIns="0" tIns="0" rIns="0" bIns="0" rtlCol="0" anchor="ctr"/>
          <a:lstStyle/>
          <a:p>
            <a:pPr marL="0" indent="0" algn="ctr">
              <a:buNone/>
            </a:pPr>
            <a:r>
              <a:rPr lang="en-US" sz="1200" b="1" dirty="0">
                <a:solidFill>
                  <a:schemeClr val="accent1"/>
                </a:solidFill>
                <a:latin typeface="Consolas" pitchFamily="34" charset="0"/>
                <a:ea typeface="Consolas" pitchFamily="34" charset="-122"/>
                <a:cs typeface="Consolas" pitchFamily="34" charset="-120"/>
              </a:rPr>
              <a:t>1</a:t>
            </a:r>
            <a:endParaRPr lang="en-US" sz="1200" dirty="0"/>
          </a:p>
        </p:txBody>
      </p:sp>
      <p:sp>
        <p:nvSpPr>
          <p:cNvPr id="15" name="Text 13"/>
          <p:cNvSpPr txBox="1"/>
          <p:nvPr/>
        </p:nvSpPr>
        <p:spPr>
          <a:xfrm>
            <a:off x="1170432" y="1719072"/>
            <a:ext cx="1828800" cy="329184"/>
          </a:xfrm>
          <a:prstGeom prst="rect">
            <a:avLst/>
          </a:prstGeom>
          <a:noFill/>
          <a:ln/>
        </p:spPr>
        <p:txBody>
          <a:bodyPr wrap="square" lIns="0" tIns="0" rIns="0" bIns="0" rtlCol="0" anchor="ctr"/>
          <a:lstStyle/>
          <a:p>
            <a:pPr marL="0" indent="0">
              <a:buNone/>
            </a:pPr>
            <a:r>
              <a:rPr lang="en-US" sz="1600" b="1" dirty="0">
                <a:solidFill>
                  <a:schemeClr val="accent1"/>
                </a:solidFill>
              </a:rPr>
              <a:t>Intelligent Agent</a:t>
            </a:r>
            <a:endParaRPr lang="en-US" sz="1600" dirty="0"/>
          </a:p>
        </p:txBody>
      </p:sp>
      <p:sp>
        <p:nvSpPr>
          <p:cNvPr id="16" name="Text 14"/>
          <p:cNvSpPr txBox="1"/>
          <p:nvPr/>
        </p:nvSpPr>
        <p:spPr>
          <a:xfrm>
            <a:off x="2971800" y="1719072"/>
            <a:ext cx="1097280" cy="329184"/>
          </a:xfrm>
          <a:prstGeom prst="rect">
            <a:avLst/>
          </a:prstGeom>
          <a:noFill/>
          <a:ln/>
        </p:spPr>
        <p:txBody>
          <a:bodyPr wrap="square" lIns="0" tIns="0" rIns="0" bIns="0" rtlCol="0" anchor="ctr"/>
          <a:lstStyle/>
          <a:p>
            <a:pPr marL="0" indent="0" algn="r">
              <a:buNone/>
            </a:pPr>
            <a:r>
              <a:rPr lang="en-US" sz="900" dirty="0">
                <a:solidFill>
                  <a:schemeClr val="tx2"/>
                </a:solidFill>
                <a:latin typeface="Consolas" pitchFamily="34" charset="0"/>
                <a:ea typeface="Consolas" pitchFamily="34" charset="-122"/>
                <a:cs typeface="Consolas" pitchFamily="34" charset="-120"/>
              </a:rPr>
              <a:t>LOOP</a:t>
            </a:r>
            <a:endParaRPr lang="en-US" sz="900" dirty="0"/>
          </a:p>
        </p:txBody>
      </p:sp>
      <p:sp>
        <p:nvSpPr>
          <p:cNvPr id="17" name="Text 15"/>
          <p:cNvSpPr txBox="1"/>
          <p:nvPr/>
        </p:nvSpPr>
        <p:spPr>
          <a:xfrm>
            <a:off x="731520" y="2157984"/>
            <a:ext cx="3291840" cy="502920"/>
          </a:xfrm>
          <a:prstGeom prst="rect">
            <a:avLst/>
          </a:prstGeom>
          <a:noFill/>
          <a:ln/>
        </p:spPr>
        <p:txBody>
          <a:bodyPr wrap="square" lIns="0" tIns="0" rIns="0" bIns="0" rtlCol="0" anchor="t"/>
          <a:lstStyle/>
          <a:p>
            <a:pPr marL="0" indent="0">
              <a:buNone/>
            </a:pPr>
            <a:r>
              <a:rPr lang="en-US" sz="1400" dirty="0">
                <a:solidFill>
                  <a:schemeClr val="tx1"/>
                </a:solidFill>
              </a:rPr>
              <a:t>Senses the zone → chooses a move → flies it</a:t>
            </a:r>
            <a:endParaRPr lang="en-US" sz="1400" dirty="0"/>
          </a:p>
        </p:txBody>
      </p:sp>
      <p:sp>
        <p:nvSpPr>
          <p:cNvPr id="18" name="Concept 2"/>
          <p:cNvSpPr/>
          <p:nvPr/>
        </p:nvSpPr>
        <p:spPr>
          <a:xfrm>
            <a:off x="548640" y="2971800"/>
            <a:ext cx="3657600" cy="1188720"/>
          </a:xfrm>
          <a:prstGeom prst="roundRect">
            <a:avLst>
              <a:gd name="adj" fmla="val 6154"/>
            </a:avLst>
          </a:prstGeom>
          <a:solidFill>
            <a:schemeClr val="bg2"/>
          </a:solidFill>
          <a:ln w="12700">
            <a:solidFill>
              <a:schemeClr val="accent5"/>
            </a:solidFill>
            <a:prstDash val="solid"/>
          </a:ln>
        </p:spPr>
      </p:sp>
      <p:sp>
        <p:nvSpPr>
          <p:cNvPr id="19" name="Shape 17"/>
          <p:cNvSpPr/>
          <p:nvPr/>
        </p:nvSpPr>
        <p:spPr>
          <a:xfrm>
            <a:off x="713232" y="3136392"/>
            <a:ext cx="329184" cy="329184"/>
          </a:xfrm>
          <a:prstGeom prst="ellipse">
            <a:avLst/>
          </a:prstGeom>
          <a:solidFill>
            <a:schemeClr val="bg1"/>
          </a:solidFill>
          <a:ln w="19050">
            <a:solidFill>
              <a:schemeClr val="accent1"/>
            </a:solidFill>
            <a:prstDash val="solid"/>
          </a:ln>
        </p:spPr>
      </p:sp>
      <p:sp>
        <p:nvSpPr>
          <p:cNvPr id="20" name="Text 18"/>
          <p:cNvSpPr txBox="1"/>
          <p:nvPr/>
        </p:nvSpPr>
        <p:spPr>
          <a:xfrm>
            <a:off x="713232" y="3136392"/>
            <a:ext cx="329184" cy="329184"/>
          </a:xfrm>
          <a:prstGeom prst="rect">
            <a:avLst/>
          </a:prstGeom>
          <a:noFill/>
          <a:ln/>
        </p:spPr>
        <p:txBody>
          <a:bodyPr wrap="square" lIns="0" tIns="0" rIns="0" bIns="0" rtlCol="0" anchor="ctr"/>
          <a:lstStyle/>
          <a:p>
            <a:pPr marL="0" indent="0" algn="ctr">
              <a:buNone/>
            </a:pPr>
            <a:r>
              <a:rPr lang="en-US" sz="1200" b="1" dirty="0">
                <a:solidFill>
                  <a:schemeClr val="accent1"/>
                </a:solidFill>
                <a:latin typeface="Consolas" pitchFamily="34" charset="0"/>
                <a:ea typeface="Consolas" pitchFamily="34" charset="-122"/>
                <a:cs typeface="Consolas" pitchFamily="34" charset="-120"/>
              </a:rPr>
              <a:t>2</a:t>
            </a:r>
            <a:endParaRPr lang="en-US" sz="1200" dirty="0"/>
          </a:p>
        </p:txBody>
      </p:sp>
      <p:sp>
        <p:nvSpPr>
          <p:cNvPr id="21" name="Text 19"/>
          <p:cNvSpPr txBox="1"/>
          <p:nvPr/>
        </p:nvSpPr>
        <p:spPr>
          <a:xfrm>
            <a:off x="1170432" y="3136392"/>
            <a:ext cx="1828800" cy="329184"/>
          </a:xfrm>
          <a:prstGeom prst="rect">
            <a:avLst/>
          </a:prstGeom>
          <a:noFill/>
          <a:ln/>
        </p:spPr>
        <p:txBody>
          <a:bodyPr wrap="square" lIns="0" tIns="0" rIns="0" bIns="0" rtlCol="0" anchor="ctr"/>
          <a:lstStyle/>
          <a:p>
            <a:pPr marL="0" indent="0">
              <a:buNone/>
            </a:pPr>
            <a:r>
              <a:rPr lang="en-US" sz="1600" b="1" dirty="0">
                <a:solidFill>
                  <a:schemeClr val="accent1"/>
                </a:solidFill>
              </a:rPr>
              <a:t>Computer Vision</a:t>
            </a:r>
            <a:endParaRPr lang="en-US" sz="1600" dirty="0"/>
          </a:p>
        </p:txBody>
      </p:sp>
      <p:sp>
        <p:nvSpPr>
          <p:cNvPr id="22" name="Text 20"/>
          <p:cNvSpPr txBox="1"/>
          <p:nvPr/>
        </p:nvSpPr>
        <p:spPr>
          <a:xfrm>
            <a:off x="2971800" y="3136392"/>
            <a:ext cx="1097280" cy="329184"/>
          </a:xfrm>
          <a:prstGeom prst="rect">
            <a:avLst/>
          </a:prstGeom>
          <a:noFill/>
          <a:ln/>
        </p:spPr>
        <p:txBody>
          <a:bodyPr wrap="square" lIns="0" tIns="0" rIns="0" bIns="0" rtlCol="0" anchor="ctr"/>
          <a:lstStyle/>
          <a:p>
            <a:pPr marL="0" indent="0" algn="r">
              <a:buNone/>
            </a:pPr>
            <a:r>
              <a:rPr lang="en-US" sz="900" dirty="0">
                <a:solidFill>
                  <a:schemeClr val="tx2"/>
                </a:solidFill>
                <a:latin typeface="Consolas" pitchFamily="34" charset="0"/>
                <a:ea typeface="Consolas" pitchFamily="34" charset="-122"/>
                <a:cs typeface="Consolas" pitchFamily="34" charset="-120"/>
              </a:rPr>
              <a:t>PERCEIVE</a:t>
            </a:r>
            <a:endParaRPr lang="en-US" sz="900" dirty="0"/>
          </a:p>
        </p:txBody>
      </p:sp>
      <p:sp>
        <p:nvSpPr>
          <p:cNvPr id="23" name="Text 21"/>
          <p:cNvSpPr txBox="1"/>
          <p:nvPr/>
        </p:nvSpPr>
        <p:spPr>
          <a:xfrm>
            <a:off x="731520" y="3575304"/>
            <a:ext cx="3291840" cy="502920"/>
          </a:xfrm>
          <a:prstGeom prst="rect">
            <a:avLst/>
          </a:prstGeom>
          <a:noFill/>
          <a:ln/>
        </p:spPr>
        <p:txBody>
          <a:bodyPr wrap="square" lIns="0" tIns="0" rIns="0" bIns="0" rtlCol="0" anchor="t"/>
          <a:lstStyle/>
          <a:p>
            <a:pPr marL="0" indent="0">
              <a:buNone/>
            </a:pPr>
            <a:r>
              <a:rPr lang="en-US" sz="1400" dirty="0">
                <a:solidFill>
                  <a:schemeClr val="tx1"/>
                </a:solidFill>
              </a:rPr>
              <a:t>Camera frames → “possible person” detected</a:t>
            </a:r>
            <a:endParaRPr lang="en-US" sz="1400" dirty="0"/>
          </a:p>
        </p:txBody>
      </p:sp>
      <p:sp>
        <p:nvSpPr>
          <p:cNvPr id="24" name="Concept 3"/>
          <p:cNvSpPr/>
          <p:nvPr/>
        </p:nvSpPr>
        <p:spPr>
          <a:xfrm>
            <a:off x="548640" y="4389120"/>
            <a:ext cx="3657600" cy="1188720"/>
          </a:xfrm>
          <a:prstGeom prst="roundRect">
            <a:avLst>
              <a:gd name="adj" fmla="val 6154"/>
            </a:avLst>
          </a:prstGeom>
          <a:solidFill>
            <a:schemeClr val="bg2"/>
          </a:solidFill>
          <a:ln w="12700">
            <a:solidFill>
              <a:schemeClr val="accent5"/>
            </a:solidFill>
            <a:prstDash val="solid"/>
          </a:ln>
        </p:spPr>
      </p:sp>
      <p:sp>
        <p:nvSpPr>
          <p:cNvPr id="25" name="Shape 23"/>
          <p:cNvSpPr/>
          <p:nvPr/>
        </p:nvSpPr>
        <p:spPr>
          <a:xfrm>
            <a:off x="713232" y="4553712"/>
            <a:ext cx="329184" cy="329184"/>
          </a:xfrm>
          <a:prstGeom prst="ellipse">
            <a:avLst/>
          </a:prstGeom>
          <a:solidFill>
            <a:schemeClr val="bg1"/>
          </a:solidFill>
          <a:ln w="19050">
            <a:solidFill>
              <a:schemeClr val="accent1"/>
            </a:solidFill>
            <a:prstDash val="solid"/>
          </a:ln>
        </p:spPr>
      </p:sp>
      <p:sp>
        <p:nvSpPr>
          <p:cNvPr id="26" name="Text 24"/>
          <p:cNvSpPr txBox="1"/>
          <p:nvPr/>
        </p:nvSpPr>
        <p:spPr>
          <a:xfrm>
            <a:off x="713232" y="4553712"/>
            <a:ext cx="329184" cy="329184"/>
          </a:xfrm>
          <a:prstGeom prst="rect">
            <a:avLst/>
          </a:prstGeom>
          <a:noFill/>
          <a:ln/>
        </p:spPr>
        <p:txBody>
          <a:bodyPr wrap="square" lIns="0" tIns="0" rIns="0" bIns="0" rtlCol="0" anchor="ctr"/>
          <a:lstStyle/>
          <a:p>
            <a:pPr marL="0" indent="0" algn="ctr">
              <a:buNone/>
            </a:pPr>
            <a:r>
              <a:rPr lang="en-US" sz="1200" b="1" dirty="0">
                <a:solidFill>
                  <a:schemeClr val="accent1"/>
                </a:solidFill>
                <a:latin typeface="Consolas" pitchFamily="34" charset="0"/>
                <a:ea typeface="Consolas" pitchFamily="34" charset="-122"/>
                <a:cs typeface="Consolas" pitchFamily="34" charset="-120"/>
              </a:rPr>
              <a:t>3</a:t>
            </a:r>
            <a:endParaRPr lang="en-US" sz="1200" dirty="0"/>
          </a:p>
        </p:txBody>
      </p:sp>
      <p:sp>
        <p:nvSpPr>
          <p:cNvPr id="27" name="Text 25"/>
          <p:cNvSpPr txBox="1"/>
          <p:nvPr/>
        </p:nvSpPr>
        <p:spPr>
          <a:xfrm>
            <a:off x="1170432" y="4553712"/>
            <a:ext cx="1828800" cy="329184"/>
          </a:xfrm>
          <a:prstGeom prst="rect">
            <a:avLst/>
          </a:prstGeom>
          <a:noFill/>
          <a:ln/>
        </p:spPr>
        <p:txBody>
          <a:bodyPr wrap="square" lIns="0" tIns="0" rIns="0" bIns="0" rtlCol="0" anchor="ctr"/>
          <a:lstStyle/>
          <a:p>
            <a:pPr marL="0" indent="0">
              <a:buNone/>
            </a:pPr>
            <a:r>
              <a:rPr lang="en-US" sz="1600" b="1" dirty="0">
                <a:solidFill>
                  <a:schemeClr val="accent1"/>
                </a:solidFill>
              </a:rPr>
              <a:t>State Space</a:t>
            </a:r>
            <a:endParaRPr lang="en-US" sz="1600" dirty="0"/>
          </a:p>
        </p:txBody>
      </p:sp>
      <p:sp>
        <p:nvSpPr>
          <p:cNvPr id="28" name="Text 26"/>
          <p:cNvSpPr txBox="1"/>
          <p:nvPr/>
        </p:nvSpPr>
        <p:spPr>
          <a:xfrm>
            <a:off x="2971800" y="4553712"/>
            <a:ext cx="1097280" cy="329184"/>
          </a:xfrm>
          <a:prstGeom prst="rect">
            <a:avLst/>
          </a:prstGeom>
          <a:noFill/>
          <a:ln/>
        </p:spPr>
        <p:txBody>
          <a:bodyPr wrap="square" lIns="0" tIns="0" rIns="0" bIns="0" rtlCol="0" anchor="ctr"/>
          <a:lstStyle/>
          <a:p>
            <a:pPr marL="0" indent="0" algn="r">
              <a:buNone/>
            </a:pPr>
            <a:r>
              <a:rPr lang="en-US" sz="900" dirty="0">
                <a:solidFill>
                  <a:schemeClr val="tx2"/>
                </a:solidFill>
                <a:latin typeface="Consolas" pitchFamily="34" charset="0"/>
                <a:ea typeface="Consolas" pitchFamily="34" charset="-122"/>
                <a:cs typeface="Consolas" pitchFamily="34" charset="-120"/>
              </a:rPr>
              <a:t>REPRESENT</a:t>
            </a:r>
            <a:endParaRPr lang="en-US" sz="900" dirty="0"/>
          </a:p>
        </p:txBody>
      </p:sp>
      <p:sp>
        <p:nvSpPr>
          <p:cNvPr id="29" name="Text 27"/>
          <p:cNvSpPr txBox="1"/>
          <p:nvPr/>
        </p:nvSpPr>
        <p:spPr>
          <a:xfrm>
            <a:off x="731520" y="4992624"/>
            <a:ext cx="3291840" cy="502920"/>
          </a:xfrm>
          <a:prstGeom prst="rect">
            <a:avLst/>
          </a:prstGeom>
          <a:noFill/>
          <a:ln/>
        </p:spPr>
        <p:txBody>
          <a:bodyPr wrap="square" lIns="0" tIns="0" rIns="0" bIns="0" rtlCol="0" anchor="t"/>
          <a:lstStyle/>
          <a:p>
            <a:pPr marL="0" indent="0">
              <a:buNone/>
            </a:pPr>
            <a:r>
              <a:rPr lang="en-US" sz="1400" dirty="0">
                <a:solidFill>
                  <a:schemeClr val="tx1"/>
                </a:solidFill>
              </a:rPr>
              <a:t>Each drone position (grid cell) = one state</a:t>
            </a:r>
            <a:endParaRPr lang="en-US" sz="1400" dirty="0"/>
          </a:p>
        </p:txBody>
      </p:sp>
      <p:sp>
        <p:nvSpPr>
          <p:cNvPr id="30" name="Concept 4"/>
          <p:cNvSpPr/>
          <p:nvPr/>
        </p:nvSpPr>
        <p:spPr>
          <a:xfrm>
            <a:off x="7982712" y="2240280"/>
            <a:ext cx="3657600" cy="1188720"/>
          </a:xfrm>
          <a:prstGeom prst="roundRect">
            <a:avLst>
              <a:gd name="adj" fmla="val 6154"/>
            </a:avLst>
          </a:prstGeom>
          <a:solidFill>
            <a:schemeClr val="bg2"/>
          </a:solidFill>
          <a:ln w="12700">
            <a:solidFill>
              <a:schemeClr val="accent5"/>
            </a:solidFill>
            <a:prstDash val="solid"/>
          </a:ln>
        </p:spPr>
      </p:sp>
      <p:sp>
        <p:nvSpPr>
          <p:cNvPr id="31" name="Shape 29"/>
          <p:cNvSpPr/>
          <p:nvPr/>
        </p:nvSpPr>
        <p:spPr>
          <a:xfrm>
            <a:off x="8147304" y="2404872"/>
            <a:ext cx="329184" cy="329184"/>
          </a:xfrm>
          <a:prstGeom prst="ellipse">
            <a:avLst/>
          </a:prstGeom>
          <a:solidFill>
            <a:schemeClr val="bg1"/>
          </a:solidFill>
          <a:ln w="19050">
            <a:solidFill>
              <a:schemeClr val="accent1"/>
            </a:solidFill>
            <a:prstDash val="solid"/>
          </a:ln>
        </p:spPr>
      </p:sp>
      <p:sp>
        <p:nvSpPr>
          <p:cNvPr id="32" name="Text 30"/>
          <p:cNvSpPr txBox="1"/>
          <p:nvPr/>
        </p:nvSpPr>
        <p:spPr>
          <a:xfrm>
            <a:off x="8147304" y="2404872"/>
            <a:ext cx="329184" cy="329184"/>
          </a:xfrm>
          <a:prstGeom prst="rect">
            <a:avLst/>
          </a:prstGeom>
          <a:noFill/>
          <a:ln/>
        </p:spPr>
        <p:txBody>
          <a:bodyPr wrap="square" lIns="0" tIns="0" rIns="0" bIns="0" rtlCol="0" anchor="ctr"/>
          <a:lstStyle/>
          <a:p>
            <a:pPr marL="0" indent="0" algn="ctr">
              <a:buNone/>
            </a:pPr>
            <a:r>
              <a:rPr lang="en-US" sz="1200" b="1" dirty="0">
                <a:solidFill>
                  <a:schemeClr val="accent1"/>
                </a:solidFill>
                <a:latin typeface="Consolas" pitchFamily="34" charset="0"/>
                <a:ea typeface="Consolas" pitchFamily="34" charset="-122"/>
                <a:cs typeface="Consolas" pitchFamily="34" charset="-120"/>
              </a:rPr>
              <a:t>4</a:t>
            </a:r>
            <a:endParaRPr lang="en-US" sz="1200" dirty="0"/>
          </a:p>
        </p:txBody>
      </p:sp>
      <p:sp>
        <p:nvSpPr>
          <p:cNvPr id="33" name="Text 31"/>
          <p:cNvSpPr txBox="1"/>
          <p:nvPr/>
        </p:nvSpPr>
        <p:spPr>
          <a:xfrm>
            <a:off x="8604504" y="2404872"/>
            <a:ext cx="1828800" cy="329184"/>
          </a:xfrm>
          <a:prstGeom prst="rect">
            <a:avLst/>
          </a:prstGeom>
          <a:noFill/>
          <a:ln/>
        </p:spPr>
        <p:txBody>
          <a:bodyPr wrap="square" lIns="0" tIns="0" rIns="0" bIns="0" rtlCol="0" anchor="ctr"/>
          <a:lstStyle/>
          <a:p>
            <a:pPr marL="0" indent="0">
              <a:buNone/>
            </a:pPr>
            <a:r>
              <a:rPr lang="en-US" sz="1600" b="1" dirty="0">
                <a:solidFill>
                  <a:schemeClr val="accent1"/>
                </a:solidFill>
              </a:rPr>
              <a:t>A*  Search</a:t>
            </a:r>
            <a:endParaRPr lang="en-US" sz="1600" dirty="0"/>
          </a:p>
        </p:txBody>
      </p:sp>
      <p:sp>
        <p:nvSpPr>
          <p:cNvPr id="34" name="Text 32"/>
          <p:cNvSpPr txBox="1"/>
          <p:nvPr/>
        </p:nvSpPr>
        <p:spPr>
          <a:xfrm>
            <a:off x="10405872" y="2404872"/>
            <a:ext cx="1097280" cy="329184"/>
          </a:xfrm>
          <a:prstGeom prst="rect">
            <a:avLst/>
          </a:prstGeom>
          <a:noFill/>
          <a:ln/>
        </p:spPr>
        <p:txBody>
          <a:bodyPr wrap="square" lIns="0" tIns="0" rIns="0" bIns="0" rtlCol="0" anchor="ctr"/>
          <a:lstStyle/>
          <a:p>
            <a:pPr marL="0" indent="0" algn="r">
              <a:buNone/>
            </a:pPr>
            <a:r>
              <a:rPr lang="en-US" sz="900" dirty="0">
                <a:solidFill>
                  <a:schemeClr val="tx2"/>
                </a:solidFill>
                <a:latin typeface="Consolas" pitchFamily="34" charset="0"/>
                <a:ea typeface="Consolas" pitchFamily="34" charset="-122"/>
                <a:cs typeface="Consolas" pitchFamily="34" charset="-120"/>
              </a:rPr>
              <a:t>DECIDE</a:t>
            </a:r>
            <a:endParaRPr lang="en-US" sz="900" dirty="0"/>
          </a:p>
        </p:txBody>
      </p:sp>
      <p:sp>
        <p:nvSpPr>
          <p:cNvPr id="35" name="Text 33"/>
          <p:cNvSpPr txBox="1"/>
          <p:nvPr/>
        </p:nvSpPr>
        <p:spPr>
          <a:xfrm>
            <a:off x="8165592" y="2843784"/>
            <a:ext cx="3291840" cy="502920"/>
          </a:xfrm>
          <a:prstGeom prst="rect">
            <a:avLst/>
          </a:prstGeom>
          <a:noFill/>
          <a:ln/>
        </p:spPr>
        <p:txBody>
          <a:bodyPr wrap="square" lIns="0" tIns="0" rIns="0" bIns="0" rtlCol="0" anchor="t"/>
          <a:lstStyle/>
          <a:p>
            <a:pPr marL="0" indent="0">
              <a:buNone/>
            </a:pPr>
            <a:r>
              <a:rPr lang="en-US" sz="1400" dirty="0"/>
              <a:t>Uses path cost and estimated distance to find the optimal route.</a:t>
            </a:r>
          </a:p>
        </p:txBody>
      </p:sp>
      <p:sp>
        <p:nvSpPr>
          <p:cNvPr id="36" name="Concept 5"/>
          <p:cNvSpPr/>
          <p:nvPr/>
        </p:nvSpPr>
        <p:spPr>
          <a:xfrm>
            <a:off x="7982712" y="3657600"/>
            <a:ext cx="3657600" cy="1188720"/>
          </a:xfrm>
          <a:prstGeom prst="roundRect">
            <a:avLst>
              <a:gd name="adj" fmla="val 6154"/>
            </a:avLst>
          </a:prstGeom>
          <a:solidFill>
            <a:schemeClr val="bg2"/>
          </a:solidFill>
          <a:ln w="12700">
            <a:solidFill>
              <a:schemeClr val="accent5"/>
            </a:solidFill>
            <a:prstDash val="solid"/>
          </a:ln>
        </p:spPr>
      </p:sp>
      <p:sp>
        <p:nvSpPr>
          <p:cNvPr id="37" name="Shape 35"/>
          <p:cNvSpPr/>
          <p:nvPr/>
        </p:nvSpPr>
        <p:spPr>
          <a:xfrm>
            <a:off x="8147304" y="3822192"/>
            <a:ext cx="329184" cy="329184"/>
          </a:xfrm>
          <a:prstGeom prst="ellipse">
            <a:avLst/>
          </a:prstGeom>
          <a:solidFill>
            <a:schemeClr val="bg1"/>
          </a:solidFill>
          <a:ln w="19050">
            <a:solidFill>
              <a:schemeClr val="accent1"/>
            </a:solidFill>
            <a:prstDash val="solid"/>
          </a:ln>
        </p:spPr>
      </p:sp>
      <p:sp>
        <p:nvSpPr>
          <p:cNvPr id="38" name="Text 36"/>
          <p:cNvSpPr txBox="1"/>
          <p:nvPr/>
        </p:nvSpPr>
        <p:spPr>
          <a:xfrm>
            <a:off x="8147304" y="3822192"/>
            <a:ext cx="329184" cy="329184"/>
          </a:xfrm>
          <a:prstGeom prst="rect">
            <a:avLst/>
          </a:prstGeom>
          <a:noFill/>
          <a:ln/>
        </p:spPr>
        <p:txBody>
          <a:bodyPr wrap="square" lIns="0" tIns="0" rIns="0" bIns="0" rtlCol="0" anchor="ctr"/>
          <a:lstStyle/>
          <a:p>
            <a:pPr marL="0" indent="0" algn="ctr">
              <a:buNone/>
            </a:pPr>
            <a:r>
              <a:rPr lang="en-US" sz="1200" b="1" dirty="0">
                <a:solidFill>
                  <a:schemeClr val="accent1"/>
                </a:solidFill>
                <a:latin typeface="Consolas" pitchFamily="34" charset="0"/>
                <a:ea typeface="Consolas" pitchFamily="34" charset="-122"/>
                <a:cs typeface="Consolas" pitchFamily="34" charset="-120"/>
              </a:rPr>
              <a:t>5</a:t>
            </a:r>
            <a:endParaRPr lang="en-US" sz="1200" dirty="0"/>
          </a:p>
        </p:txBody>
      </p:sp>
      <p:sp>
        <p:nvSpPr>
          <p:cNvPr id="39" name="Text 37"/>
          <p:cNvSpPr txBox="1"/>
          <p:nvPr/>
        </p:nvSpPr>
        <p:spPr>
          <a:xfrm>
            <a:off x="8604504" y="3822192"/>
            <a:ext cx="1828800" cy="329184"/>
          </a:xfrm>
          <a:prstGeom prst="rect">
            <a:avLst/>
          </a:prstGeom>
          <a:noFill/>
          <a:ln/>
        </p:spPr>
        <p:txBody>
          <a:bodyPr wrap="square" lIns="0" tIns="0" rIns="0" bIns="0" rtlCol="0" anchor="ctr"/>
          <a:lstStyle/>
          <a:p>
            <a:pPr marL="0" indent="0">
              <a:buNone/>
            </a:pPr>
            <a:r>
              <a:rPr lang="en-US" sz="1600" b="1" dirty="0">
                <a:solidFill>
                  <a:schemeClr val="accent1"/>
                </a:solidFill>
              </a:rPr>
              <a:t>Goal-based planning</a:t>
            </a:r>
            <a:endParaRPr lang="en-US" sz="1600" dirty="0"/>
          </a:p>
        </p:txBody>
      </p:sp>
      <p:sp>
        <p:nvSpPr>
          <p:cNvPr id="40" name="Text 38"/>
          <p:cNvSpPr txBox="1"/>
          <p:nvPr/>
        </p:nvSpPr>
        <p:spPr>
          <a:xfrm>
            <a:off x="10405872" y="3822192"/>
            <a:ext cx="1097280" cy="329184"/>
          </a:xfrm>
          <a:prstGeom prst="rect">
            <a:avLst/>
          </a:prstGeom>
          <a:noFill/>
          <a:ln/>
        </p:spPr>
        <p:txBody>
          <a:bodyPr wrap="square" lIns="0" tIns="0" rIns="0" bIns="0" rtlCol="0" anchor="ctr"/>
          <a:lstStyle/>
          <a:p>
            <a:pPr marL="0" indent="0" algn="r">
              <a:buNone/>
            </a:pPr>
            <a:r>
              <a:rPr lang="en-US" sz="900" dirty="0">
                <a:solidFill>
                  <a:schemeClr val="tx2"/>
                </a:solidFill>
                <a:latin typeface="Consolas" pitchFamily="34" charset="0"/>
                <a:ea typeface="Consolas" pitchFamily="34" charset="-122"/>
                <a:cs typeface="Consolas" pitchFamily="34" charset="-120"/>
              </a:rPr>
              <a:t>PLAN</a:t>
            </a:r>
            <a:endParaRPr lang="en-US" sz="900" dirty="0"/>
          </a:p>
        </p:txBody>
      </p:sp>
      <p:sp>
        <p:nvSpPr>
          <p:cNvPr id="41" name="Text 39"/>
          <p:cNvSpPr txBox="1"/>
          <p:nvPr/>
        </p:nvSpPr>
        <p:spPr>
          <a:xfrm>
            <a:off x="8165592" y="4261104"/>
            <a:ext cx="3291840" cy="502920"/>
          </a:xfrm>
          <a:prstGeom prst="rect">
            <a:avLst/>
          </a:prstGeom>
          <a:noFill/>
          <a:ln/>
        </p:spPr>
        <p:txBody>
          <a:bodyPr wrap="square" lIns="0" tIns="0" rIns="0" bIns="0" rtlCol="0" anchor="t"/>
          <a:lstStyle/>
          <a:p>
            <a:pPr marL="0" indent="0">
              <a:buNone/>
            </a:pPr>
            <a:r>
              <a:rPr lang="en-US" sz="1400" dirty="0">
                <a:solidFill>
                  <a:schemeClr val="tx1"/>
                </a:solidFill>
              </a:rPr>
              <a:t>Goal: reach the survivor at minimum cost</a:t>
            </a:r>
            <a:endParaRPr lang="en-US" sz="1400" dirty="0"/>
          </a:p>
        </p:txBody>
      </p:sp>
      <p:sp>
        <p:nvSpPr>
          <p:cNvPr id="42" name="Shape 40"/>
          <p:cNvSpPr/>
          <p:nvPr/>
        </p:nvSpPr>
        <p:spPr>
          <a:xfrm>
            <a:off x="4544568" y="2011680"/>
            <a:ext cx="3108960" cy="3108960"/>
          </a:xfrm>
          <a:prstGeom prst="ellipse">
            <a:avLst/>
          </a:prstGeom>
          <a:solidFill>
            <a:schemeClr val="bg1">
              <a:alpha val="0"/>
            </a:schemeClr>
          </a:solidFill>
          <a:ln w="15875">
            <a:solidFill>
              <a:schemeClr val="accent5"/>
            </a:solidFill>
            <a:prstDash val="dash"/>
          </a:ln>
        </p:spPr>
      </p:sp>
      <p:sp>
        <p:nvSpPr>
          <p:cNvPr id="43" name="Shape 41"/>
          <p:cNvSpPr/>
          <p:nvPr/>
        </p:nvSpPr>
        <p:spPr>
          <a:xfrm>
            <a:off x="5184648" y="2651760"/>
            <a:ext cx="1828800" cy="1828800"/>
          </a:xfrm>
          <a:prstGeom prst="ellipse">
            <a:avLst/>
          </a:prstGeom>
          <a:solidFill>
            <a:schemeClr val="bg2"/>
          </a:solidFill>
          <a:ln w="31750">
            <a:solidFill>
              <a:schemeClr val="accent1"/>
            </a:solidFill>
            <a:prstDash val="solid"/>
          </a:ln>
        </p:spPr>
      </p:sp>
      <p:pic>
        <p:nvPicPr>
          <p:cNvPr id="44" name="Image 0" descr="/home/claude/work/assets/drone.png"/>
          <p:cNvPicPr>
            <a:picLocks noChangeAspect="1"/>
          </p:cNvPicPr>
          <p:nvPr/>
        </p:nvPicPr>
        <p:blipFill>
          <a:blip r:embed="rId3"/>
          <a:stretch>
            <a:fillRect/>
          </a:stretch>
        </p:blipFill>
        <p:spPr>
          <a:xfrm>
            <a:off x="5715000" y="3017520"/>
            <a:ext cx="768096" cy="768096"/>
          </a:xfrm>
          <a:prstGeom prst="rect">
            <a:avLst/>
          </a:prstGeom>
        </p:spPr>
      </p:pic>
      <p:sp>
        <p:nvSpPr>
          <p:cNvPr id="45" name="Text 42"/>
          <p:cNvSpPr txBox="1"/>
          <p:nvPr/>
        </p:nvSpPr>
        <p:spPr>
          <a:xfrm>
            <a:off x="5276088" y="3840480"/>
            <a:ext cx="1645920" cy="228600"/>
          </a:xfrm>
          <a:prstGeom prst="rect">
            <a:avLst/>
          </a:prstGeom>
          <a:noFill/>
          <a:ln/>
        </p:spPr>
        <p:txBody>
          <a:bodyPr wrap="square" lIns="0" tIns="0" rIns="0" bIns="0" rtlCol="0" anchor="t"/>
          <a:lstStyle/>
          <a:p>
            <a:pPr marL="0" indent="0" algn="ctr">
              <a:buNone/>
            </a:pPr>
            <a:r>
              <a:rPr lang="en-US" sz="900" b="1" dirty="0">
                <a:solidFill>
                  <a:schemeClr val="accent1"/>
                </a:solidFill>
                <a:latin typeface="Consolas" pitchFamily="34" charset="0"/>
                <a:ea typeface="Consolas" pitchFamily="34" charset="-122"/>
                <a:cs typeface="Consolas" pitchFamily="34" charset="-120"/>
              </a:rPr>
              <a:t>DRONE AGENT</a:t>
            </a:r>
            <a:endParaRPr lang="en-US" sz="900" dirty="0"/>
          </a:p>
        </p:txBody>
      </p:sp>
      <p:sp>
        <p:nvSpPr>
          <p:cNvPr id="46" name="Shape 43"/>
          <p:cNvSpPr/>
          <p:nvPr/>
        </p:nvSpPr>
        <p:spPr>
          <a:xfrm>
            <a:off x="5550408" y="1847088"/>
            <a:ext cx="1097280" cy="329184"/>
          </a:xfrm>
          <a:prstGeom prst="roundRect">
            <a:avLst>
              <a:gd name="adj" fmla="val 16667"/>
            </a:avLst>
          </a:prstGeom>
          <a:solidFill>
            <a:schemeClr val="bg1"/>
          </a:solidFill>
          <a:ln w="15875">
            <a:solidFill>
              <a:schemeClr val="accent1"/>
            </a:solidFill>
            <a:prstDash val="solid"/>
          </a:ln>
        </p:spPr>
      </p:sp>
      <p:sp>
        <p:nvSpPr>
          <p:cNvPr id="47" name="Text 44"/>
          <p:cNvSpPr txBox="1"/>
          <p:nvPr/>
        </p:nvSpPr>
        <p:spPr>
          <a:xfrm>
            <a:off x="5550408" y="1847088"/>
            <a:ext cx="1097280" cy="329184"/>
          </a:xfrm>
          <a:prstGeom prst="rect">
            <a:avLst/>
          </a:prstGeom>
          <a:noFill/>
          <a:ln/>
        </p:spPr>
        <p:txBody>
          <a:bodyPr wrap="square" lIns="0" tIns="0" rIns="0" bIns="0" rtlCol="0" anchor="ctr"/>
          <a:lstStyle/>
          <a:p>
            <a:pPr marL="0" indent="0" algn="ctr">
              <a:buNone/>
            </a:pPr>
            <a:r>
              <a:rPr lang="en-US" sz="1000" b="1" dirty="0">
                <a:solidFill>
                  <a:schemeClr val="accent1"/>
                </a:solidFill>
                <a:latin typeface="Consolas" pitchFamily="34" charset="0"/>
                <a:ea typeface="Consolas" pitchFamily="34" charset="-122"/>
                <a:cs typeface="Consolas" pitchFamily="34" charset="-120"/>
              </a:rPr>
              <a:t>PERCEIVE</a:t>
            </a:r>
            <a:endParaRPr lang="en-US" sz="1000" dirty="0"/>
          </a:p>
        </p:txBody>
      </p:sp>
      <p:sp>
        <p:nvSpPr>
          <p:cNvPr id="48" name="Shape 45"/>
          <p:cNvSpPr/>
          <p:nvPr/>
        </p:nvSpPr>
        <p:spPr>
          <a:xfrm>
            <a:off x="6665976" y="4498848"/>
            <a:ext cx="1097280" cy="329184"/>
          </a:xfrm>
          <a:prstGeom prst="roundRect">
            <a:avLst>
              <a:gd name="adj" fmla="val 16667"/>
            </a:avLst>
          </a:prstGeom>
          <a:solidFill>
            <a:schemeClr val="bg1"/>
          </a:solidFill>
          <a:ln w="15875">
            <a:solidFill>
              <a:schemeClr val="accent1"/>
            </a:solidFill>
            <a:prstDash val="solid"/>
          </a:ln>
        </p:spPr>
      </p:sp>
      <p:sp>
        <p:nvSpPr>
          <p:cNvPr id="49" name="Text 46"/>
          <p:cNvSpPr txBox="1"/>
          <p:nvPr/>
        </p:nvSpPr>
        <p:spPr>
          <a:xfrm>
            <a:off x="6665976" y="4498848"/>
            <a:ext cx="1097280" cy="329184"/>
          </a:xfrm>
          <a:prstGeom prst="rect">
            <a:avLst/>
          </a:prstGeom>
          <a:noFill/>
          <a:ln/>
        </p:spPr>
        <p:txBody>
          <a:bodyPr wrap="square" lIns="0" tIns="0" rIns="0" bIns="0" rtlCol="0" anchor="ctr"/>
          <a:lstStyle/>
          <a:p>
            <a:pPr marL="0" indent="0" algn="ctr">
              <a:buNone/>
            </a:pPr>
            <a:r>
              <a:rPr lang="en-US" sz="1000" b="1" dirty="0">
                <a:solidFill>
                  <a:schemeClr val="accent1"/>
                </a:solidFill>
                <a:latin typeface="Consolas" pitchFamily="34" charset="0"/>
                <a:ea typeface="Consolas" pitchFamily="34" charset="-122"/>
                <a:cs typeface="Consolas" pitchFamily="34" charset="-120"/>
              </a:rPr>
              <a:t>DECIDE</a:t>
            </a:r>
            <a:endParaRPr lang="en-US" sz="1000" dirty="0"/>
          </a:p>
        </p:txBody>
      </p:sp>
      <p:sp>
        <p:nvSpPr>
          <p:cNvPr id="50" name="Shape 47"/>
          <p:cNvSpPr/>
          <p:nvPr/>
        </p:nvSpPr>
        <p:spPr>
          <a:xfrm>
            <a:off x="4434840" y="4498848"/>
            <a:ext cx="1097280" cy="329184"/>
          </a:xfrm>
          <a:prstGeom prst="roundRect">
            <a:avLst>
              <a:gd name="adj" fmla="val 16667"/>
            </a:avLst>
          </a:prstGeom>
          <a:solidFill>
            <a:schemeClr val="bg1"/>
          </a:solidFill>
          <a:ln w="15875">
            <a:solidFill>
              <a:schemeClr val="accent1"/>
            </a:solidFill>
            <a:prstDash val="solid"/>
          </a:ln>
        </p:spPr>
      </p:sp>
      <p:sp>
        <p:nvSpPr>
          <p:cNvPr id="51" name="Text 48"/>
          <p:cNvSpPr txBox="1"/>
          <p:nvPr/>
        </p:nvSpPr>
        <p:spPr>
          <a:xfrm>
            <a:off x="4434840" y="4498848"/>
            <a:ext cx="1097280" cy="329184"/>
          </a:xfrm>
          <a:prstGeom prst="rect">
            <a:avLst/>
          </a:prstGeom>
          <a:noFill/>
          <a:ln/>
        </p:spPr>
        <p:txBody>
          <a:bodyPr wrap="square" lIns="0" tIns="0" rIns="0" bIns="0" rtlCol="0" anchor="ctr"/>
          <a:lstStyle/>
          <a:p>
            <a:pPr marL="0" indent="0" algn="ctr">
              <a:buNone/>
            </a:pPr>
            <a:r>
              <a:rPr lang="en-US" sz="1000" b="1" dirty="0">
                <a:solidFill>
                  <a:schemeClr val="accent1"/>
                </a:solidFill>
                <a:latin typeface="Consolas" pitchFamily="34" charset="0"/>
                <a:ea typeface="Consolas" pitchFamily="34" charset="-122"/>
                <a:cs typeface="Consolas" pitchFamily="34" charset="-120"/>
              </a:rPr>
              <a:t>ACT</a:t>
            </a:r>
            <a:endParaRPr lang="en-US" sz="1000" dirty="0"/>
          </a:p>
        </p:txBody>
      </p:sp>
      <p:sp>
        <p:nvSpPr>
          <p:cNvPr id="52" name="Text 49"/>
          <p:cNvSpPr txBox="1"/>
          <p:nvPr/>
        </p:nvSpPr>
        <p:spPr>
          <a:xfrm>
            <a:off x="4361688" y="5349240"/>
            <a:ext cx="3474720" cy="228600"/>
          </a:xfrm>
          <a:prstGeom prst="rect">
            <a:avLst/>
          </a:prstGeom>
          <a:noFill/>
          <a:ln/>
        </p:spPr>
        <p:txBody>
          <a:bodyPr wrap="square" lIns="0" tIns="0" rIns="0" bIns="0" rtlCol="0" anchor="t"/>
          <a:lstStyle/>
          <a:p>
            <a:pPr marL="0" indent="0" algn="ctr">
              <a:buNone/>
            </a:pPr>
            <a:r>
              <a:rPr lang="en-US" sz="1000" dirty="0">
                <a:solidFill>
                  <a:schemeClr val="tx2"/>
                </a:solidFill>
                <a:latin typeface="Consolas" pitchFamily="34" charset="0"/>
                <a:ea typeface="Consolas" pitchFamily="34" charset="-122"/>
                <a:cs typeface="Consolas" pitchFamily="34" charset="-120"/>
              </a:rPr>
              <a:t>repeats until the survivor is reached</a:t>
            </a:r>
            <a:endParaRPr lang="en-US" sz="1000" dirty="0"/>
          </a:p>
        </p:txBody>
      </p:sp>
      <p:sp>
        <p:nvSpPr>
          <p:cNvPr id="53" name="Text 50"/>
          <p:cNvSpPr txBox="1"/>
          <p:nvPr/>
        </p:nvSpPr>
        <p:spPr>
          <a:xfrm>
            <a:off x="5852160" y="6473952"/>
            <a:ext cx="5212080" cy="228600"/>
          </a:xfrm>
          <a:prstGeom prst="rect">
            <a:avLst/>
          </a:prstGeom>
          <a:noFill/>
          <a:ln/>
        </p:spPr>
        <p:txBody>
          <a:bodyPr wrap="square" lIns="0" tIns="0" rIns="0" bIns="0" rtlCol="0" anchor="ctr"/>
          <a:lstStyle/>
          <a:p>
            <a:pPr marL="0" indent="0" algn="r">
              <a:buNone/>
            </a:pPr>
            <a:r>
              <a:rPr lang="en-US" sz="900" b="1" dirty="0">
                <a:solidFill>
                  <a:schemeClr val="accent2"/>
                </a:solidFill>
                <a:latin typeface="Consolas" pitchFamily="34" charset="0"/>
                <a:ea typeface="Consolas" pitchFamily="34" charset="-122"/>
                <a:cs typeface="Consolas" pitchFamily="34" charset="-120"/>
              </a:rPr>
              <a:t>RUBRIC · FUNDAMENTAL AI CONCEPTS · 5 MARKS</a:t>
            </a:r>
            <a:endParaRPr lang="en-US" sz="900" dirty="0"/>
          </a:p>
        </p:txBody>
      </p:sp>
      <p:sp>
        <p:nvSpPr>
          <p:cNvPr id="54" name="Slide Number Placeholder 0"/>
          <p:cNvSpPr>
            <a:spLocks noGrp="1"/>
          </p:cNvSpPr>
          <p:nvPr>
            <p:ph type="sldNum" sz="quarter" idx="4294967295"/>
          </p:nvPr>
        </p:nvSpPr>
        <p:spPr>
          <a:xfrm>
            <a:off x="11183112" y="6473952"/>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tx2"/>
                </a:solidFill>
                <a:latin typeface="Consolas"/>
                <a:ea typeface="Consolas"/>
                <a:cs typeface="Consolas"/>
              </a:defRPr>
            </a:lvl1pPr>
          </a:lstStyle>
          <a:p>
            <a:pPr algn="r"/>
            <a:fld id="{F7021451-1387-4CA6-816F-3879F97B5CBC}" type="slidenum">
              <a:rPr lang="en-US" b="0"/>
              <a:t>4</a:t>
            </a:fld>
            <a:endParaRPr lang="en-US"/>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74320"/>
            <a:ext cx="7315200" cy="201168"/>
          </a:xfrm>
          <a:prstGeom prst="rect">
            <a:avLst/>
          </a:prstGeom>
          <a:noFill/>
          <a:ln/>
        </p:spPr>
        <p:txBody>
          <a:bodyPr wrap="square" lIns="0" tIns="0" rIns="0" bIns="0" rtlCol="0" anchor="t"/>
          <a:lstStyle/>
          <a:p>
            <a:pPr marL="0" indent="0">
              <a:buNone/>
            </a:pPr>
            <a:r>
              <a:rPr lang="en-US" sz="1000" b="1" dirty="0">
                <a:solidFill>
                  <a:schemeClr val="accent1"/>
                </a:solidFill>
                <a:latin typeface="Consolas" pitchFamily="34" charset="0"/>
                <a:ea typeface="Consolas" pitchFamily="34" charset="-122"/>
                <a:cs typeface="Consolas" pitchFamily="34" charset="-120"/>
              </a:rPr>
              <a:t>PHASE 04 · SEARCH SPACE</a:t>
            </a:r>
            <a:endParaRPr lang="en-US" sz="1000" dirty="0"/>
          </a:p>
        </p:txBody>
      </p:sp>
      <p:sp>
        <p:nvSpPr>
          <p:cNvPr id="3" name="Shape 1"/>
          <p:cNvSpPr/>
          <p:nvPr/>
        </p:nvSpPr>
        <p:spPr>
          <a:xfrm>
            <a:off x="10314432" y="301752"/>
            <a:ext cx="109728" cy="109728"/>
          </a:xfrm>
          <a:prstGeom prst="rect">
            <a:avLst/>
          </a:prstGeom>
          <a:solidFill>
            <a:schemeClr val="accent1"/>
          </a:solidFill>
          <a:ln w="12700">
            <a:solidFill>
              <a:schemeClr val="accent1"/>
            </a:solidFill>
            <a:prstDash val="solid"/>
          </a:ln>
        </p:spPr>
      </p:sp>
      <p:sp>
        <p:nvSpPr>
          <p:cNvPr id="4" name="Shape 2"/>
          <p:cNvSpPr/>
          <p:nvPr/>
        </p:nvSpPr>
        <p:spPr>
          <a:xfrm>
            <a:off x="10488168" y="301752"/>
            <a:ext cx="109728" cy="109728"/>
          </a:xfrm>
          <a:prstGeom prst="rect">
            <a:avLst/>
          </a:prstGeom>
          <a:solidFill>
            <a:schemeClr val="accent1"/>
          </a:solidFill>
          <a:ln w="12700">
            <a:solidFill>
              <a:schemeClr val="accent1"/>
            </a:solidFill>
            <a:prstDash val="solid"/>
          </a:ln>
        </p:spPr>
      </p:sp>
      <p:sp>
        <p:nvSpPr>
          <p:cNvPr id="5" name="Shape 3"/>
          <p:cNvSpPr/>
          <p:nvPr/>
        </p:nvSpPr>
        <p:spPr>
          <a:xfrm>
            <a:off x="10661904" y="301752"/>
            <a:ext cx="109728" cy="109728"/>
          </a:xfrm>
          <a:prstGeom prst="rect">
            <a:avLst/>
          </a:prstGeom>
          <a:solidFill>
            <a:schemeClr val="accent1"/>
          </a:solidFill>
          <a:ln w="12700">
            <a:solidFill>
              <a:schemeClr val="accent1"/>
            </a:solidFill>
            <a:prstDash val="solid"/>
          </a:ln>
        </p:spPr>
      </p:sp>
      <p:sp>
        <p:nvSpPr>
          <p:cNvPr id="6" name="Shape 4"/>
          <p:cNvSpPr/>
          <p:nvPr/>
        </p:nvSpPr>
        <p:spPr>
          <a:xfrm>
            <a:off x="10835640" y="301752"/>
            <a:ext cx="109728" cy="109728"/>
          </a:xfrm>
          <a:prstGeom prst="rect">
            <a:avLst/>
          </a:prstGeom>
          <a:solidFill>
            <a:schemeClr val="accent1"/>
          </a:solidFill>
          <a:ln w="12700">
            <a:solidFill>
              <a:schemeClr val="accent1"/>
            </a:solidFill>
            <a:prstDash val="solid"/>
          </a:ln>
        </p:spPr>
      </p:sp>
      <p:sp>
        <p:nvSpPr>
          <p:cNvPr id="7" name="Shape 5"/>
          <p:cNvSpPr/>
          <p:nvPr/>
        </p:nvSpPr>
        <p:spPr>
          <a:xfrm>
            <a:off x="11009376" y="301752"/>
            <a:ext cx="109728" cy="109728"/>
          </a:xfrm>
          <a:prstGeom prst="rect">
            <a:avLst/>
          </a:prstGeom>
          <a:solidFill>
            <a:schemeClr val="accent5"/>
          </a:solidFill>
          <a:ln w="12700">
            <a:solidFill>
              <a:schemeClr val="accent5"/>
            </a:solidFill>
            <a:prstDash val="solid"/>
          </a:ln>
        </p:spPr>
      </p:sp>
      <p:sp>
        <p:nvSpPr>
          <p:cNvPr id="8" name="Shape 6"/>
          <p:cNvSpPr/>
          <p:nvPr/>
        </p:nvSpPr>
        <p:spPr>
          <a:xfrm>
            <a:off x="11183112" y="301752"/>
            <a:ext cx="109728" cy="109728"/>
          </a:xfrm>
          <a:prstGeom prst="rect">
            <a:avLst/>
          </a:prstGeom>
          <a:solidFill>
            <a:schemeClr val="accent5"/>
          </a:solidFill>
          <a:ln w="12700">
            <a:solidFill>
              <a:schemeClr val="accent5"/>
            </a:solidFill>
            <a:prstDash val="solid"/>
          </a:ln>
        </p:spPr>
      </p:sp>
      <p:sp>
        <p:nvSpPr>
          <p:cNvPr id="9" name="Shape 7"/>
          <p:cNvSpPr/>
          <p:nvPr/>
        </p:nvSpPr>
        <p:spPr>
          <a:xfrm>
            <a:off x="11356848" y="301752"/>
            <a:ext cx="109728" cy="109728"/>
          </a:xfrm>
          <a:prstGeom prst="rect">
            <a:avLst/>
          </a:prstGeom>
          <a:solidFill>
            <a:schemeClr val="accent5"/>
          </a:solidFill>
          <a:ln w="12700">
            <a:solidFill>
              <a:schemeClr val="accent5"/>
            </a:solidFill>
            <a:prstDash val="solid"/>
          </a:ln>
        </p:spPr>
      </p:sp>
      <p:sp>
        <p:nvSpPr>
          <p:cNvPr id="10" name="Shape 8"/>
          <p:cNvSpPr/>
          <p:nvPr/>
        </p:nvSpPr>
        <p:spPr>
          <a:xfrm>
            <a:off x="11530584" y="301752"/>
            <a:ext cx="109728" cy="109728"/>
          </a:xfrm>
          <a:prstGeom prst="rect">
            <a:avLst/>
          </a:prstGeom>
          <a:solidFill>
            <a:schemeClr val="accent5"/>
          </a:solidFill>
          <a:ln w="12700">
            <a:solidFill>
              <a:schemeClr val="accent5"/>
            </a:solidFill>
            <a:prstDash val="solid"/>
          </a:ln>
        </p:spPr>
      </p:sp>
      <p:sp>
        <p:nvSpPr>
          <p:cNvPr id="11" name="Text 0"/>
          <p:cNvSpPr>
            <a:spLocks noGrp="1"/>
          </p:cNvSpPr>
          <p:nvPr>
            <p:ph type="title" idx="100" hasCustomPrompt="1"/>
          </p:nvPr>
        </p:nvSpPr>
        <p:spPr>
          <a:xfrm>
            <a:off x="548640" y="530352"/>
            <a:ext cx="11091672" cy="640080"/>
          </a:xfrm>
          <a:prstGeom prst="rect">
            <a:avLst/>
          </a:prstGeom>
          <a:noFill/>
          <a:ln/>
        </p:spPr>
        <p:txBody>
          <a:bodyPr wrap="square" lIns="0" tIns="0" rIns="0" bIns="0" rtlCol="0" anchor="ctr"/>
          <a:lstStyle/>
          <a:p>
            <a:pPr marL="0" indent="0" algn="l">
              <a:buNone/>
            </a:pPr>
            <a:r>
              <a:rPr lang="en-US" sz="3200" b="1" dirty="0">
                <a:solidFill>
                  <a:schemeClr val="tx1"/>
                </a:solidFill>
              </a:rPr>
              <a:t>The disaster zone becomes a search space</a:t>
            </a:r>
            <a:endParaRPr lang="en-US" sz="3200" dirty="0"/>
          </a:p>
        </p:txBody>
      </p:sp>
      <p:sp>
        <p:nvSpPr>
          <p:cNvPr id="12" name="Text 10"/>
          <p:cNvSpPr txBox="1"/>
          <p:nvPr/>
        </p:nvSpPr>
        <p:spPr>
          <a:xfrm>
            <a:off x="548640" y="1371600"/>
            <a:ext cx="3749040" cy="201168"/>
          </a:xfrm>
          <a:prstGeom prst="rect">
            <a:avLst/>
          </a:prstGeom>
          <a:noFill/>
          <a:ln/>
        </p:spPr>
        <p:txBody>
          <a:bodyPr wrap="square" lIns="0" tIns="0" rIns="0" bIns="0" rtlCol="0" anchor="t"/>
          <a:lstStyle/>
          <a:p>
            <a:pPr marL="0" indent="0">
              <a:buNone/>
            </a:pPr>
            <a:r>
              <a:rPr lang="en-US" sz="900" b="1" dirty="0">
                <a:solidFill>
                  <a:schemeClr val="tx2"/>
                </a:solidFill>
                <a:latin typeface="Consolas" pitchFamily="34" charset="0"/>
                <a:ea typeface="Consolas" pitchFamily="34" charset="-122"/>
                <a:cs typeface="Consolas" pitchFamily="34" charset="-120"/>
              </a:rPr>
              <a:t>WHAT THE DRONE SEES · AERIAL VIEW + GRID</a:t>
            </a:r>
            <a:endParaRPr lang="en-US" sz="900" dirty="0"/>
          </a:p>
        </p:txBody>
      </p:sp>
      <p:pic>
        <p:nvPicPr>
          <p:cNvPr id="13" name="Aerial grid view" descr="Aerial view of rubble with a grid overlay, obstacles in red and a path to the survivor"/>
          <p:cNvPicPr>
            <a:picLocks noChangeAspect="1"/>
          </p:cNvPicPr>
          <p:nvPr/>
        </p:nvPicPr>
        <p:blipFill>
          <a:blip r:embed="rId3"/>
          <a:stretch>
            <a:fillRect/>
          </a:stretch>
        </p:blipFill>
        <p:spPr>
          <a:xfrm>
            <a:off x="548640" y="1645920"/>
            <a:ext cx="3657600" cy="3776472"/>
          </a:xfrm>
          <a:prstGeom prst="rect">
            <a:avLst/>
          </a:prstGeom>
        </p:spPr>
      </p:pic>
      <p:sp>
        <p:nvSpPr>
          <p:cNvPr id="14" name="Shape 11"/>
          <p:cNvSpPr/>
          <p:nvPr/>
        </p:nvSpPr>
        <p:spPr>
          <a:xfrm>
            <a:off x="484632" y="1581912"/>
            <a:ext cx="274320" cy="0"/>
          </a:xfrm>
          <a:prstGeom prst="line">
            <a:avLst/>
          </a:prstGeom>
          <a:noFill/>
          <a:ln w="25400">
            <a:solidFill>
              <a:schemeClr val="accent1"/>
            </a:solidFill>
            <a:prstDash val="solid"/>
          </a:ln>
        </p:spPr>
      </p:sp>
      <p:sp>
        <p:nvSpPr>
          <p:cNvPr id="15" name="Shape 12"/>
          <p:cNvSpPr/>
          <p:nvPr/>
        </p:nvSpPr>
        <p:spPr>
          <a:xfrm>
            <a:off x="484632" y="1581912"/>
            <a:ext cx="0" cy="274320"/>
          </a:xfrm>
          <a:prstGeom prst="line">
            <a:avLst/>
          </a:prstGeom>
          <a:noFill/>
          <a:ln w="25400">
            <a:solidFill>
              <a:schemeClr val="accent1"/>
            </a:solidFill>
            <a:prstDash val="solid"/>
          </a:ln>
        </p:spPr>
      </p:sp>
      <p:sp>
        <p:nvSpPr>
          <p:cNvPr id="16" name="Shape 13"/>
          <p:cNvSpPr/>
          <p:nvPr/>
        </p:nvSpPr>
        <p:spPr>
          <a:xfrm>
            <a:off x="3995928" y="1581912"/>
            <a:ext cx="274320" cy="0"/>
          </a:xfrm>
          <a:prstGeom prst="line">
            <a:avLst/>
          </a:prstGeom>
          <a:noFill/>
          <a:ln w="25400">
            <a:solidFill>
              <a:schemeClr val="accent1"/>
            </a:solidFill>
            <a:prstDash val="solid"/>
          </a:ln>
        </p:spPr>
      </p:sp>
      <p:sp>
        <p:nvSpPr>
          <p:cNvPr id="17" name="Shape 14"/>
          <p:cNvSpPr/>
          <p:nvPr/>
        </p:nvSpPr>
        <p:spPr>
          <a:xfrm>
            <a:off x="4270248" y="1581912"/>
            <a:ext cx="0" cy="274320"/>
          </a:xfrm>
          <a:prstGeom prst="line">
            <a:avLst/>
          </a:prstGeom>
          <a:noFill/>
          <a:ln w="25400">
            <a:solidFill>
              <a:schemeClr val="accent1"/>
            </a:solidFill>
            <a:prstDash val="solid"/>
          </a:ln>
        </p:spPr>
      </p:sp>
      <p:sp>
        <p:nvSpPr>
          <p:cNvPr id="18" name="Shape 15"/>
          <p:cNvSpPr/>
          <p:nvPr/>
        </p:nvSpPr>
        <p:spPr>
          <a:xfrm>
            <a:off x="484632" y="5486400"/>
            <a:ext cx="274320" cy="0"/>
          </a:xfrm>
          <a:prstGeom prst="line">
            <a:avLst/>
          </a:prstGeom>
          <a:noFill/>
          <a:ln w="25400">
            <a:solidFill>
              <a:schemeClr val="accent1"/>
            </a:solidFill>
            <a:prstDash val="solid"/>
          </a:ln>
        </p:spPr>
      </p:sp>
      <p:sp>
        <p:nvSpPr>
          <p:cNvPr id="19" name="Shape 16"/>
          <p:cNvSpPr/>
          <p:nvPr/>
        </p:nvSpPr>
        <p:spPr>
          <a:xfrm>
            <a:off x="484632" y="5212080"/>
            <a:ext cx="0" cy="274320"/>
          </a:xfrm>
          <a:prstGeom prst="line">
            <a:avLst/>
          </a:prstGeom>
          <a:noFill/>
          <a:ln w="25400">
            <a:solidFill>
              <a:schemeClr val="accent1"/>
            </a:solidFill>
            <a:prstDash val="solid"/>
          </a:ln>
        </p:spPr>
      </p:sp>
      <p:sp>
        <p:nvSpPr>
          <p:cNvPr id="20" name="Shape 17"/>
          <p:cNvSpPr/>
          <p:nvPr/>
        </p:nvSpPr>
        <p:spPr>
          <a:xfrm>
            <a:off x="3995928" y="5486400"/>
            <a:ext cx="274320" cy="0"/>
          </a:xfrm>
          <a:prstGeom prst="line">
            <a:avLst/>
          </a:prstGeom>
          <a:noFill/>
          <a:ln w="25400">
            <a:solidFill>
              <a:schemeClr val="accent1"/>
            </a:solidFill>
            <a:prstDash val="solid"/>
          </a:ln>
        </p:spPr>
      </p:sp>
      <p:sp>
        <p:nvSpPr>
          <p:cNvPr id="21" name="Shape 18"/>
          <p:cNvSpPr/>
          <p:nvPr/>
        </p:nvSpPr>
        <p:spPr>
          <a:xfrm>
            <a:off x="4270248" y="5212080"/>
            <a:ext cx="0" cy="274320"/>
          </a:xfrm>
          <a:prstGeom prst="line">
            <a:avLst/>
          </a:prstGeom>
          <a:noFill/>
          <a:ln w="25400">
            <a:solidFill>
              <a:schemeClr val="accent1"/>
            </a:solidFill>
            <a:prstDash val="solid"/>
          </a:ln>
        </p:spPr>
      </p:sp>
      <p:sp>
        <p:nvSpPr>
          <p:cNvPr id="22" name="Text 19"/>
          <p:cNvSpPr txBox="1"/>
          <p:nvPr/>
        </p:nvSpPr>
        <p:spPr>
          <a:xfrm>
            <a:off x="548640" y="5532120"/>
            <a:ext cx="3657600" cy="548640"/>
          </a:xfrm>
          <a:prstGeom prst="rect">
            <a:avLst/>
          </a:prstGeom>
          <a:noFill/>
          <a:ln/>
        </p:spPr>
        <p:txBody>
          <a:bodyPr wrap="square" lIns="0" tIns="0" rIns="0" bIns="0" rtlCol="0" anchor="t"/>
          <a:lstStyle/>
          <a:p>
            <a:pPr marL="0" indent="0">
              <a:buNone/>
            </a:pPr>
            <a:r>
              <a:rPr lang="en-US" sz="1000" dirty="0">
                <a:solidFill>
                  <a:schemeClr val="tx2"/>
                </a:solidFill>
              </a:rPr>
              <a:t>Illustrative view: every free grid node is a state, red blocks are obstacles. Our worked example uses a simplified model.</a:t>
            </a:r>
            <a:endParaRPr lang="en-US" sz="1000" dirty="0"/>
          </a:p>
        </p:txBody>
      </p:sp>
      <p:sp>
        <p:nvSpPr>
          <p:cNvPr id="23" name="Shape 20"/>
          <p:cNvSpPr/>
          <p:nvPr/>
        </p:nvSpPr>
        <p:spPr>
          <a:xfrm>
            <a:off x="4370832" y="3337560"/>
            <a:ext cx="384048" cy="365760"/>
          </a:xfrm>
          <a:prstGeom prst="rightArrow">
            <a:avLst/>
          </a:prstGeom>
          <a:solidFill>
            <a:schemeClr val="accent1"/>
          </a:solidFill>
          <a:ln w="12700">
            <a:solidFill>
              <a:schemeClr val="accent1"/>
            </a:solidFill>
            <a:prstDash val="solid"/>
          </a:ln>
        </p:spPr>
      </p:sp>
      <p:sp>
        <p:nvSpPr>
          <p:cNvPr id="24" name="Text 21"/>
          <p:cNvSpPr txBox="1"/>
          <p:nvPr/>
        </p:nvSpPr>
        <p:spPr>
          <a:xfrm>
            <a:off x="5074920" y="1371600"/>
            <a:ext cx="3749040" cy="201168"/>
          </a:xfrm>
          <a:prstGeom prst="rect">
            <a:avLst/>
          </a:prstGeom>
          <a:noFill/>
          <a:ln/>
        </p:spPr>
        <p:txBody>
          <a:bodyPr wrap="square" lIns="0" tIns="0" rIns="0" bIns="0" rtlCol="0" anchor="t"/>
          <a:lstStyle/>
          <a:p>
            <a:pPr marL="0" indent="0">
              <a:buNone/>
            </a:pPr>
            <a:r>
              <a:rPr lang="en-US" sz="900" b="1" dirty="0">
                <a:solidFill>
                  <a:schemeClr val="tx2"/>
                </a:solidFill>
                <a:latin typeface="Consolas" pitchFamily="34" charset="0"/>
                <a:ea typeface="Consolas" pitchFamily="34" charset="-122"/>
                <a:cs typeface="Consolas" pitchFamily="34" charset="-120"/>
              </a:rPr>
              <a:t>SIMPLIFIED MODEL · 6×5 GRID</a:t>
            </a:r>
            <a:endParaRPr lang="en-US" sz="900" dirty="0"/>
          </a:p>
        </p:txBody>
      </p:sp>
      <p:sp>
        <p:nvSpPr>
          <p:cNvPr id="25" name="Text 22"/>
          <p:cNvSpPr txBox="1"/>
          <p:nvPr/>
        </p:nvSpPr>
        <p:spPr>
          <a:xfrm>
            <a:off x="5102352" y="1645920"/>
            <a:ext cx="566928" cy="219456"/>
          </a:xfrm>
          <a:prstGeom prst="rect">
            <a:avLst/>
          </a:prstGeom>
          <a:noFill/>
          <a:ln/>
        </p:spPr>
        <p:txBody>
          <a:bodyPr wrap="square" lIns="0" tIns="0" rIns="0" bIns="0" rtlCol="0" anchor="t"/>
          <a:lstStyle/>
          <a:p>
            <a:pPr marL="0" indent="0" algn="ctr">
              <a:buNone/>
            </a:pPr>
            <a:r>
              <a:rPr lang="en-US" sz="1000" dirty="0">
                <a:solidFill>
                  <a:schemeClr val="tx2"/>
                </a:solidFill>
                <a:latin typeface="Consolas" pitchFamily="34" charset="0"/>
                <a:ea typeface="Consolas" pitchFamily="34" charset="-122"/>
                <a:cs typeface="Consolas" pitchFamily="34" charset="-120"/>
              </a:rPr>
              <a:t>A</a:t>
            </a:r>
            <a:endParaRPr lang="en-US" sz="1000" dirty="0"/>
          </a:p>
        </p:txBody>
      </p:sp>
      <p:sp>
        <p:nvSpPr>
          <p:cNvPr id="26" name="Text 23"/>
          <p:cNvSpPr txBox="1"/>
          <p:nvPr/>
        </p:nvSpPr>
        <p:spPr>
          <a:xfrm>
            <a:off x="5724144" y="1645920"/>
            <a:ext cx="566928" cy="219456"/>
          </a:xfrm>
          <a:prstGeom prst="rect">
            <a:avLst/>
          </a:prstGeom>
          <a:noFill/>
          <a:ln/>
        </p:spPr>
        <p:txBody>
          <a:bodyPr wrap="square" lIns="0" tIns="0" rIns="0" bIns="0" rtlCol="0" anchor="t"/>
          <a:lstStyle/>
          <a:p>
            <a:pPr marL="0" indent="0" algn="ctr">
              <a:buNone/>
            </a:pPr>
            <a:r>
              <a:rPr lang="en-US" sz="1000" dirty="0">
                <a:solidFill>
                  <a:schemeClr val="tx2"/>
                </a:solidFill>
                <a:latin typeface="Consolas" pitchFamily="34" charset="0"/>
                <a:ea typeface="Consolas" pitchFamily="34" charset="-122"/>
                <a:cs typeface="Consolas" pitchFamily="34" charset="-120"/>
              </a:rPr>
              <a:t>B</a:t>
            </a:r>
            <a:endParaRPr lang="en-US" sz="1000" dirty="0"/>
          </a:p>
        </p:txBody>
      </p:sp>
      <p:sp>
        <p:nvSpPr>
          <p:cNvPr id="27" name="Text 24"/>
          <p:cNvSpPr txBox="1"/>
          <p:nvPr/>
        </p:nvSpPr>
        <p:spPr>
          <a:xfrm>
            <a:off x="6345936" y="1645920"/>
            <a:ext cx="566928" cy="219456"/>
          </a:xfrm>
          <a:prstGeom prst="rect">
            <a:avLst/>
          </a:prstGeom>
          <a:noFill/>
          <a:ln/>
        </p:spPr>
        <p:txBody>
          <a:bodyPr wrap="square" lIns="0" tIns="0" rIns="0" bIns="0" rtlCol="0" anchor="t"/>
          <a:lstStyle/>
          <a:p>
            <a:pPr marL="0" indent="0" algn="ctr">
              <a:buNone/>
            </a:pPr>
            <a:r>
              <a:rPr lang="en-US" sz="1000" dirty="0">
                <a:solidFill>
                  <a:schemeClr val="tx2"/>
                </a:solidFill>
                <a:latin typeface="Consolas" pitchFamily="34" charset="0"/>
                <a:ea typeface="Consolas" pitchFamily="34" charset="-122"/>
                <a:cs typeface="Consolas" pitchFamily="34" charset="-120"/>
              </a:rPr>
              <a:t>C</a:t>
            </a:r>
            <a:endParaRPr lang="en-US" sz="1000" dirty="0"/>
          </a:p>
        </p:txBody>
      </p:sp>
      <p:sp>
        <p:nvSpPr>
          <p:cNvPr id="28" name="Text 25"/>
          <p:cNvSpPr txBox="1"/>
          <p:nvPr/>
        </p:nvSpPr>
        <p:spPr>
          <a:xfrm>
            <a:off x="6967728" y="1645920"/>
            <a:ext cx="566928" cy="219456"/>
          </a:xfrm>
          <a:prstGeom prst="rect">
            <a:avLst/>
          </a:prstGeom>
          <a:noFill/>
          <a:ln/>
        </p:spPr>
        <p:txBody>
          <a:bodyPr wrap="square" lIns="0" tIns="0" rIns="0" bIns="0" rtlCol="0" anchor="t"/>
          <a:lstStyle/>
          <a:p>
            <a:pPr marL="0" indent="0" algn="ctr">
              <a:buNone/>
            </a:pPr>
            <a:r>
              <a:rPr lang="en-US" sz="1000" dirty="0">
                <a:solidFill>
                  <a:schemeClr val="tx2"/>
                </a:solidFill>
                <a:latin typeface="Consolas" pitchFamily="34" charset="0"/>
                <a:ea typeface="Consolas" pitchFamily="34" charset="-122"/>
                <a:cs typeface="Consolas" pitchFamily="34" charset="-120"/>
              </a:rPr>
              <a:t>D</a:t>
            </a:r>
            <a:endParaRPr lang="en-US" sz="1000" dirty="0"/>
          </a:p>
        </p:txBody>
      </p:sp>
      <p:sp>
        <p:nvSpPr>
          <p:cNvPr id="29" name="Text 26"/>
          <p:cNvSpPr txBox="1"/>
          <p:nvPr/>
        </p:nvSpPr>
        <p:spPr>
          <a:xfrm>
            <a:off x="7589520" y="1645920"/>
            <a:ext cx="566928" cy="219456"/>
          </a:xfrm>
          <a:prstGeom prst="rect">
            <a:avLst/>
          </a:prstGeom>
          <a:noFill/>
          <a:ln/>
        </p:spPr>
        <p:txBody>
          <a:bodyPr wrap="square" lIns="0" tIns="0" rIns="0" bIns="0" rtlCol="0" anchor="t"/>
          <a:lstStyle/>
          <a:p>
            <a:pPr marL="0" indent="0" algn="ctr">
              <a:buNone/>
            </a:pPr>
            <a:r>
              <a:rPr lang="en-US" sz="1000" dirty="0">
                <a:solidFill>
                  <a:schemeClr val="tx2"/>
                </a:solidFill>
                <a:latin typeface="Consolas" pitchFamily="34" charset="0"/>
                <a:ea typeface="Consolas" pitchFamily="34" charset="-122"/>
                <a:cs typeface="Consolas" pitchFamily="34" charset="-120"/>
              </a:rPr>
              <a:t>E</a:t>
            </a:r>
            <a:endParaRPr lang="en-US" sz="1000" dirty="0"/>
          </a:p>
        </p:txBody>
      </p:sp>
      <p:sp>
        <p:nvSpPr>
          <p:cNvPr id="30" name="Text 27"/>
          <p:cNvSpPr txBox="1"/>
          <p:nvPr/>
        </p:nvSpPr>
        <p:spPr>
          <a:xfrm>
            <a:off x="8211312" y="1645920"/>
            <a:ext cx="566928" cy="219456"/>
          </a:xfrm>
          <a:prstGeom prst="rect">
            <a:avLst/>
          </a:prstGeom>
          <a:noFill/>
          <a:ln/>
        </p:spPr>
        <p:txBody>
          <a:bodyPr wrap="square" lIns="0" tIns="0" rIns="0" bIns="0" rtlCol="0" anchor="t"/>
          <a:lstStyle/>
          <a:p>
            <a:pPr marL="0" indent="0" algn="ctr">
              <a:buNone/>
            </a:pPr>
            <a:r>
              <a:rPr lang="en-US" sz="1000" dirty="0">
                <a:solidFill>
                  <a:schemeClr val="tx2"/>
                </a:solidFill>
                <a:latin typeface="Consolas" pitchFamily="34" charset="0"/>
                <a:ea typeface="Consolas" pitchFamily="34" charset="-122"/>
                <a:cs typeface="Consolas" pitchFamily="34" charset="-120"/>
              </a:rPr>
              <a:t>F</a:t>
            </a:r>
            <a:endParaRPr lang="en-US" sz="1000" dirty="0"/>
          </a:p>
        </p:txBody>
      </p:sp>
      <p:sp>
        <p:nvSpPr>
          <p:cNvPr id="31" name="Text 28"/>
          <p:cNvSpPr txBox="1"/>
          <p:nvPr/>
        </p:nvSpPr>
        <p:spPr>
          <a:xfrm>
            <a:off x="4791456" y="1920240"/>
            <a:ext cx="219456" cy="566928"/>
          </a:xfrm>
          <a:prstGeom prst="rect">
            <a:avLst/>
          </a:prstGeom>
          <a:noFill/>
          <a:ln/>
        </p:spPr>
        <p:txBody>
          <a:bodyPr wrap="square" lIns="0" tIns="0" rIns="0" bIns="0" rtlCol="0" anchor="ctr"/>
          <a:lstStyle/>
          <a:p>
            <a:pPr marL="0" indent="0" algn="ctr">
              <a:buNone/>
            </a:pPr>
            <a:r>
              <a:rPr lang="en-US" sz="1000" dirty="0">
                <a:solidFill>
                  <a:schemeClr val="tx2"/>
                </a:solidFill>
                <a:latin typeface="Consolas" pitchFamily="34" charset="0"/>
                <a:ea typeface="Consolas" pitchFamily="34" charset="-122"/>
                <a:cs typeface="Consolas" pitchFamily="34" charset="-120"/>
              </a:rPr>
              <a:t>1</a:t>
            </a:r>
            <a:endParaRPr lang="en-US" sz="1000" dirty="0"/>
          </a:p>
        </p:txBody>
      </p:sp>
      <p:sp>
        <p:nvSpPr>
          <p:cNvPr id="32" name="Text 29"/>
          <p:cNvSpPr txBox="1"/>
          <p:nvPr/>
        </p:nvSpPr>
        <p:spPr>
          <a:xfrm>
            <a:off x="4791456" y="2542032"/>
            <a:ext cx="219456" cy="566928"/>
          </a:xfrm>
          <a:prstGeom prst="rect">
            <a:avLst/>
          </a:prstGeom>
          <a:noFill/>
          <a:ln/>
        </p:spPr>
        <p:txBody>
          <a:bodyPr wrap="square" lIns="0" tIns="0" rIns="0" bIns="0" rtlCol="0" anchor="ctr"/>
          <a:lstStyle/>
          <a:p>
            <a:pPr marL="0" indent="0" algn="ctr">
              <a:buNone/>
            </a:pPr>
            <a:r>
              <a:rPr lang="en-US" sz="1000" dirty="0">
                <a:solidFill>
                  <a:schemeClr val="tx2"/>
                </a:solidFill>
                <a:latin typeface="Consolas" pitchFamily="34" charset="0"/>
                <a:ea typeface="Consolas" pitchFamily="34" charset="-122"/>
                <a:cs typeface="Consolas" pitchFamily="34" charset="-120"/>
              </a:rPr>
              <a:t>2</a:t>
            </a:r>
            <a:endParaRPr lang="en-US" sz="1000" dirty="0"/>
          </a:p>
        </p:txBody>
      </p:sp>
      <p:sp>
        <p:nvSpPr>
          <p:cNvPr id="33" name="Text 30"/>
          <p:cNvSpPr txBox="1"/>
          <p:nvPr/>
        </p:nvSpPr>
        <p:spPr>
          <a:xfrm>
            <a:off x="4791456" y="3163824"/>
            <a:ext cx="219456" cy="566928"/>
          </a:xfrm>
          <a:prstGeom prst="rect">
            <a:avLst/>
          </a:prstGeom>
          <a:noFill/>
          <a:ln/>
        </p:spPr>
        <p:txBody>
          <a:bodyPr wrap="square" lIns="0" tIns="0" rIns="0" bIns="0" rtlCol="0" anchor="ctr"/>
          <a:lstStyle/>
          <a:p>
            <a:pPr marL="0" indent="0" algn="ctr">
              <a:buNone/>
            </a:pPr>
            <a:r>
              <a:rPr lang="en-US" sz="1000" dirty="0">
                <a:solidFill>
                  <a:schemeClr val="tx2"/>
                </a:solidFill>
                <a:latin typeface="Consolas" pitchFamily="34" charset="0"/>
                <a:ea typeface="Consolas" pitchFamily="34" charset="-122"/>
                <a:cs typeface="Consolas" pitchFamily="34" charset="-120"/>
              </a:rPr>
              <a:t>3</a:t>
            </a:r>
            <a:endParaRPr lang="en-US" sz="1000" dirty="0"/>
          </a:p>
        </p:txBody>
      </p:sp>
      <p:sp>
        <p:nvSpPr>
          <p:cNvPr id="34" name="Text 31"/>
          <p:cNvSpPr txBox="1"/>
          <p:nvPr/>
        </p:nvSpPr>
        <p:spPr>
          <a:xfrm>
            <a:off x="4791456" y="3785616"/>
            <a:ext cx="219456" cy="566928"/>
          </a:xfrm>
          <a:prstGeom prst="rect">
            <a:avLst/>
          </a:prstGeom>
          <a:noFill/>
          <a:ln/>
        </p:spPr>
        <p:txBody>
          <a:bodyPr wrap="square" lIns="0" tIns="0" rIns="0" bIns="0" rtlCol="0" anchor="ctr"/>
          <a:lstStyle/>
          <a:p>
            <a:pPr marL="0" indent="0" algn="ctr">
              <a:buNone/>
            </a:pPr>
            <a:r>
              <a:rPr lang="en-US" sz="1000" dirty="0">
                <a:solidFill>
                  <a:schemeClr val="tx2"/>
                </a:solidFill>
                <a:latin typeface="Consolas" pitchFamily="34" charset="0"/>
                <a:ea typeface="Consolas" pitchFamily="34" charset="-122"/>
                <a:cs typeface="Consolas" pitchFamily="34" charset="-120"/>
              </a:rPr>
              <a:t>4</a:t>
            </a:r>
            <a:endParaRPr lang="en-US" sz="1000" dirty="0"/>
          </a:p>
        </p:txBody>
      </p:sp>
      <p:sp>
        <p:nvSpPr>
          <p:cNvPr id="35" name="Text 32"/>
          <p:cNvSpPr txBox="1"/>
          <p:nvPr/>
        </p:nvSpPr>
        <p:spPr>
          <a:xfrm>
            <a:off x="4791456" y="4407408"/>
            <a:ext cx="219456" cy="566928"/>
          </a:xfrm>
          <a:prstGeom prst="rect">
            <a:avLst/>
          </a:prstGeom>
          <a:noFill/>
          <a:ln/>
        </p:spPr>
        <p:txBody>
          <a:bodyPr wrap="square" lIns="0" tIns="0" rIns="0" bIns="0" rtlCol="0" anchor="ctr"/>
          <a:lstStyle/>
          <a:p>
            <a:pPr marL="0" indent="0" algn="ctr">
              <a:buNone/>
            </a:pPr>
            <a:r>
              <a:rPr lang="en-US" sz="1000" dirty="0">
                <a:solidFill>
                  <a:schemeClr val="tx2"/>
                </a:solidFill>
                <a:latin typeface="Consolas" pitchFamily="34" charset="0"/>
                <a:ea typeface="Consolas" pitchFamily="34" charset="-122"/>
                <a:cs typeface="Consolas" pitchFamily="34" charset="-120"/>
              </a:rPr>
              <a:t>5</a:t>
            </a:r>
            <a:endParaRPr lang="en-US" sz="1000" dirty="0"/>
          </a:p>
        </p:txBody>
      </p:sp>
      <p:sp>
        <p:nvSpPr>
          <p:cNvPr id="36" name="Shape 33"/>
          <p:cNvSpPr/>
          <p:nvPr/>
        </p:nvSpPr>
        <p:spPr>
          <a:xfrm>
            <a:off x="5102352" y="1920240"/>
            <a:ext cx="566928" cy="566928"/>
          </a:xfrm>
          <a:prstGeom prst="roundRect">
            <a:avLst>
              <a:gd name="adj" fmla="val 11290"/>
            </a:avLst>
          </a:prstGeom>
          <a:solidFill>
            <a:schemeClr val="bg2"/>
          </a:solidFill>
          <a:ln w="12700">
            <a:solidFill>
              <a:schemeClr val="accent5"/>
            </a:solidFill>
            <a:prstDash val="solid"/>
          </a:ln>
        </p:spPr>
      </p:sp>
      <p:sp>
        <p:nvSpPr>
          <p:cNvPr id="37" name="Shape 34"/>
          <p:cNvSpPr/>
          <p:nvPr/>
        </p:nvSpPr>
        <p:spPr>
          <a:xfrm>
            <a:off x="5724144" y="1920240"/>
            <a:ext cx="566928" cy="566928"/>
          </a:xfrm>
          <a:prstGeom prst="roundRect">
            <a:avLst>
              <a:gd name="adj" fmla="val 11290"/>
            </a:avLst>
          </a:prstGeom>
          <a:solidFill>
            <a:schemeClr val="bg2"/>
          </a:solidFill>
          <a:ln w="12700">
            <a:solidFill>
              <a:schemeClr val="accent5"/>
            </a:solidFill>
            <a:prstDash val="solid"/>
          </a:ln>
        </p:spPr>
      </p:sp>
      <p:sp>
        <p:nvSpPr>
          <p:cNvPr id="38" name="Shape 35"/>
          <p:cNvSpPr/>
          <p:nvPr/>
        </p:nvSpPr>
        <p:spPr>
          <a:xfrm>
            <a:off x="6345936" y="1920240"/>
            <a:ext cx="566928" cy="566928"/>
          </a:xfrm>
          <a:prstGeom prst="roundRect">
            <a:avLst>
              <a:gd name="adj" fmla="val 11290"/>
            </a:avLst>
          </a:prstGeom>
          <a:solidFill>
            <a:schemeClr val="bg2"/>
          </a:solidFill>
          <a:ln w="12700">
            <a:solidFill>
              <a:schemeClr val="accent5"/>
            </a:solidFill>
            <a:prstDash val="solid"/>
          </a:ln>
        </p:spPr>
      </p:sp>
      <p:sp>
        <p:nvSpPr>
          <p:cNvPr id="39" name="Shape 36"/>
          <p:cNvSpPr/>
          <p:nvPr/>
        </p:nvSpPr>
        <p:spPr>
          <a:xfrm>
            <a:off x="6967728" y="1920240"/>
            <a:ext cx="566928" cy="566928"/>
          </a:xfrm>
          <a:prstGeom prst="roundRect">
            <a:avLst>
              <a:gd name="adj" fmla="val 11290"/>
            </a:avLst>
          </a:prstGeom>
          <a:solidFill>
            <a:schemeClr val="accent3">
              <a:alpha val="14000"/>
            </a:schemeClr>
          </a:solidFill>
          <a:ln w="19050">
            <a:solidFill>
              <a:schemeClr val="accent3"/>
            </a:solidFill>
            <a:prstDash val="solid"/>
          </a:ln>
        </p:spPr>
      </p:sp>
      <p:sp>
        <p:nvSpPr>
          <p:cNvPr id="40" name="Shape 37"/>
          <p:cNvSpPr/>
          <p:nvPr/>
        </p:nvSpPr>
        <p:spPr>
          <a:xfrm>
            <a:off x="7589520" y="1920240"/>
            <a:ext cx="566928" cy="566928"/>
          </a:xfrm>
          <a:prstGeom prst="roundRect">
            <a:avLst>
              <a:gd name="adj" fmla="val 11290"/>
            </a:avLst>
          </a:prstGeom>
          <a:solidFill>
            <a:schemeClr val="bg2"/>
          </a:solidFill>
          <a:ln w="12700">
            <a:solidFill>
              <a:schemeClr val="accent5"/>
            </a:solidFill>
            <a:prstDash val="solid"/>
          </a:ln>
        </p:spPr>
      </p:sp>
      <p:sp>
        <p:nvSpPr>
          <p:cNvPr id="41" name="Shape 38"/>
          <p:cNvSpPr/>
          <p:nvPr/>
        </p:nvSpPr>
        <p:spPr>
          <a:xfrm>
            <a:off x="8211312" y="1920240"/>
            <a:ext cx="566928" cy="566928"/>
          </a:xfrm>
          <a:prstGeom prst="roundRect">
            <a:avLst>
              <a:gd name="adj" fmla="val 11290"/>
            </a:avLst>
          </a:prstGeom>
          <a:solidFill>
            <a:schemeClr val="bg2"/>
          </a:solidFill>
          <a:ln w="12700">
            <a:solidFill>
              <a:schemeClr val="accent5"/>
            </a:solidFill>
            <a:prstDash val="solid"/>
          </a:ln>
        </p:spPr>
      </p:sp>
      <p:sp>
        <p:nvSpPr>
          <p:cNvPr id="42" name="Shape 39"/>
          <p:cNvSpPr/>
          <p:nvPr/>
        </p:nvSpPr>
        <p:spPr>
          <a:xfrm>
            <a:off x="5102352" y="2542032"/>
            <a:ext cx="566928" cy="566928"/>
          </a:xfrm>
          <a:prstGeom prst="roundRect">
            <a:avLst>
              <a:gd name="adj" fmla="val 11290"/>
            </a:avLst>
          </a:prstGeom>
          <a:solidFill>
            <a:schemeClr val="bg2"/>
          </a:solidFill>
          <a:ln w="12700">
            <a:solidFill>
              <a:schemeClr val="accent5"/>
            </a:solidFill>
            <a:prstDash val="solid"/>
          </a:ln>
        </p:spPr>
      </p:sp>
      <p:sp>
        <p:nvSpPr>
          <p:cNvPr id="43" name="Shape 40"/>
          <p:cNvSpPr/>
          <p:nvPr/>
        </p:nvSpPr>
        <p:spPr>
          <a:xfrm>
            <a:off x="5724144" y="2542032"/>
            <a:ext cx="566928" cy="566928"/>
          </a:xfrm>
          <a:prstGeom prst="roundRect">
            <a:avLst>
              <a:gd name="adj" fmla="val 11290"/>
            </a:avLst>
          </a:prstGeom>
          <a:solidFill>
            <a:schemeClr val="bg2"/>
          </a:solidFill>
          <a:ln w="12700">
            <a:solidFill>
              <a:schemeClr val="accent5"/>
            </a:solidFill>
            <a:prstDash val="solid"/>
          </a:ln>
        </p:spPr>
      </p:sp>
      <p:sp>
        <p:nvSpPr>
          <p:cNvPr id="44" name="Shape 41"/>
          <p:cNvSpPr/>
          <p:nvPr/>
        </p:nvSpPr>
        <p:spPr>
          <a:xfrm>
            <a:off x="6345936" y="2542032"/>
            <a:ext cx="566928" cy="566928"/>
          </a:xfrm>
          <a:prstGeom prst="roundRect">
            <a:avLst>
              <a:gd name="adj" fmla="val 11290"/>
            </a:avLst>
          </a:prstGeom>
          <a:solidFill>
            <a:schemeClr val="accent3">
              <a:alpha val="14000"/>
            </a:schemeClr>
          </a:solidFill>
          <a:ln w="19050">
            <a:solidFill>
              <a:schemeClr val="accent3"/>
            </a:solidFill>
            <a:prstDash val="solid"/>
          </a:ln>
        </p:spPr>
      </p:sp>
      <p:sp>
        <p:nvSpPr>
          <p:cNvPr id="45" name="Shape 42"/>
          <p:cNvSpPr/>
          <p:nvPr/>
        </p:nvSpPr>
        <p:spPr>
          <a:xfrm>
            <a:off x="6967728" y="2542032"/>
            <a:ext cx="566928" cy="566928"/>
          </a:xfrm>
          <a:prstGeom prst="roundRect">
            <a:avLst>
              <a:gd name="adj" fmla="val 11290"/>
            </a:avLst>
          </a:prstGeom>
          <a:solidFill>
            <a:schemeClr val="bg2"/>
          </a:solidFill>
          <a:ln w="12700">
            <a:solidFill>
              <a:schemeClr val="accent5"/>
            </a:solidFill>
            <a:prstDash val="solid"/>
          </a:ln>
        </p:spPr>
      </p:sp>
      <p:sp>
        <p:nvSpPr>
          <p:cNvPr id="46" name="Shape 43"/>
          <p:cNvSpPr/>
          <p:nvPr/>
        </p:nvSpPr>
        <p:spPr>
          <a:xfrm>
            <a:off x="7589520" y="2542032"/>
            <a:ext cx="566928" cy="566928"/>
          </a:xfrm>
          <a:prstGeom prst="roundRect">
            <a:avLst>
              <a:gd name="adj" fmla="val 11290"/>
            </a:avLst>
          </a:prstGeom>
          <a:solidFill>
            <a:schemeClr val="bg2"/>
          </a:solidFill>
          <a:ln w="12700">
            <a:solidFill>
              <a:schemeClr val="accent5"/>
            </a:solidFill>
            <a:prstDash val="solid"/>
          </a:ln>
        </p:spPr>
      </p:sp>
      <p:sp>
        <p:nvSpPr>
          <p:cNvPr id="47" name="Shape 44"/>
          <p:cNvSpPr/>
          <p:nvPr/>
        </p:nvSpPr>
        <p:spPr>
          <a:xfrm>
            <a:off x="8211312" y="2542032"/>
            <a:ext cx="566928" cy="566928"/>
          </a:xfrm>
          <a:prstGeom prst="roundRect">
            <a:avLst>
              <a:gd name="adj" fmla="val 11290"/>
            </a:avLst>
          </a:prstGeom>
          <a:solidFill>
            <a:schemeClr val="bg2"/>
          </a:solidFill>
          <a:ln w="12700">
            <a:solidFill>
              <a:schemeClr val="accent5"/>
            </a:solidFill>
            <a:prstDash val="solid"/>
          </a:ln>
        </p:spPr>
      </p:sp>
      <p:sp>
        <p:nvSpPr>
          <p:cNvPr id="48" name="Shape 45"/>
          <p:cNvSpPr/>
          <p:nvPr/>
        </p:nvSpPr>
        <p:spPr>
          <a:xfrm>
            <a:off x="5102352" y="3163824"/>
            <a:ext cx="566928" cy="566928"/>
          </a:xfrm>
          <a:prstGeom prst="roundRect">
            <a:avLst>
              <a:gd name="adj" fmla="val 11290"/>
            </a:avLst>
          </a:prstGeom>
          <a:solidFill>
            <a:schemeClr val="bg2"/>
          </a:solidFill>
          <a:ln w="12700">
            <a:solidFill>
              <a:schemeClr val="accent5"/>
            </a:solidFill>
            <a:prstDash val="solid"/>
          </a:ln>
        </p:spPr>
      </p:sp>
      <p:sp>
        <p:nvSpPr>
          <p:cNvPr id="49" name="Shape 46"/>
          <p:cNvSpPr/>
          <p:nvPr/>
        </p:nvSpPr>
        <p:spPr>
          <a:xfrm>
            <a:off x="5724144" y="3163824"/>
            <a:ext cx="566928" cy="566928"/>
          </a:xfrm>
          <a:prstGeom prst="roundRect">
            <a:avLst>
              <a:gd name="adj" fmla="val 11290"/>
            </a:avLst>
          </a:prstGeom>
          <a:solidFill>
            <a:schemeClr val="bg2"/>
          </a:solidFill>
          <a:ln w="12700">
            <a:solidFill>
              <a:schemeClr val="accent5"/>
            </a:solidFill>
            <a:prstDash val="solid"/>
          </a:ln>
        </p:spPr>
      </p:sp>
      <p:sp>
        <p:nvSpPr>
          <p:cNvPr id="50" name="Shape 47"/>
          <p:cNvSpPr/>
          <p:nvPr/>
        </p:nvSpPr>
        <p:spPr>
          <a:xfrm>
            <a:off x="6345936" y="3163824"/>
            <a:ext cx="566928" cy="566928"/>
          </a:xfrm>
          <a:prstGeom prst="roundRect">
            <a:avLst>
              <a:gd name="adj" fmla="val 11290"/>
            </a:avLst>
          </a:prstGeom>
          <a:solidFill>
            <a:schemeClr val="accent3">
              <a:alpha val="14000"/>
            </a:schemeClr>
          </a:solidFill>
          <a:ln w="19050">
            <a:solidFill>
              <a:schemeClr val="accent3"/>
            </a:solidFill>
            <a:prstDash val="solid"/>
          </a:ln>
        </p:spPr>
      </p:sp>
      <p:sp>
        <p:nvSpPr>
          <p:cNvPr id="51" name="Shape 48"/>
          <p:cNvSpPr/>
          <p:nvPr/>
        </p:nvSpPr>
        <p:spPr>
          <a:xfrm>
            <a:off x="6967728" y="3163824"/>
            <a:ext cx="566928" cy="566928"/>
          </a:xfrm>
          <a:prstGeom prst="roundRect">
            <a:avLst>
              <a:gd name="adj" fmla="val 11290"/>
            </a:avLst>
          </a:prstGeom>
          <a:solidFill>
            <a:schemeClr val="bg2"/>
          </a:solidFill>
          <a:ln w="12700">
            <a:solidFill>
              <a:schemeClr val="accent5"/>
            </a:solidFill>
            <a:prstDash val="solid"/>
          </a:ln>
        </p:spPr>
      </p:sp>
      <p:sp>
        <p:nvSpPr>
          <p:cNvPr id="52" name="Shape 49"/>
          <p:cNvSpPr/>
          <p:nvPr/>
        </p:nvSpPr>
        <p:spPr>
          <a:xfrm>
            <a:off x="7589520" y="3163824"/>
            <a:ext cx="566928" cy="566928"/>
          </a:xfrm>
          <a:prstGeom prst="roundRect">
            <a:avLst>
              <a:gd name="adj" fmla="val 11290"/>
            </a:avLst>
          </a:prstGeom>
          <a:solidFill>
            <a:schemeClr val="bg2"/>
          </a:solidFill>
          <a:ln w="12700">
            <a:solidFill>
              <a:schemeClr val="accent5"/>
            </a:solidFill>
            <a:prstDash val="solid"/>
          </a:ln>
        </p:spPr>
      </p:sp>
      <p:sp>
        <p:nvSpPr>
          <p:cNvPr id="53" name="Shape 50"/>
          <p:cNvSpPr/>
          <p:nvPr/>
        </p:nvSpPr>
        <p:spPr>
          <a:xfrm>
            <a:off x="8211312" y="3163824"/>
            <a:ext cx="566928" cy="566928"/>
          </a:xfrm>
          <a:prstGeom prst="roundRect">
            <a:avLst>
              <a:gd name="adj" fmla="val 11290"/>
            </a:avLst>
          </a:prstGeom>
          <a:solidFill>
            <a:schemeClr val="bg2"/>
          </a:solidFill>
          <a:ln w="12700">
            <a:solidFill>
              <a:schemeClr val="accent5"/>
            </a:solidFill>
            <a:prstDash val="solid"/>
          </a:ln>
        </p:spPr>
      </p:sp>
      <p:sp>
        <p:nvSpPr>
          <p:cNvPr id="54" name="Shape 51"/>
          <p:cNvSpPr/>
          <p:nvPr/>
        </p:nvSpPr>
        <p:spPr>
          <a:xfrm>
            <a:off x="5102352" y="3785616"/>
            <a:ext cx="566928" cy="566928"/>
          </a:xfrm>
          <a:prstGeom prst="roundRect">
            <a:avLst>
              <a:gd name="adj" fmla="val 11290"/>
            </a:avLst>
          </a:prstGeom>
          <a:solidFill>
            <a:schemeClr val="bg2"/>
          </a:solidFill>
          <a:ln w="12700">
            <a:solidFill>
              <a:schemeClr val="accent5"/>
            </a:solidFill>
            <a:prstDash val="solid"/>
          </a:ln>
        </p:spPr>
      </p:sp>
      <p:sp>
        <p:nvSpPr>
          <p:cNvPr id="55" name="Shape 52"/>
          <p:cNvSpPr/>
          <p:nvPr/>
        </p:nvSpPr>
        <p:spPr>
          <a:xfrm>
            <a:off x="5724144" y="3785616"/>
            <a:ext cx="566928" cy="566928"/>
          </a:xfrm>
          <a:prstGeom prst="roundRect">
            <a:avLst>
              <a:gd name="adj" fmla="val 11290"/>
            </a:avLst>
          </a:prstGeom>
          <a:solidFill>
            <a:schemeClr val="bg2"/>
          </a:solidFill>
          <a:ln w="12700">
            <a:solidFill>
              <a:schemeClr val="accent5"/>
            </a:solidFill>
            <a:prstDash val="solid"/>
          </a:ln>
        </p:spPr>
      </p:sp>
      <p:sp>
        <p:nvSpPr>
          <p:cNvPr id="56" name="Shape 53"/>
          <p:cNvSpPr/>
          <p:nvPr/>
        </p:nvSpPr>
        <p:spPr>
          <a:xfrm>
            <a:off x="6345936" y="3785616"/>
            <a:ext cx="566928" cy="566928"/>
          </a:xfrm>
          <a:prstGeom prst="roundRect">
            <a:avLst>
              <a:gd name="adj" fmla="val 11290"/>
            </a:avLst>
          </a:prstGeom>
          <a:solidFill>
            <a:schemeClr val="accent3">
              <a:alpha val="14000"/>
            </a:schemeClr>
          </a:solidFill>
          <a:ln w="19050">
            <a:solidFill>
              <a:schemeClr val="accent3"/>
            </a:solidFill>
            <a:prstDash val="solid"/>
          </a:ln>
        </p:spPr>
      </p:sp>
      <p:sp>
        <p:nvSpPr>
          <p:cNvPr id="57" name="Shape 54"/>
          <p:cNvSpPr/>
          <p:nvPr/>
        </p:nvSpPr>
        <p:spPr>
          <a:xfrm>
            <a:off x="6967728" y="3785616"/>
            <a:ext cx="566928" cy="566928"/>
          </a:xfrm>
          <a:prstGeom prst="roundRect">
            <a:avLst>
              <a:gd name="adj" fmla="val 11290"/>
            </a:avLst>
          </a:prstGeom>
          <a:solidFill>
            <a:schemeClr val="bg2"/>
          </a:solidFill>
          <a:ln w="12700">
            <a:solidFill>
              <a:schemeClr val="accent5"/>
            </a:solidFill>
            <a:prstDash val="solid"/>
          </a:ln>
        </p:spPr>
      </p:sp>
      <p:sp>
        <p:nvSpPr>
          <p:cNvPr id="58" name="Shape 55"/>
          <p:cNvSpPr/>
          <p:nvPr/>
        </p:nvSpPr>
        <p:spPr>
          <a:xfrm>
            <a:off x="7589520" y="3785616"/>
            <a:ext cx="566928" cy="566928"/>
          </a:xfrm>
          <a:prstGeom prst="roundRect">
            <a:avLst>
              <a:gd name="adj" fmla="val 11290"/>
            </a:avLst>
          </a:prstGeom>
          <a:solidFill>
            <a:schemeClr val="bg2"/>
          </a:solidFill>
          <a:ln w="12700">
            <a:solidFill>
              <a:schemeClr val="accent5"/>
            </a:solidFill>
            <a:prstDash val="solid"/>
          </a:ln>
        </p:spPr>
      </p:sp>
      <p:sp>
        <p:nvSpPr>
          <p:cNvPr id="59" name="Shape 56"/>
          <p:cNvSpPr/>
          <p:nvPr/>
        </p:nvSpPr>
        <p:spPr>
          <a:xfrm>
            <a:off x="8211312" y="3785616"/>
            <a:ext cx="566928" cy="566928"/>
          </a:xfrm>
          <a:prstGeom prst="roundRect">
            <a:avLst>
              <a:gd name="adj" fmla="val 11290"/>
            </a:avLst>
          </a:prstGeom>
          <a:solidFill>
            <a:schemeClr val="bg2"/>
          </a:solidFill>
          <a:ln w="12700">
            <a:solidFill>
              <a:schemeClr val="accent5"/>
            </a:solidFill>
            <a:prstDash val="solid"/>
          </a:ln>
        </p:spPr>
      </p:sp>
      <p:sp>
        <p:nvSpPr>
          <p:cNvPr id="60" name="Shape 57"/>
          <p:cNvSpPr/>
          <p:nvPr/>
        </p:nvSpPr>
        <p:spPr>
          <a:xfrm>
            <a:off x="5102352" y="4407408"/>
            <a:ext cx="566928" cy="566928"/>
          </a:xfrm>
          <a:prstGeom prst="roundRect">
            <a:avLst>
              <a:gd name="adj" fmla="val 11290"/>
            </a:avLst>
          </a:prstGeom>
          <a:solidFill>
            <a:schemeClr val="bg2"/>
          </a:solidFill>
          <a:ln w="12700">
            <a:solidFill>
              <a:schemeClr val="accent5"/>
            </a:solidFill>
            <a:prstDash val="solid"/>
          </a:ln>
        </p:spPr>
      </p:sp>
      <p:sp>
        <p:nvSpPr>
          <p:cNvPr id="61" name="Shape 58"/>
          <p:cNvSpPr/>
          <p:nvPr/>
        </p:nvSpPr>
        <p:spPr>
          <a:xfrm>
            <a:off x="5724144" y="4407408"/>
            <a:ext cx="566928" cy="566928"/>
          </a:xfrm>
          <a:prstGeom prst="roundRect">
            <a:avLst>
              <a:gd name="adj" fmla="val 11290"/>
            </a:avLst>
          </a:prstGeom>
          <a:solidFill>
            <a:schemeClr val="bg2"/>
          </a:solidFill>
          <a:ln w="12700">
            <a:solidFill>
              <a:schemeClr val="accent5"/>
            </a:solidFill>
            <a:prstDash val="solid"/>
          </a:ln>
        </p:spPr>
      </p:sp>
      <p:sp>
        <p:nvSpPr>
          <p:cNvPr id="62" name="Shape 59"/>
          <p:cNvSpPr/>
          <p:nvPr/>
        </p:nvSpPr>
        <p:spPr>
          <a:xfrm>
            <a:off x="6345936" y="4407408"/>
            <a:ext cx="566928" cy="566928"/>
          </a:xfrm>
          <a:prstGeom prst="roundRect">
            <a:avLst>
              <a:gd name="adj" fmla="val 11290"/>
            </a:avLst>
          </a:prstGeom>
          <a:solidFill>
            <a:schemeClr val="bg2"/>
          </a:solidFill>
          <a:ln w="12700">
            <a:solidFill>
              <a:schemeClr val="accent5"/>
            </a:solidFill>
            <a:prstDash val="solid"/>
          </a:ln>
        </p:spPr>
      </p:sp>
      <p:sp>
        <p:nvSpPr>
          <p:cNvPr id="63" name="Shape 60"/>
          <p:cNvSpPr/>
          <p:nvPr/>
        </p:nvSpPr>
        <p:spPr>
          <a:xfrm>
            <a:off x="6967728" y="4407408"/>
            <a:ext cx="566928" cy="566928"/>
          </a:xfrm>
          <a:prstGeom prst="roundRect">
            <a:avLst>
              <a:gd name="adj" fmla="val 11290"/>
            </a:avLst>
          </a:prstGeom>
          <a:solidFill>
            <a:schemeClr val="bg2"/>
          </a:solidFill>
          <a:ln w="12700">
            <a:solidFill>
              <a:schemeClr val="accent5"/>
            </a:solidFill>
            <a:prstDash val="solid"/>
          </a:ln>
        </p:spPr>
      </p:sp>
      <p:sp>
        <p:nvSpPr>
          <p:cNvPr id="64" name="Shape 61"/>
          <p:cNvSpPr/>
          <p:nvPr/>
        </p:nvSpPr>
        <p:spPr>
          <a:xfrm>
            <a:off x="7589520" y="4407408"/>
            <a:ext cx="566928" cy="566928"/>
          </a:xfrm>
          <a:prstGeom prst="roundRect">
            <a:avLst>
              <a:gd name="adj" fmla="val 11290"/>
            </a:avLst>
          </a:prstGeom>
          <a:solidFill>
            <a:schemeClr val="bg2"/>
          </a:solidFill>
          <a:ln w="12700">
            <a:solidFill>
              <a:schemeClr val="accent5"/>
            </a:solidFill>
            <a:prstDash val="solid"/>
          </a:ln>
        </p:spPr>
      </p:sp>
      <p:sp>
        <p:nvSpPr>
          <p:cNvPr id="65" name="Shape 62"/>
          <p:cNvSpPr/>
          <p:nvPr/>
        </p:nvSpPr>
        <p:spPr>
          <a:xfrm>
            <a:off x="8211312" y="4407408"/>
            <a:ext cx="566928" cy="566928"/>
          </a:xfrm>
          <a:prstGeom prst="roundRect">
            <a:avLst>
              <a:gd name="adj" fmla="val 11290"/>
            </a:avLst>
          </a:prstGeom>
          <a:solidFill>
            <a:schemeClr val="bg2"/>
          </a:solidFill>
          <a:ln w="12700">
            <a:solidFill>
              <a:schemeClr val="accent5"/>
            </a:solidFill>
            <a:prstDash val="solid"/>
          </a:ln>
        </p:spPr>
      </p:sp>
      <p:sp>
        <p:nvSpPr>
          <p:cNvPr id="66" name="Shape 63"/>
          <p:cNvSpPr/>
          <p:nvPr/>
        </p:nvSpPr>
        <p:spPr>
          <a:xfrm>
            <a:off x="5385816" y="2203704"/>
            <a:ext cx="621792" cy="0"/>
          </a:xfrm>
          <a:prstGeom prst="line">
            <a:avLst/>
          </a:prstGeom>
          <a:noFill/>
          <a:ln w="12700">
            <a:solidFill>
              <a:srgbClr val="3B4B6B"/>
            </a:solidFill>
            <a:prstDash val="solid"/>
          </a:ln>
        </p:spPr>
      </p:sp>
      <p:sp>
        <p:nvSpPr>
          <p:cNvPr id="67" name="Shape 64"/>
          <p:cNvSpPr/>
          <p:nvPr/>
        </p:nvSpPr>
        <p:spPr>
          <a:xfrm>
            <a:off x="5385816" y="2203704"/>
            <a:ext cx="0" cy="621792"/>
          </a:xfrm>
          <a:prstGeom prst="line">
            <a:avLst/>
          </a:prstGeom>
          <a:noFill/>
          <a:ln w="12700">
            <a:solidFill>
              <a:srgbClr val="3B4B6B"/>
            </a:solidFill>
            <a:prstDash val="solid"/>
          </a:ln>
        </p:spPr>
      </p:sp>
      <p:sp>
        <p:nvSpPr>
          <p:cNvPr id="68" name="Shape 65"/>
          <p:cNvSpPr/>
          <p:nvPr/>
        </p:nvSpPr>
        <p:spPr>
          <a:xfrm>
            <a:off x="6007608" y="2203704"/>
            <a:ext cx="621792" cy="0"/>
          </a:xfrm>
          <a:prstGeom prst="line">
            <a:avLst/>
          </a:prstGeom>
          <a:noFill/>
          <a:ln w="12700">
            <a:solidFill>
              <a:srgbClr val="3B4B6B"/>
            </a:solidFill>
            <a:prstDash val="solid"/>
          </a:ln>
        </p:spPr>
      </p:sp>
      <p:sp>
        <p:nvSpPr>
          <p:cNvPr id="69" name="Shape 66"/>
          <p:cNvSpPr/>
          <p:nvPr/>
        </p:nvSpPr>
        <p:spPr>
          <a:xfrm>
            <a:off x="6007608" y="2203704"/>
            <a:ext cx="0" cy="621792"/>
          </a:xfrm>
          <a:prstGeom prst="line">
            <a:avLst/>
          </a:prstGeom>
          <a:noFill/>
          <a:ln w="12700">
            <a:solidFill>
              <a:srgbClr val="3B4B6B"/>
            </a:solidFill>
            <a:prstDash val="solid"/>
          </a:ln>
        </p:spPr>
      </p:sp>
      <p:sp>
        <p:nvSpPr>
          <p:cNvPr id="70" name="Shape 67"/>
          <p:cNvSpPr/>
          <p:nvPr/>
        </p:nvSpPr>
        <p:spPr>
          <a:xfrm>
            <a:off x="7872984" y="2203704"/>
            <a:ext cx="621792" cy="0"/>
          </a:xfrm>
          <a:prstGeom prst="line">
            <a:avLst/>
          </a:prstGeom>
          <a:noFill/>
          <a:ln w="12700">
            <a:solidFill>
              <a:srgbClr val="3B4B6B"/>
            </a:solidFill>
            <a:prstDash val="solid"/>
          </a:ln>
        </p:spPr>
      </p:sp>
      <p:sp>
        <p:nvSpPr>
          <p:cNvPr id="71" name="Shape 68"/>
          <p:cNvSpPr/>
          <p:nvPr/>
        </p:nvSpPr>
        <p:spPr>
          <a:xfrm>
            <a:off x="7872984" y="2203704"/>
            <a:ext cx="0" cy="621792"/>
          </a:xfrm>
          <a:prstGeom prst="line">
            <a:avLst/>
          </a:prstGeom>
          <a:noFill/>
          <a:ln w="12700">
            <a:solidFill>
              <a:srgbClr val="3B4B6B"/>
            </a:solidFill>
            <a:prstDash val="solid"/>
          </a:ln>
        </p:spPr>
      </p:sp>
      <p:sp>
        <p:nvSpPr>
          <p:cNvPr id="72" name="Shape 69"/>
          <p:cNvSpPr/>
          <p:nvPr/>
        </p:nvSpPr>
        <p:spPr>
          <a:xfrm>
            <a:off x="8494776" y="2203704"/>
            <a:ext cx="0" cy="621792"/>
          </a:xfrm>
          <a:prstGeom prst="line">
            <a:avLst/>
          </a:prstGeom>
          <a:noFill/>
          <a:ln w="12700">
            <a:solidFill>
              <a:srgbClr val="3B4B6B"/>
            </a:solidFill>
            <a:prstDash val="solid"/>
          </a:ln>
        </p:spPr>
      </p:sp>
      <p:sp>
        <p:nvSpPr>
          <p:cNvPr id="73" name="Shape 70"/>
          <p:cNvSpPr/>
          <p:nvPr/>
        </p:nvSpPr>
        <p:spPr>
          <a:xfrm>
            <a:off x="5385816" y="2825496"/>
            <a:ext cx="621792" cy="0"/>
          </a:xfrm>
          <a:prstGeom prst="line">
            <a:avLst/>
          </a:prstGeom>
          <a:noFill/>
          <a:ln w="12700">
            <a:solidFill>
              <a:srgbClr val="3B4B6B"/>
            </a:solidFill>
            <a:prstDash val="solid"/>
          </a:ln>
        </p:spPr>
      </p:sp>
      <p:sp>
        <p:nvSpPr>
          <p:cNvPr id="74" name="Shape 71"/>
          <p:cNvSpPr/>
          <p:nvPr/>
        </p:nvSpPr>
        <p:spPr>
          <a:xfrm>
            <a:off x="5385816" y="2825496"/>
            <a:ext cx="0" cy="621792"/>
          </a:xfrm>
          <a:prstGeom prst="line">
            <a:avLst/>
          </a:prstGeom>
          <a:noFill/>
          <a:ln w="12700">
            <a:solidFill>
              <a:srgbClr val="3B4B6B"/>
            </a:solidFill>
            <a:prstDash val="solid"/>
          </a:ln>
        </p:spPr>
      </p:sp>
      <p:sp>
        <p:nvSpPr>
          <p:cNvPr id="75" name="Shape 72"/>
          <p:cNvSpPr/>
          <p:nvPr/>
        </p:nvSpPr>
        <p:spPr>
          <a:xfrm>
            <a:off x="6007608" y="2825496"/>
            <a:ext cx="0" cy="621792"/>
          </a:xfrm>
          <a:prstGeom prst="line">
            <a:avLst/>
          </a:prstGeom>
          <a:noFill/>
          <a:ln w="12700">
            <a:solidFill>
              <a:srgbClr val="3B4B6B"/>
            </a:solidFill>
            <a:prstDash val="solid"/>
          </a:ln>
        </p:spPr>
      </p:sp>
      <p:sp>
        <p:nvSpPr>
          <p:cNvPr id="76" name="Shape 73"/>
          <p:cNvSpPr/>
          <p:nvPr/>
        </p:nvSpPr>
        <p:spPr>
          <a:xfrm>
            <a:off x="7251192" y="2825496"/>
            <a:ext cx="621792" cy="0"/>
          </a:xfrm>
          <a:prstGeom prst="line">
            <a:avLst/>
          </a:prstGeom>
          <a:noFill/>
          <a:ln w="12700">
            <a:solidFill>
              <a:srgbClr val="3B4B6B"/>
            </a:solidFill>
            <a:prstDash val="solid"/>
          </a:ln>
        </p:spPr>
      </p:sp>
      <p:sp>
        <p:nvSpPr>
          <p:cNvPr id="77" name="Shape 74"/>
          <p:cNvSpPr/>
          <p:nvPr/>
        </p:nvSpPr>
        <p:spPr>
          <a:xfrm>
            <a:off x="7251192" y="2825496"/>
            <a:ext cx="0" cy="621792"/>
          </a:xfrm>
          <a:prstGeom prst="line">
            <a:avLst/>
          </a:prstGeom>
          <a:noFill/>
          <a:ln w="12700">
            <a:solidFill>
              <a:srgbClr val="3B4B6B"/>
            </a:solidFill>
            <a:prstDash val="solid"/>
          </a:ln>
        </p:spPr>
      </p:sp>
      <p:sp>
        <p:nvSpPr>
          <p:cNvPr id="78" name="Shape 75"/>
          <p:cNvSpPr/>
          <p:nvPr/>
        </p:nvSpPr>
        <p:spPr>
          <a:xfrm>
            <a:off x="7872984" y="2825496"/>
            <a:ext cx="621792" cy="0"/>
          </a:xfrm>
          <a:prstGeom prst="line">
            <a:avLst/>
          </a:prstGeom>
          <a:noFill/>
          <a:ln w="12700">
            <a:solidFill>
              <a:srgbClr val="3B4B6B"/>
            </a:solidFill>
            <a:prstDash val="solid"/>
          </a:ln>
        </p:spPr>
      </p:sp>
      <p:sp>
        <p:nvSpPr>
          <p:cNvPr id="79" name="Shape 76"/>
          <p:cNvSpPr/>
          <p:nvPr/>
        </p:nvSpPr>
        <p:spPr>
          <a:xfrm>
            <a:off x="7872984" y="2825496"/>
            <a:ext cx="0" cy="621792"/>
          </a:xfrm>
          <a:prstGeom prst="line">
            <a:avLst/>
          </a:prstGeom>
          <a:noFill/>
          <a:ln w="12700">
            <a:solidFill>
              <a:srgbClr val="3B4B6B"/>
            </a:solidFill>
            <a:prstDash val="solid"/>
          </a:ln>
        </p:spPr>
      </p:sp>
      <p:sp>
        <p:nvSpPr>
          <p:cNvPr id="80" name="Shape 77"/>
          <p:cNvSpPr/>
          <p:nvPr/>
        </p:nvSpPr>
        <p:spPr>
          <a:xfrm>
            <a:off x="8494776" y="2825496"/>
            <a:ext cx="0" cy="621792"/>
          </a:xfrm>
          <a:prstGeom prst="line">
            <a:avLst/>
          </a:prstGeom>
          <a:noFill/>
          <a:ln w="12700">
            <a:solidFill>
              <a:srgbClr val="3B4B6B"/>
            </a:solidFill>
            <a:prstDash val="solid"/>
          </a:ln>
        </p:spPr>
      </p:sp>
      <p:sp>
        <p:nvSpPr>
          <p:cNvPr id="81" name="Shape 78"/>
          <p:cNvSpPr/>
          <p:nvPr/>
        </p:nvSpPr>
        <p:spPr>
          <a:xfrm>
            <a:off x="5385816" y="3447288"/>
            <a:ext cx="621792" cy="0"/>
          </a:xfrm>
          <a:prstGeom prst="line">
            <a:avLst/>
          </a:prstGeom>
          <a:noFill/>
          <a:ln w="12700">
            <a:solidFill>
              <a:srgbClr val="3B4B6B"/>
            </a:solidFill>
            <a:prstDash val="solid"/>
          </a:ln>
        </p:spPr>
      </p:sp>
      <p:sp>
        <p:nvSpPr>
          <p:cNvPr id="82" name="Shape 79"/>
          <p:cNvSpPr/>
          <p:nvPr/>
        </p:nvSpPr>
        <p:spPr>
          <a:xfrm>
            <a:off x="5385816" y="3447288"/>
            <a:ext cx="0" cy="621792"/>
          </a:xfrm>
          <a:prstGeom prst="line">
            <a:avLst/>
          </a:prstGeom>
          <a:noFill/>
          <a:ln w="12700">
            <a:solidFill>
              <a:srgbClr val="3B4B6B"/>
            </a:solidFill>
            <a:prstDash val="solid"/>
          </a:ln>
        </p:spPr>
      </p:sp>
      <p:sp>
        <p:nvSpPr>
          <p:cNvPr id="83" name="Shape 80"/>
          <p:cNvSpPr/>
          <p:nvPr/>
        </p:nvSpPr>
        <p:spPr>
          <a:xfrm>
            <a:off x="6007608" y="3447288"/>
            <a:ext cx="0" cy="621792"/>
          </a:xfrm>
          <a:prstGeom prst="line">
            <a:avLst/>
          </a:prstGeom>
          <a:noFill/>
          <a:ln w="12700">
            <a:solidFill>
              <a:srgbClr val="3B4B6B"/>
            </a:solidFill>
            <a:prstDash val="solid"/>
          </a:ln>
        </p:spPr>
      </p:sp>
      <p:sp>
        <p:nvSpPr>
          <p:cNvPr id="84" name="Shape 81"/>
          <p:cNvSpPr/>
          <p:nvPr/>
        </p:nvSpPr>
        <p:spPr>
          <a:xfrm>
            <a:off x="7251192" y="3447288"/>
            <a:ext cx="621792" cy="0"/>
          </a:xfrm>
          <a:prstGeom prst="line">
            <a:avLst/>
          </a:prstGeom>
          <a:noFill/>
          <a:ln w="12700">
            <a:solidFill>
              <a:srgbClr val="3B4B6B"/>
            </a:solidFill>
            <a:prstDash val="solid"/>
          </a:ln>
        </p:spPr>
      </p:sp>
      <p:sp>
        <p:nvSpPr>
          <p:cNvPr id="85" name="Shape 82"/>
          <p:cNvSpPr/>
          <p:nvPr/>
        </p:nvSpPr>
        <p:spPr>
          <a:xfrm>
            <a:off x="7251192" y="3447288"/>
            <a:ext cx="0" cy="621792"/>
          </a:xfrm>
          <a:prstGeom prst="line">
            <a:avLst/>
          </a:prstGeom>
          <a:noFill/>
          <a:ln w="12700">
            <a:solidFill>
              <a:srgbClr val="3B4B6B"/>
            </a:solidFill>
            <a:prstDash val="solid"/>
          </a:ln>
        </p:spPr>
      </p:sp>
      <p:sp>
        <p:nvSpPr>
          <p:cNvPr id="86" name="Shape 83"/>
          <p:cNvSpPr/>
          <p:nvPr/>
        </p:nvSpPr>
        <p:spPr>
          <a:xfrm>
            <a:off x="7872984" y="3447288"/>
            <a:ext cx="621792" cy="0"/>
          </a:xfrm>
          <a:prstGeom prst="line">
            <a:avLst/>
          </a:prstGeom>
          <a:noFill/>
          <a:ln w="12700">
            <a:solidFill>
              <a:srgbClr val="3B4B6B"/>
            </a:solidFill>
            <a:prstDash val="solid"/>
          </a:ln>
        </p:spPr>
      </p:sp>
      <p:sp>
        <p:nvSpPr>
          <p:cNvPr id="87" name="Shape 84"/>
          <p:cNvSpPr/>
          <p:nvPr/>
        </p:nvSpPr>
        <p:spPr>
          <a:xfrm>
            <a:off x="7872984" y="3447288"/>
            <a:ext cx="0" cy="621792"/>
          </a:xfrm>
          <a:prstGeom prst="line">
            <a:avLst/>
          </a:prstGeom>
          <a:noFill/>
          <a:ln w="12700">
            <a:solidFill>
              <a:srgbClr val="3B4B6B"/>
            </a:solidFill>
            <a:prstDash val="solid"/>
          </a:ln>
        </p:spPr>
      </p:sp>
      <p:sp>
        <p:nvSpPr>
          <p:cNvPr id="88" name="Shape 85"/>
          <p:cNvSpPr/>
          <p:nvPr/>
        </p:nvSpPr>
        <p:spPr>
          <a:xfrm>
            <a:off x="8494776" y="3447288"/>
            <a:ext cx="0" cy="621792"/>
          </a:xfrm>
          <a:prstGeom prst="line">
            <a:avLst/>
          </a:prstGeom>
          <a:noFill/>
          <a:ln w="12700">
            <a:solidFill>
              <a:srgbClr val="3B4B6B"/>
            </a:solidFill>
            <a:prstDash val="solid"/>
          </a:ln>
        </p:spPr>
      </p:sp>
      <p:sp>
        <p:nvSpPr>
          <p:cNvPr id="89" name="Shape 86"/>
          <p:cNvSpPr/>
          <p:nvPr/>
        </p:nvSpPr>
        <p:spPr>
          <a:xfrm>
            <a:off x="5385816" y="4069080"/>
            <a:ext cx="621792" cy="0"/>
          </a:xfrm>
          <a:prstGeom prst="line">
            <a:avLst/>
          </a:prstGeom>
          <a:noFill/>
          <a:ln w="12700">
            <a:solidFill>
              <a:srgbClr val="3B4B6B"/>
            </a:solidFill>
            <a:prstDash val="solid"/>
          </a:ln>
        </p:spPr>
      </p:sp>
      <p:sp>
        <p:nvSpPr>
          <p:cNvPr id="90" name="Shape 87"/>
          <p:cNvSpPr/>
          <p:nvPr/>
        </p:nvSpPr>
        <p:spPr>
          <a:xfrm>
            <a:off x="5385816" y="4069080"/>
            <a:ext cx="0" cy="621792"/>
          </a:xfrm>
          <a:prstGeom prst="line">
            <a:avLst/>
          </a:prstGeom>
          <a:noFill/>
          <a:ln w="12700">
            <a:solidFill>
              <a:srgbClr val="3B4B6B"/>
            </a:solidFill>
            <a:prstDash val="solid"/>
          </a:ln>
        </p:spPr>
      </p:sp>
      <p:sp>
        <p:nvSpPr>
          <p:cNvPr id="91" name="Shape 88"/>
          <p:cNvSpPr/>
          <p:nvPr/>
        </p:nvSpPr>
        <p:spPr>
          <a:xfrm>
            <a:off x="6007608" y="4069080"/>
            <a:ext cx="0" cy="621792"/>
          </a:xfrm>
          <a:prstGeom prst="line">
            <a:avLst/>
          </a:prstGeom>
          <a:noFill/>
          <a:ln w="12700">
            <a:solidFill>
              <a:srgbClr val="3B4B6B"/>
            </a:solidFill>
            <a:prstDash val="solid"/>
          </a:ln>
        </p:spPr>
      </p:sp>
      <p:sp>
        <p:nvSpPr>
          <p:cNvPr id="92" name="Shape 89"/>
          <p:cNvSpPr/>
          <p:nvPr/>
        </p:nvSpPr>
        <p:spPr>
          <a:xfrm>
            <a:off x="7251192" y="4069080"/>
            <a:ext cx="621792" cy="0"/>
          </a:xfrm>
          <a:prstGeom prst="line">
            <a:avLst/>
          </a:prstGeom>
          <a:noFill/>
          <a:ln w="12700">
            <a:solidFill>
              <a:srgbClr val="3B4B6B"/>
            </a:solidFill>
            <a:prstDash val="solid"/>
          </a:ln>
        </p:spPr>
      </p:sp>
      <p:sp>
        <p:nvSpPr>
          <p:cNvPr id="93" name="Shape 90"/>
          <p:cNvSpPr/>
          <p:nvPr/>
        </p:nvSpPr>
        <p:spPr>
          <a:xfrm>
            <a:off x="7251192" y="4069080"/>
            <a:ext cx="0" cy="621792"/>
          </a:xfrm>
          <a:prstGeom prst="line">
            <a:avLst/>
          </a:prstGeom>
          <a:noFill/>
          <a:ln w="12700">
            <a:solidFill>
              <a:srgbClr val="3B4B6B"/>
            </a:solidFill>
            <a:prstDash val="solid"/>
          </a:ln>
        </p:spPr>
      </p:sp>
      <p:sp>
        <p:nvSpPr>
          <p:cNvPr id="94" name="Shape 91"/>
          <p:cNvSpPr/>
          <p:nvPr/>
        </p:nvSpPr>
        <p:spPr>
          <a:xfrm>
            <a:off x="7872984" y="4069080"/>
            <a:ext cx="621792" cy="0"/>
          </a:xfrm>
          <a:prstGeom prst="line">
            <a:avLst/>
          </a:prstGeom>
          <a:noFill/>
          <a:ln w="12700">
            <a:solidFill>
              <a:srgbClr val="3B4B6B"/>
            </a:solidFill>
            <a:prstDash val="solid"/>
          </a:ln>
        </p:spPr>
      </p:sp>
      <p:sp>
        <p:nvSpPr>
          <p:cNvPr id="95" name="Shape 92"/>
          <p:cNvSpPr/>
          <p:nvPr/>
        </p:nvSpPr>
        <p:spPr>
          <a:xfrm>
            <a:off x="7872984" y="4069080"/>
            <a:ext cx="0" cy="621792"/>
          </a:xfrm>
          <a:prstGeom prst="line">
            <a:avLst/>
          </a:prstGeom>
          <a:noFill/>
          <a:ln w="12700">
            <a:solidFill>
              <a:srgbClr val="3B4B6B"/>
            </a:solidFill>
            <a:prstDash val="solid"/>
          </a:ln>
        </p:spPr>
      </p:sp>
      <p:sp>
        <p:nvSpPr>
          <p:cNvPr id="96" name="Shape 93"/>
          <p:cNvSpPr/>
          <p:nvPr/>
        </p:nvSpPr>
        <p:spPr>
          <a:xfrm>
            <a:off x="8494776" y="4069080"/>
            <a:ext cx="0" cy="621792"/>
          </a:xfrm>
          <a:prstGeom prst="line">
            <a:avLst/>
          </a:prstGeom>
          <a:noFill/>
          <a:ln w="12700">
            <a:solidFill>
              <a:srgbClr val="3B4B6B"/>
            </a:solidFill>
            <a:prstDash val="solid"/>
          </a:ln>
        </p:spPr>
      </p:sp>
      <p:sp>
        <p:nvSpPr>
          <p:cNvPr id="97" name="Shape 94"/>
          <p:cNvSpPr/>
          <p:nvPr/>
        </p:nvSpPr>
        <p:spPr>
          <a:xfrm>
            <a:off x="5385816" y="4690872"/>
            <a:ext cx="621792" cy="0"/>
          </a:xfrm>
          <a:prstGeom prst="line">
            <a:avLst/>
          </a:prstGeom>
          <a:noFill/>
          <a:ln w="12700">
            <a:solidFill>
              <a:srgbClr val="3B4B6B"/>
            </a:solidFill>
            <a:prstDash val="solid"/>
          </a:ln>
        </p:spPr>
      </p:sp>
      <p:sp>
        <p:nvSpPr>
          <p:cNvPr id="98" name="Shape 95"/>
          <p:cNvSpPr/>
          <p:nvPr/>
        </p:nvSpPr>
        <p:spPr>
          <a:xfrm>
            <a:off x="6007608" y="4690872"/>
            <a:ext cx="621792" cy="0"/>
          </a:xfrm>
          <a:prstGeom prst="line">
            <a:avLst/>
          </a:prstGeom>
          <a:noFill/>
          <a:ln w="12700">
            <a:solidFill>
              <a:srgbClr val="3B4B6B"/>
            </a:solidFill>
            <a:prstDash val="solid"/>
          </a:ln>
        </p:spPr>
      </p:sp>
      <p:sp>
        <p:nvSpPr>
          <p:cNvPr id="99" name="Shape 96"/>
          <p:cNvSpPr/>
          <p:nvPr/>
        </p:nvSpPr>
        <p:spPr>
          <a:xfrm>
            <a:off x="6629400" y="4690872"/>
            <a:ext cx="621792" cy="0"/>
          </a:xfrm>
          <a:prstGeom prst="line">
            <a:avLst/>
          </a:prstGeom>
          <a:noFill/>
          <a:ln w="12700">
            <a:solidFill>
              <a:srgbClr val="3B4B6B"/>
            </a:solidFill>
            <a:prstDash val="solid"/>
          </a:ln>
        </p:spPr>
      </p:sp>
      <p:sp>
        <p:nvSpPr>
          <p:cNvPr id="100" name="Shape 97"/>
          <p:cNvSpPr/>
          <p:nvPr/>
        </p:nvSpPr>
        <p:spPr>
          <a:xfrm>
            <a:off x="7251192" y="4690872"/>
            <a:ext cx="621792" cy="0"/>
          </a:xfrm>
          <a:prstGeom prst="line">
            <a:avLst/>
          </a:prstGeom>
          <a:noFill/>
          <a:ln w="12700">
            <a:solidFill>
              <a:srgbClr val="3B4B6B"/>
            </a:solidFill>
            <a:prstDash val="solid"/>
          </a:ln>
        </p:spPr>
      </p:sp>
      <p:sp>
        <p:nvSpPr>
          <p:cNvPr id="101" name="Shape 98"/>
          <p:cNvSpPr/>
          <p:nvPr/>
        </p:nvSpPr>
        <p:spPr>
          <a:xfrm>
            <a:off x="7872984" y="4690872"/>
            <a:ext cx="621792" cy="0"/>
          </a:xfrm>
          <a:prstGeom prst="line">
            <a:avLst/>
          </a:prstGeom>
          <a:noFill/>
          <a:ln w="12700">
            <a:solidFill>
              <a:srgbClr val="3B4B6B"/>
            </a:solidFill>
            <a:prstDash val="solid"/>
          </a:ln>
        </p:spPr>
      </p:sp>
      <p:sp>
        <p:nvSpPr>
          <p:cNvPr id="102" name="Shape 99"/>
          <p:cNvSpPr/>
          <p:nvPr/>
        </p:nvSpPr>
        <p:spPr>
          <a:xfrm>
            <a:off x="5344668" y="2162556"/>
            <a:ext cx="82296" cy="82296"/>
          </a:xfrm>
          <a:prstGeom prst="ellipse">
            <a:avLst/>
          </a:prstGeom>
          <a:solidFill>
            <a:srgbClr val="64748B"/>
          </a:solidFill>
          <a:ln w="12700">
            <a:solidFill>
              <a:srgbClr val="64748B"/>
            </a:solidFill>
            <a:prstDash val="solid"/>
          </a:ln>
        </p:spPr>
      </p:sp>
      <p:sp>
        <p:nvSpPr>
          <p:cNvPr id="103" name="Shape 100"/>
          <p:cNvSpPr/>
          <p:nvPr/>
        </p:nvSpPr>
        <p:spPr>
          <a:xfrm>
            <a:off x="5966460" y="2162556"/>
            <a:ext cx="82296" cy="82296"/>
          </a:xfrm>
          <a:prstGeom prst="ellipse">
            <a:avLst/>
          </a:prstGeom>
          <a:solidFill>
            <a:srgbClr val="64748B"/>
          </a:solidFill>
          <a:ln w="12700">
            <a:solidFill>
              <a:srgbClr val="64748B"/>
            </a:solidFill>
            <a:prstDash val="solid"/>
          </a:ln>
        </p:spPr>
      </p:sp>
      <p:sp>
        <p:nvSpPr>
          <p:cNvPr id="104" name="Shape 101"/>
          <p:cNvSpPr/>
          <p:nvPr/>
        </p:nvSpPr>
        <p:spPr>
          <a:xfrm>
            <a:off x="6588252" y="2162556"/>
            <a:ext cx="82296" cy="82296"/>
          </a:xfrm>
          <a:prstGeom prst="ellipse">
            <a:avLst/>
          </a:prstGeom>
          <a:solidFill>
            <a:srgbClr val="64748B"/>
          </a:solidFill>
          <a:ln w="12700">
            <a:solidFill>
              <a:srgbClr val="64748B"/>
            </a:solidFill>
            <a:prstDash val="solid"/>
          </a:ln>
        </p:spPr>
      </p:sp>
      <p:sp>
        <p:nvSpPr>
          <p:cNvPr id="105" name="Shape 102"/>
          <p:cNvSpPr/>
          <p:nvPr/>
        </p:nvSpPr>
        <p:spPr>
          <a:xfrm>
            <a:off x="7114032" y="2066544"/>
            <a:ext cx="274320" cy="274320"/>
          </a:xfrm>
          <a:prstGeom prst="line">
            <a:avLst/>
          </a:prstGeom>
          <a:noFill/>
          <a:ln w="19050">
            <a:solidFill>
              <a:schemeClr val="accent3"/>
            </a:solidFill>
            <a:prstDash val="solid"/>
          </a:ln>
        </p:spPr>
      </p:sp>
      <p:sp>
        <p:nvSpPr>
          <p:cNvPr id="106" name="Shape 103"/>
          <p:cNvSpPr/>
          <p:nvPr/>
        </p:nvSpPr>
        <p:spPr>
          <a:xfrm flipV="1">
            <a:off x="7114032" y="2066544"/>
            <a:ext cx="274320" cy="274320"/>
          </a:xfrm>
          <a:prstGeom prst="line">
            <a:avLst/>
          </a:prstGeom>
          <a:noFill/>
          <a:ln w="19050">
            <a:solidFill>
              <a:schemeClr val="accent3"/>
            </a:solidFill>
            <a:prstDash val="solid"/>
          </a:ln>
        </p:spPr>
      </p:sp>
      <p:sp>
        <p:nvSpPr>
          <p:cNvPr id="107" name="Shape 104"/>
          <p:cNvSpPr/>
          <p:nvPr/>
        </p:nvSpPr>
        <p:spPr>
          <a:xfrm>
            <a:off x="7831836" y="2162556"/>
            <a:ext cx="82296" cy="82296"/>
          </a:xfrm>
          <a:prstGeom prst="ellipse">
            <a:avLst/>
          </a:prstGeom>
          <a:solidFill>
            <a:srgbClr val="64748B"/>
          </a:solidFill>
          <a:ln w="12700">
            <a:solidFill>
              <a:srgbClr val="64748B"/>
            </a:solidFill>
            <a:prstDash val="solid"/>
          </a:ln>
        </p:spPr>
      </p:sp>
      <p:sp>
        <p:nvSpPr>
          <p:cNvPr id="108" name="Shape 105"/>
          <p:cNvSpPr/>
          <p:nvPr/>
        </p:nvSpPr>
        <p:spPr>
          <a:xfrm>
            <a:off x="8453628" y="2162556"/>
            <a:ext cx="82296" cy="82296"/>
          </a:xfrm>
          <a:prstGeom prst="ellipse">
            <a:avLst/>
          </a:prstGeom>
          <a:solidFill>
            <a:srgbClr val="64748B"/>
          </a:solidFill>
          <a:ln w="12700">
            <a:solidFill>
              <a:srgbClr val="64748B"/>
            </a:solidFill>
            <a:prstDash val="solid"/>
          </a:ln>
        </p:spPr>
      </p:sp>
      <p:sp>
        <p:nvSpPr>
          <p:cNvPr id="109" name="Shape 106"/>
          <p:cNvSpPr/>
          <p:nvPr/>
        </p:nvSpPr>
        <p:spPr>
          <a:xfrm>
            <a:off x="5344668" y="2784348"/>
            <a:ext cx="82296" cy="82296"/>
          </a:xfrm>
          <a:prstGeom prst="ellipse">
            <a:avLst/>
          </a:prstGeom>
          <a:solidFill>
            <a:srgbClr val="64748B"/>
          </a:solidFill>
          <a:ln w="12700">
            <a:solidFill>
              <a:srgbClr val="64748B"/>
            </a:solidFill>
            <a:prstDash val="solid"/>
          </a:ln>
        </p:spPr>
      </p:sp>
      <p:sp>
        <p:nvSpPr>
          <p:cNvPr id="110" name="Shape 107"/>
          <p:cNvSpPr/>
          <p:nvPr/>
        </p:nvSpPr>
        <p:spPr>
          <a:xfrm>
            <a:off x="5966460" y="2784348"/>
            <a:ext cx="82296" cy="82296"/>
          </a:xfrm>
          <a:prstGeom prst="ellipse">
            <a:avLst/>
          </a:prstGeom>
          <a:solidFill>
            <a:srgbClr val="64748B"/>
          </a:solidFill>
          <a:ln w="12700">
            <a:solidFill>
              <a:srgbClr val="64748B"/>
            </a:solidFill>
            <a:prstDash val="solid"/>
          </a:ln>
        </p:spPr>
      </p:sp>
      <p:sp>
        <p:nvSpPr>
          <p:cNvPr id="111" name="Shape 108"/>
          <p:cNvSpPr/>
          <p:nvPr/>
        </p:nvSpPr>
        <p:spPr>
          <a:xfrm>
            <a:off x="6492240" y="2688336"/>
            <a:ext cx="274320" cy="274320"/>
          </a:xfrm>
          <a:prstGeom prst="line">
            <a:avLst/>
          </a:prstGeom>
          <a:noFill/>
          <a:ln w="19050">
            <a:solidFill>
              <a:schemeClr val="accent3"/>
            </a:solidFill>
            <a:prstDash val="solid"/>
          </a:ln>
        </p:spPr>
      </p:sp>
      <p:sp>
        <p:nvSpPr>
          <p:cNvPr id="112" name="Shape 109"/>
          <p:cNvSpPr/>
          <p:nvPr/>
        </p:nvSpPr>
        <p:spPr>
          <a:xfrm flipV="1">
            <a:off x="6492240" y="2688336"/>
            <a:ext cx="274320" cy="274320"/>
          </a:xfrm>
          <a:prstGeom prst="line">
            <a:avLst/>
          </a:prstGeom>
          <a:noFill/>
          <a:ln w="19050">
            <a:solidFill>
              <a:schemeClr val="accent3"/>
            </a:solidFill>
            <a:prstDash val="solid"/>
          </a:ln>
        </p:spPr>
      </p:sp>
      <p:sp>
        <p:nvSpPr>
          <p:cNvPr id="113" name="Shape 110"/>
          <p:cNvSpPr/>
          <p:nvPr/>
        </p:nvSpPr>
        <p:spPr>
          <a:xfrm>
            <a:off x="7210044" y="2784348"/>
            <a:ext cx="82296" cy="82296"/>
          </a:xfrm>
          <a:prstGeom prst="ellipse">
            <a:avLst/>
          </a:prstGeom>
          <a:solidFill>
            <a:srgbClr val="64748B"/>
          </a:solidFill>
          <a:ln w="12700">
            <a:solidFill>
              <a:srgbClr val="64748B"/>
            </a:solidFill>
            <a:prstDash val="solid"/>
          </a:ln>
        </p:spPr>
      </p:sp>
      <p:sp>
        <p:nvSpPr>
          <p:cNvPr id="114" name="Shape 111"/>
          <p:cNvSpPr/>
          <p:nvPr/>
        </p:nvSpPr>
        <p:spPr>
          <a:xfrm>
            <a:off x="7831836" y="2784348"/>
            <a:ext cx="82296" cy="82296"/>
          </a:xfrm>
          <a:prstGeom prst="ellipse">
            <a:avLst/>
          </a:prstGeom>
          <a:solidFill>
            <a:srgbClr val="64748B"/>
          </a:solidFill>
          <a:ln w="12700">
            <a:solidFill>
              <a:srgbClr val="64748B"/>
            </a:solidFill>
            <a:prstDash val="solid"/>
          </a:ln>
        </p:spPr>
      </p:sp>
      <p:sp>
        <p:nvSpPr>
          <p:cNvPr id="115" name="Shape 112"/>
          <p:cNvSpPr/>
          <p:nvPr/>
        </p:nvSpPr>
        <p:spPr>
          <a:xfrm>
            <a:off x="8453628" y="2784348"/>
            <a:ext cx="82296" cy="82296"/>
          </a:xfrm>
          <a:prstGeom prst="ellipse">
            <a:avLst/>
          </a:prstGeom>
          <a:solidFill>
            <a:srgbClr val="64748B"/>
          </a:solidFill>
          <a:ln w="12700">
            <a:solidFill>
              <a:srgbClr val="64748B"/>
            </a:solidFill>
            <a:prstDash val="solid"/>
          </a:ln>
        </p:spPr>
      </p:sp>
      <p:sp>
        <p:nvSpPr>
          <p:cNvPr id="116" name="Shape 113"/>
          <p:cNvSpPr/>
          <p:nvPr/>
        </p:nvSpPr>
        <p:spPr>
          <a:xfrm>
            <a:off x="5966460" y="3406140"/>
            <a:ext cx="82296" cy="82296"/>
          </a:xfrm>
          <a:prstGeom prst="ellipse">
            <a:avLst/>
          </a:prstGeom>
          <a:solidFill>
            <a:srgbClr val="64748B"/>
          </a:solidFill>
          <a:ln w="12700">
            <a:solidFill>
              <a:srgbClr val="64748B"/>
            </a:solidFill>
            <a:prstDash val="solid"/>
          </a:ln>
        </p:spPr>
      </p:sp>
      <p:sp>
        <p:nvSpPr>
          <p:cNvPr id="117" name="Shape 114"/>
          <p:cNvSpPr/>
          <p:nvPr/>
        </p:nvSpPr>
        <p:spPr>
          <a:xfrm>
            <a:off x="6492240" y="3310128"/>
            <a:ext cx="274320" cy="274320"/>
          </a:xfrm>
          <a:prstGeom prst="line">
            <a:avLst/>
          </a:prstGeom>
          <a:noFill/>
          <a:ln w="19050">
            <a:solidFill>
              <a:schemeClr val="accent3"/>
            </a:solidFill>
            <a:prstDash val="solid"/>
          </a:ln>
        </p:spPr>
      </p:sp>
      <p:sp>
        <p:nvSpPr>
          <p:cNvPr id="118" name="Shape 115"/>
          <p:cNvSpPr/>
          <p:nvPr/>
        </p:nvSpPr>
        <p:spPr>
          <a:xfrm flipV="1">
            <a:off x="6492240" y="3310128"/>
            <a:ext cx="274320" cy="274320"/>
          </a:xfrm>
          <a:prstGeom prst="line">
            <a:avLst/>
          </a:prstGeom>
          <a:noFill/>
          <a:ln w="19050">
            <a:solidFill>
              <a:schemeClr val="accent3"/>
            </a:solidFill>
            <a:prstDash val="solid"/>
          </a:ln>
        </p:spPr>
      </p:sp>
      <p:sp>
        <p:nvSpPr>
          <p:cNvPr id="119" name="Shape 116"/>
          <p:cNvSpPr/>
          <p:nvPr/>
        </p:nvSpPr>
        <p:spPr>
          <a:xfrm>
            <a:off x="7210044" y="3406140"/>
            <a:ext cx="82296" cy="82296"/>
          </a:xfrm>
          <a:prstGeom prst="ellipse">
            <a:avLst/>
          </a:prstGeom>
          <a:solidFill>
            <a:srgbClr val="64748B"/>
          </a:solidFill>
          <a:ln w="12700">
            <a:solidFill>
              <a:srgbClr val="64748B"/>
            </a:solidFill>
            <a:prstDash val="solid"/>
          </a:ln>
        </p:spPr>
      </p:sp>
      <p:sp>
        <p:nvSpPr>
          <p:cNvPr id="120" name="Shape 117"/>
          <p:cNvSpPr/>
          <p:nvPr/>
        </p:nvSpPr>
        <p:spPr>
          <a:xfrm>
            <a:off x="7831836" y="3406140"/>
            <a:ext cx="82296" cy="82296"/>
          </a:xfrm>
          <a:prstGeom prst="ellipse">
            <a:avLst/>
          </a:prstGeom>
          <a:solidFill>
            <a:srgbClr val="64748B"/>
          </a:solidFill>
          <a:ln w="12700">
            <a:solidFill>
              <a:srgbClr val="64748B"/>
            </a:solidFill>
            <a:prstDash val="solid"/>
          </a:ln>
        </p:spPr>
      </p:sp>
      <p:sp>
        <p:nvSpPr>
          <p:cNvPr id="121" name="Shape 118"/>
          <p:cNvSpPr/>
          <p:nvPr/>
        </p:nvSpPr>
        <p:spPr>
          <a:xfrm>
            <a:off x="5344668" y="4027932"/>
            <a:ext cx="82296" cy="82296"/>
          </a:xfrm>
          <a:prstGeom prst="ellipse">
            <a:avLst/>
          </a:prstGeom>
          <a:solidFill>
            <a:srgbClr val="64748B"/>
          </a:solidFill>
          <a:ln w="12700">
            <a:solidFill>
              <a:srgbClr val="64748B"/>
            </a:solidFill>
            <a:prstDash val="solid"/>
          </a:ln>
        </p:spPr>
      </p:sp>
      <p:sp>
        <p:nvSpPr>
          <p:cNvPr id="122" name="Shape 119"/>
          <p:cNvSpPr/>
          <p:nvPr/>
        </p:nvSpPr>
        <p:spPr>
          <a:xfrm>
            <a:off x="5966460" y="4027932"/>
            <a:ext cx="82296" cy="82296"/>
          </a:xfrm>
          <a:prstGeom prst="ellipse">
            <a:avLst/>
          </a:prstGeom>
          <a:solidFill>
            <a:srgbClr val="64748B"/>
          </a:solidFill>
          <a:ln w="12700">
            <a:solidFill>
              <a:srgbClr val="64748B"/>
            </a:solidFill>
            <a:prstDash val="solid"/>
          </a:ln>
        </p:spPr>
      </p:sp>
      <p:sp>
        <p:nvSpPr>
          <p:cNvPr id="123" name="Shape 120"/>
          <p:cNvSpPr/>
          <p:nvPr/>
        </p:nvSpPr>
        <p:spPr>
          <a:xfrm>
            <a:off x="6492240" y="3931920"/>
            <a:ext cx="274320" cy="274320"/>
          </a:xfrm>
          <a:prstGeom prst="line">
            <a:avLst/>
          </a:prstGeom>
          <a:noFill/>
          <a:ln w="19050">
            <a:solidFill>
              <a:schemeClr val="accent3"/>
            </a:solidFill>
            <a:prstDash val="solid"/>
          </a:ln>
        </p:spPr>
      </p:sp>
      <p:sp>
        <p:nvSpPr>
          <p:cNvPr id="124" name="Shape 121"/>
          <p:cNvSpPr/>
          <p:nvPr/>
        </p:nvSpPr>
        <p:spPr>
          <a:xfrm flipV="1">
            <a:off x="6492240" y="3931920"/>
            <a:ext cx="274320" cy="274320"/>
          </a:xfrm>
          <a:prstGeom prst="line">
            <a:avLst/>
          </a:prstGeom>
          <a:noFill/>
          <a:ln w="19050">
            <a:solidFill>
              <a:schemeClr val="accent3"/>
            </a:solidFill>
            <a:prstDash val="solid"/>
          </a:ln>
        </p:spPr>
      </p:sp>
      <p:sp>
        <p:nvSpPr>
          <p:cNvPr id="125" name="Shape 122"/>
          <p:cNvSpPr/>
          <p:nvPr/>
        </p:nvSpPr>
        <p:spPr>
          <a:xfrm>
            <a:off x="7210044" y="4027932"/>
            <a:ext cx="82296" cy="82296"/>
          </a:xfrm>
          <a:prstGeom prst="ellipse">
            <a:avLst/>
          </a:prstGeom>
          <a:solidFill>
            <a:srgbClr val="64748B"/>
          </a:solidFill>
          <a:ln w="12700">
            <a:solidFill>
              <a:srgbClr val="64748B"/>
            </a:solidFill>
            <a:prstDash val="solid"/>
          </a:ln>
        </p:spPr>
      </p:sp>
      <p:sp>
        <p:nvSpPr>
          <p:cNvPr id="126" name="Shape 123"/>
          <p:cNvSpPr/>
          <p:nvPr/>
        </p:nvSpPr>
        <p:spPr>
          <a:xfrm>
            <a:off x="7831836" y="4027932"/>
            <a:ext cx="82296" cy="82296"/>
          </a:xfrm>
          <a:prstGeom prst="ellipse">
            <a:avLst/>
          </a:prstGeom>
          <a:solidFill>
            <a:srgbClr val="64748B"/>
          </a:solidFill>
          <a:ln w="12700">
            <a:solidFill>
              <a:srgbClr val="64748B"/>
            </a:solidFill>
            <a:prstDash val="solid"/>
          </a:ln>
        </p:spPr>
      </p:sp>
      <p:sp>
        <p:nvSpPr>
          <p:cNvPr id="127" name="Shape 124"/>
          <p:cNvSpPr/>
          <p:nvPr/>
        </p:nvSpPr>
        <p:spPr>
          <a:xfrm>
            <a:off x="8453628" y="4027932"/>
            <a:ext cx="82296" cy="82296"/>
          </a:xfrm>
          <a:prstGeom prst="ellipse">
            <a:avLst/>
          </a:prstGeom>
          <a:solidFill>
            <a:srgbClr val="64748B"/>
          </a:solidFill>
          <a:ln w="12700">
            <a:solidFill>
              <a:srgbClr val="64748B"/>
            </a:solidFill>
            <a:prstDash val="solid"/>
          </a:ln>
        </p:spPr>
      </p:sp>
      <p:sp>
        <p:nvSpPr>
          <p:cNvPr id="128" name="Shape 125"/>
          <p:cNvSpPr/>
          <p:nvPr/>
        </p:nvSpPr>
        <p:spPr>
          <a:xfrm>
            <a:off x="5344668" y="4649724"/>
            <a:ext cx="82296" cy="82296"/>
          </a:xfrm>
          <a:prstGeom prst="ellipse">
            <a:avLst/>
          </a:prstGeom>
          <a:solidFill>
            <a:srgbClr val="64748B"/>
          </a:solidFill>
          <a:ln w="12700">
            <a:solidFill>
              <a:srgbClr val="64748B"/>
            </a:solidFill>
            <a:prstDash val="solid"/>
          </a:ln>
        </p:spPr>
      </p:sp>
      <p:sp>
        <p:nvSpPr>
          <p:cNvPr id="129" name="Shape 126"/>
          <p:cNvSpPr/>
          <p:nvPr/>
        </p:nvSpPr>
        <p:spPr>
          <a:xfrm>
            <a:off x="5966460" y="4649724"/>
            <a:ext cx="82296" cy="82296"/>
          </a:xfrm>
          <a:prstGeom prst="ellipse">
            <a:avLst/>
          </a:prstGeom>
          <a:solidFill>
            <a:srgbClr val="64748B"/>
          </a:solidFill>
          <a:ln w="12700">
            <a:solidFill>
              <a:srgbClr val="64748B"/>
            </a:solidFill>
            <a:prstDash val="solid"/>
          </a:ln>
        </p:spPr>
      </p:sp>
      <p:sp>
        <p:nvSpPr>
          <p:cNvPr id="130" name="Shape 127"/>
          <p:cNvSpPr/>
          <p:nvPr/>
        </p:nvSpPr>
        <p:spPr>
          <a:xfrm>
            <a:off x="6588252" y="4649724"/>
            <a:ext cx="82296" cy="82296"/>
          </a:xfrm>
          <a:prstGeom prst="ellipse">
            <a:avLst/>
          </a:prstGeom>
          <a:solidFill>
            <a:srgbClr val="64748B"/>
          </a:solidFill>
          <a:ln w="12700">
            <a:solidFill>
              <a:srgbClr val="64748B"/>
            </a:solidFill>
            <a:prstDash val="solid"/>
          </a:ln>
        </p:spPr>
      </p:sp>
      <p:sp>
        <p:nvSpPr>
          <p:cNvPr id="131" name="Shape 128"/>
          <p:cNvSpPr/>
          <p:nvPr/>
        </p:nvSpPr>
        <p:spPr>
          <a:xfrm>
            <a:off x="7210044" y="4649724"/>
            <a:ext cx="82296" cy="82296"/>
          </a:xfrm>
          <a:prstGeom prst="ellipse">
            <a:avLst/>
          </a:prstGeom>
          <a:solidFill>
            <a:srgbClr val="64748B"/>
          </a:solidFill>
          <a:ln w="12700">
            <a:solidFill>
              <a:srgbClr val="64748B"/>
            </a:solidFill>
            <a:prstDash val="solid"/>
          </a:ln>
        </p:spPr>
      </p:sp>
      <p:sp>
        <p:nvSpPr>
          <p:cNvPr id="132" name="Shape 129"/>
          <p:cNvSpPr/>
          <p:nvPr/>
        </p:nvSpPr>
        <p:spPr>
          <a:xfrm>
            <a:off x="7831836" y="4649724"/>
            <a:ext cx="82296" cy="82296"/>
          </a:xfrm>
          <a:prstGeom prst="ellipse">
            <a:avLst/>
          </a:prstGeom>
          <a:solidFill>
            <a:srgbClr val="64748B"/>
          </a:solidFill>
          <a:ln w="12700">
            <a:solidFill>
              <a:srgbClr val="64748B"/>
            </a:solidFill>
            <a:prstDash val="solid"/>
          </a:ln>
        </p:spPr>
      </p:sp>
      <p:sp>
        <p:nvSpPr>
          <p:cNvPr id="133" name="Shape 130"/>
          <p:cNvSpPr/>
          <p:nvPr/>
        </p:nvSpPr>
        <p:spPr>
          <a:xfrm>
            <a:off x="8453628" y="4649724"/>
            <a:ext cx="82296" cy="82296"/>
          </a:xfrm>
          <a:prstGeom prst="ellipse">
            <a:avLst/>
          </a:prstGeom>
          <a:solidFill>
            <a:srgbClr val="64748B"/>
          </a:solidFill>
          <a:ln w="12700">
            <a:solidFill>
              <a:srgbClr val="64748B"/>
            </a:solidFill>
            <a:prstDash val="solid"/>
          </a:ln>
        </p:spPr>
      </p:sp>
      <p:sp>
        <p:nvSpPr>
          <p:cNvPr id="134" name="Shape 131"/>
          <p:cNvSpPr/>
          <p:nvPr/>
        </p:nvSpPr>
        <p:spPr>
          <a:xfrm>
            <a:off x="5102352" y="3163824"/>
            <a:ext cx="566928" cy="566928"/>
          </a:xfrm>
          <a:prstGeom prst="roundRect">
            <a:avLst>
              <a:gd name="adj" fmla="val 11290"/>
            </a:avLst>
          </a:prstGeom>
          <a:solidFill>
            <a:schemeClr val="accent1">
              <a:alpha val="20000"/>
            </a:schemeClr>
          </a:solidFill>
          <a:ln w="28575">
            <a:solidFill>
              <a:schemeClr val="accent1"/>
            </a:solidFill>
            <a:prstDash val="solid"/>
          </a:ln>
        </p:spPr>
      </p:sp>
      <p:pic>
        <p:nvPicPr>
          <p:cNvPr id="135" name="Image 1" descr="/home/claude/work/assets/drone.png"/>
          <p:cNvPicPr>
            <a:picLocks noChangeAspect="1"/>
          </p:cNvPicPr>
          <p:nvPr/>
        </p:nvPicPr>
        <p:blipFill>
          <a:blip r:embed="rId4"/>
          <a:stretch>
            <a:fillRect/>
          </a:stretch>
        </p:blipFill>
        <p:spPr>
          <a:xfrm>
            <a:off x="5221224" y="3282696"/>
            <a:ext cx="329184" cy="329184"/>
          </a:xfrm>
          <a:prstGeom prst="rect">
            <a:avLst/>
          </a:prstGeom>
        </p:spPr>
      </p:pic>
      <p:sp>
        <p:nvSpPr>
          <p:cNvPr id="136" name="Text 132"/>
          <p:cNvSpPr txBox="1"/>
          <p:nvPr/>
        </p:nvSpPr>
        <p:spPr>
          <a:xfrm>
            <a:off x="5513832" y="3191256"/>
            <a:ext cx="137160" cy="164592"/>
          </a:xfrm>
          <a:prstGeom prst="rect">
            <a:avLst/>
          </a:prstGeom>
          <a:noFill/>
          <a:ln/>
        </p:spPr>
        <p:txBody>
          <a:bodyPr wrap="square" lIns="0" tIns="0" rIns="0" bIns="0" rtlCol="0" anchor="t"/>
          <a:lstStyle/>
          <a:p>
            <a:pPr marL="0" indent="0">
              <a:buNone/>
            </a:pPr>
            <a:r>
              <a:rPr lang="en-US" sz="900" b="1" dirty="0">
                <a:solidFill>
                  <a:schemeClr val="accent1"/>
                </a:solidFill>
                <a:latin typeface="Consolas" pitchFamily="34" charset="0"/>
                <a:ea typeface="Consolas" pitchFamily="34" charset="-122"/>
                <a:cs typeface="Consolas" pitchFamily="34" charset="-120"/>
              </a:rPr>
              <a:t>S</a:t>
            </a:r>
            <a:endParaRPr lang="en-US" sz="900" dirty="0"/>
          </a:p>
        </p:txBody>
      </p:sp>
      <p:sp>
        <p:nvSpPr>
          <p:cNvPr id="137" name="Shape 133"/>
          <p:cNvSpPr/>
          <p:nvPr/>
        </p:nvSpPr>
        <p:spPr>
          <a:xfrm>
            <a:off x="8211312" y="3163824"/>
            <a:ext cx="566928" cy="566928"/>
          </a:xfrm>
          <a:prstGeom prst="roundRect">
            <a:avLst>
              <a:gd name="adj" fmla="val 11290"/>
            </a:avLst>
          </a:prstGeom>
          <a:solidFill>
            <a:schemeClr val="accent2">
              <a:alpha val="20000"/>
            </a:schemeClr>
          </a:solidFill>
          <a:ln w="28575">
            <a:solidFill>
              <a:schemeClr val="accent2"/>
            </a:solidFill>
            <a:prstDash val="solid"/>
          </a:ln>
        </p:spPr>
      </p:sp>
      <p:pic>
        <p:nvPicPr>
          <p:cNvPr id="138" name="Image 2" descr="preencoded.png"/>
          <p:cNvPicPr>
            <a:picLocks noChangeAspect="1"/>
          </p:cNvPicPr>
          <p:nvPr/>
        </p:nvPicPr>
        <p:blipFill>
          <a:blip r:embed="rId5"/>
          <a:stretch>
            <a:fillRect/>
          </a:stretch>
        </p:blipFill>
        <p:spPr>
          <a:xfrm>
            <a:off x="8366760" y="3282696"/>
            <a:ext cx="256032" cy="329184"/>
          </a:xfrm>
          <a:prstGeom prst="rect">
            <a:avLst/>
          </a:prstGeom>
        </p:spPr>
      </p:pic>
      <p:sp>
        <p:nvSpPr>
          <p:cNvPr id="139" name="Text 134"/>
          <p:cNvSpPr txBox="1"/>
          <p:nvPr/>
        </p:nvSpPr>
        <p:spPr>
          <a:xfrm>
            <a:off x="8622792" y="3191256"/>
            <a:ext cx="137160" cy="164592"/>
          </a:xfrm>
          <a:prstGeom prst="rect">
            <a:avLst/>
          </a:prstGeom>
          <a:noFill/>
          <a:ln/>
        </p:spPr>
        <p:txBody>
          <a:bodyPr wrap="square" lIns="0" tIns="0" rIns="0" bIns="0" rtlCol="0" anchor="t"/>
          <a:lstStyle/>
          <a:p>
            <a:pPr marL="0" indent="0">
              <a:buNone/>
            </a:pPr>
            <a:r>
              <a:rPr lang="en-US" sz="900" b="1" dirty="0">
                <a:solidFill>
                  <a:schemeClr val="accent2"/>
                </a:solidFill>
                <a:latin typeface="Consolas" pitchFamily="34" charset="0"/>
                <a:ea typeface="Consolas" pitchFamily="34" charset="-122"/>
                <a:cs typeface="Consolas" pitchFamily="34" charset="-120"/>
              </a:rPr>
              <a:t>G</a:t>
            </a:r>
            <a:endParaRPr lang="en-US" sz="900" dirty="0"/>
          </a:p>
        </p:txBody>
      </p:sp>
      <p:sp>
        <p:nvSpPr>
          <p:cNvPr id="140" name="Shape 135"/>
          <p:cNvSpPr/>
          <p:nvPr/>
        </p:nvSpPr>
        <p:spPr>
          <a:xfrm>
            <a:off x="5102352" y="5166360"/>
            <a:ext cx="182880" cy="182880"/>
          </a:xfrm>
          <a:prstGeom prst="roundRect">
            <a:avLst>
              <a:gd name="adj" fmla="val 20000"/>
            </a:avLst>
          </a:prstGeom>
          <a:solidFill>
            <a:schemeClr val="bg1"/>
          </a:solidFill>
          <a:ln w="19050">
            <a:solidFill>
              <a:schemeClr val="accent1"/>
            </a:solidFill>
            <a:prstDash val="solid"/>
          </a:ln>
        </p:spPr>
      </p:sp>
      <p:sp>
        <p:nvSpPr>
          <p:cNvPr id="141" name="Text 136"/>
          <p:cNvSpPr txBox="1"/>
          <p:nvPr/>
        </p:nvSpPr>
        <p:spPr>
          <a:xfrm>
            <a:off x="5358384" y="5138928"/>
            <a:ext cx="1554480" cy="237744"/>
          </a:xfrm>
          <a:prstGeom prst="rect">
            <a:avLst/>
          </a:prstGeom>
          <a:noFill/>
          <a:ln/>
        </p:spPr>
        <p:txBody>
          <a:bodyPr wrap="square" lIns="0" tIns="0" rIns="0" bIns="0" rtlCol="0" anchor="ctr"/>
          <a:lstStyle/>
          <a:p>
            <a:pPr marL="0" indent="0">
              <a:buNone/>
            </a:pPr>
            <a:r>
              <a:rPr lang="en-US" sz="1000" dirty="0">
                <a:solidFill>
                  <a:schemeClr val="tx2"/>
                </a:solidFill>
                <a:latin typeface="Consolas" pitchFamily="34" charset="0"/>
                <a:ea typeface="Consolas" pitchFamily="34" charset="-122"/>
                <a:cs typeface="Consolas" pitchFamily="34" charset="-120"/>
              </a:rPr>
              <a:t>Drone start (S)</a:t>
            </a:r>
            <a:endParaRPr lang="en-US" sz="1000" dirty="0"/>
          </a:p>
        </p:txBody>
      </p:sp>
      <p:sp>
        <p:nvSpPr>
          <p:cNvPr id="142" name="Shape 137"/>
          <p:cNvSpPr/>
          <p:nvPr/>
        </p:nvSpPr>
        <p:spPr>
          <a:xfrm>
            <a:off x="6931152" y="5166360"/>
            <a:ext cx="182880" cy="182880"/>
          </a:xfrm>
          <a:prstGeom prst="roundRect">
            <a:avLst>
              <a:gd name="adj" fmla="val 20000"/>
            </a:avLst>
          </a:prstGeom>
          <a:solidFill>
            <a:schemeClr val="bg1"/>
          </a:solidFill>
          <a:ln w="19050">
            <a:solidFill>
              <a:schemeClr val="accent2"/>
            </a:solidFill>
            <a:prstDash val="solid"/>
          </a:ln>
        </p:spPr>
      </p:sp>
      <p:sp>
        <p:nvSpPr>
          <p:cNvPr id="143" name="Text 138"/>
          <p:cNvSpPr txBox="1"/>
          <p:nvPr/>
        </p:nvSpPr>
        <p:spPr>
          <a:xfrm>
            <a:off x="7187184" y="5138928"/>
            <a:ext cx="1554480" cy="237744"/>
          </a:xfrm>
          <a:prstGeom prst="rect">
            <a:avLst/>
          </a:prstGeom>
          <a:noFill/>
          <a:ln/>
        </p:spPr>
        <p:txBody>
          <a:bodyPr wrap="square" lIns="0" tIns="0" rIns="0" bIns="0" rtlCol="0" anchor="ctr"/>
          <a:lstStyle/>
          <a:p>
            <a:pPr marL="0" indent="0">
              <a:buNone/>
            </a:pPr>
            <a:r>
              <a:rPr lang="en-US" sz="1000" dirty="0">
                <a:solidFill>
                  <a:schemeClr val="tx2"/>
                </a:solidFill>
                <a:latin typeface="Consolas" pitchFamily="34" charset="0"/>
                <a:ea typeface="Consolas" pitchFamily="34" charset="-122"/>
                <a:cs typeface="Consolas" pitchFamily="34" charset="-120"/>
              </a:rPr>
              <a:t>Survivor (G)</a:t>
            </a:r>
            <a:endParaRPr lang="en-US" sz="1000" dirty="0"/>
          </a:p>
        </p:txBody>
      </p:sp>
      <p:sp>
        <p:nvSpPr>
          <p:cNvPr id="144" name="Shape 139"/>
          <p:cNvSpPr/>
          <p:nvPr/>
        </p:nvSpPr>
        <p:spPr>
          <a:xfrm>
            <a:off x="5102352" y="5468112"/>
            <a:ext cx="182880" cy="182880"/>
          </a:xfrm>
          <a:prstGeom prst="roundRect">
            <a:avLst>
              <a:gd name="adj" fmla="val 20000"/>
            </a:avLst>
          </a:prstGeom>
          <a:solidFill>
            <a:schemeClr val="bg1"/>
          </a:solidFill>
          <a:ln w="19050">
            <a:solidFill>
              <a:schemeClr val="accent3"/>
            </a:solidFill>
            <a:prstDash val="solid"/>
          </a:ln>
        </p:spPr>
      </p:sp>
      <p:sp>
        <p:nvSpPr>
          <p:cNvPr id="145" name="Text 140"/>
          <p:cNvSpPr txBox="1"/>
          <p:nvPr/>
        </p:nvSpPr>
        <p:spPr>
          <a:xfrm>
            <a:off x="5358384" y="5440680"/>
            <a:ext cx="1554480" cy="237744"/>
          </a:xfrm>
          <a:prstGeom prst="rect">
            <a:avLst/>
          </a:prstGeom>
          <a:noFill/>
          <a:ln/>
        </p:spPr>
        <p:txBody>
          <a:bodyPr wrap="square" lIns="0" tIns="0" rIns="0" bIns="0" rtlCol="0" anchor="ctr"/>
          <a:lstStyle/>
          <a:p>
            <a:pPr marL="0" indent="0">
              <a:buNone/>
            </a:pPr>
            <a:r>
              <a:rPr lang="en-US" sz="1000" dirty="0">
                <a:solidFill>
                  <a:schemeClr val="tx2"/>
                </a:solidFill>
                <a:latin typeface="Consolas" pitchFamily="34" charset="0"/>
                <a:ea typeface="Consolas" pitchFamily="34" charset="-122"/>
                <a:cs typeface="Consolas" pitchFamily="34" charset="-120"/>
              </a:rPr>
              <a:t>Blocked</a:t>
            </a:r>
            <a:endParaRPr lang="en-US" sz="1000" dirty="0"/>
          </a:p>
        </p:txBody>
      </p:sp>
      <p:sp>
        <p:nvSpPr>
          <p:cNvPr id="146" name="Shape 141"/>
          <p:cNvSpPr/>
          <p:nvPr/>
        </p:nvSpPr>
        <p:spPr>
          <a:xfrm>
            <a:off x="6931152" y="5468112"/>
            <a:ext cx="182880" cy="182880"/>
          </a:xfrm>
          <a:prstGeom prst="roundRect">
            <a:avLst>
              <a:gd name="adj" fmla="val 20000"/>
            </a:avLst>
          </a:prstGeom>
          <a:solidFill>
            <a:schemeClr val="bg1"/>
          </a:solidFill>
          <a:ln w="19050">
            <a:solidFill>
              <a:schemeClr val="accent5"/>
            </a:solidFill>
            <a:prstDash val="solid"/>
          </a:ln>
        </p:spPr>
      </p:sp>
      <p:sp>
        <p:nvSpPr>
          <p:cNvPr id="147" name="Text 142"/>
          <p:cNvSpPr txBox="1"/>
          <p:nvPr/>
        </p:nvSpPr>
        <p:spPr>
          <a:xfrm>
            <a:off x="7187184" y="5440680"/>
            <a:ext cx="1554480" cy="237744"/>
          </a:xfrm>
          <a:prstGeom prst="rect">
            <a:avLst/>
          </a:prstGeom>
          <a:noFill/>
          <a:ln/>
        </p:spPr>
        <p:txBody>
          <a:bodyPr wrap="square" lIns="0" tIns="0" rIns="0" bIns="0" rtlCol="0" anchor="ctr"/>
          <a:lstStyle/>
          <a:p>
            <a:pPr marL="0" indent="0">
              <a:buNone/>
            </a:pPr>
            <a:r>
              <a:rPr lang="en-US" sz="1000" dirty="0">
                <a:solidFill>
                  <a:schemeClr val="tx2"/>
                </a:solidFill>
                <a:latin typeface="Consolas" pitchFamily="34" charset="0"/>
                <a:ea typeface="Consolas" pitchFamily="34" charset="-122"/>
                <a:cs typeface="Consolas" pitchFamily="34" charset="-120"/>
              </a:rPr>
              <a:t>Free = state</a:t>
            </a:r>
            <a:endParaRPr lang="en-US" sz="1000" dirty="0"/>
          </a:p>
        </p:txBody>
      </p:sp>
      <p:sp>
        <p:nvSpPr>
          <p:cNvPr id="148" name="Text 143"/>
          <p:cNvSpPr txBox="1"/>
          <p:nvPr/>
        </p:nvSpPr>
        <p:spPr>
          <a:xfrm>
            <a:off x="5102352" y="5852160"/>
            <a:ext cx="3840480" cy="228600"/>
          </a:xfrm>
          <a:prstGeom prst="rect">
            <a:avLst/>
          </a:prstGeom>
          <a:noFill/>
          <a:ln/>
        </p:spPr>
        <p:txBody>
          <a:bodyPr wrap="square" lIns="0" tIns="0" rIns="0" bIns="0" rtlCol="0" anchor="t"/>
          <a:lstStyle/>
          <a:p>
            <a:pPr marL="0" indent="0">
              <a:buNone/>
            </a:pPr>
            <a:r>
              <a:rPr lang="en-US" sz="1000" dirty="0">
                <a:solidFill>
                  <a:schemeClr val="tx2"/>
                </a:solidFill>
                <a:latin typeface="Consolas" pitchFamily="34" charset="0"/>
                <a:ea typeface="Consolas" pitchFamily="34" charset="-122"/>
                <a:cs typeface="Consolas" pitchFamily="34" charset="-120"/>
              </a:rPr>
              <a:t>Simplified model: 6×5 grid, 4 blocked cells</a:t>
            </a:r>
            <a:endParaRPr lang="en-US" sz="1000" dirty="0"/>
          </a:p>
        </p:txBody>
      </p:sp>
      <p:sp>
        <p:nvSpPr>
          <p:cNvPr id="149" name="Problem formulation"/>
          <p:cNvSpPr/>
          <p:nvPr/>
        </p:nvSpPr>
        <p:spPr>
          <a:xfrm>
            <a:off x="9098280" y="1371600"/>
            <a:ext cx="2542032" cy="4709160"/>
          </a:xfrm>
          <a:prstGeom prst="roundRect">
            <a:avLst>
              <a:gd name="adj" fmla="val 2878"/>
            </a:avLst>
          </a:prstGeom>
          <a:solidFill>
            <a:schemeClr val="bg2"/>
          </a:solidFill>
          <a:ln w="12700">
            <a:solidFill>
              <a:schemeClr val="accent5"/>
            </a:solidFill>
            <a:prstDash val="solid"/>
          </a:ln>
        </p:spPr>
      </p:sp>
      <p:sp>
        <p:nvSpPr>
          <p:cNvPr id="150" name="Text 145"/>
          <p:cNvSpPr txBox="1"/>
          <p:nvPr/>
        </p:nvSpPr>
        <p:spPr>
          <a:xfrm>
            <a:off x="9253728" y="1508760"/>
            <a:ext cx="2286000" cy="201168"/>
          </a:xfrm>
          <a:prstGeom prst="rect">
            <a:avLst/>
          </a:prstGeom>
          <a:noFill/>
          <a:ln/>
        </p:spPr>
        <p:txBody>
          <a:bodyPr wrap="square" lIns="0" tIns="0" rIns="0" bIns="0" rtlCol="0" anchor="t"/>
          <a:lstStyle/>
          <a:p>
            <a:pPr marL="0" indent="0">
              <a:buNone/>
            </a:pPr>
            <a:r>
              <a:rPr lang="en-US" sz="900" b="1" dirty="0">
                <a:solidFill>
                  <a:schemeClr val="tx2"/>
                </a:solidFill>
                <a:latin typeface="Consolas" pitchFamily="34" charset="0"/>
                <a:ea typeface="Consolas" pitchFamily="34" charset="-122"/>
                <a:cs typeface="Consolas" pitchFamily="34" charset="-120"/>
              </a:rPr>
              <a:t>PROBLEM FORMULATION</a:t>
            </a:r>
            <a:endParaRPr lang="en-US" sz="900" dirty="0"/>
          </a:p>
        </p:txBody>
      </p:sp>
      <p:sp>
        <p:nvSpPr>
          <p:cNvPr id="151" name="Text 146"/>
          <p:cNvSpPr txBox="1"/>
          <p:nvPr/>
        </p:nvSpPr>
        <p:spPr>
          <a:xfrm>
            <a:off x="9253728" y="1874520"/>
            <a:ext cx="2286000" cy="219456"/>
          </a:xfrm>
          <a:prstGeom prst="rect">
            <a:avLst/>
          </a:prstGeom>
          <a:noFill/>
          <a:ln/>
        </p:spPr>
        <p:txBody>
          <a:bodyPr wrap="square" lIns="0" tIns="0" rIns="0" bIns="0" rtlCol="0" anchor="t"/>
          <a:lstStyle/>
          <a:p>
            <a:pPr marL="0" indent="0">
              <a:buNone/>
            </a:pPr>
            <a:r>
              <a:rPr lang="en-US" sz="1100" b="1" dirty="0">
                <a:solidFill>
                  <a:schemeClr val="accent1"/>
                </a:solidFill>
                <a:latin typeface="Consolas" pitchFamily="34" charset="0"/>
                <a:ea typeface="Consolas" pitchFamily="34" charset="-122"/>
                <a:cs typeface="Consolas" pitchFamily="34" charset="-120"/>
              </a:rPr>
              <a:t>STATE</a:t>
            </a:r>
            <a:endParaRPr lang="en-US" sz="1100" dirty="0"/>
          </a:p>
        </p:txBody>
      </p:sp>
      <p:sp>
        <p:nvSpPr>
          <p:cNvPr id="152" name="Text 147"/>
          <p:cNvSpPr txBox="1"/>
          <p:nvPr/>
        </p:nvSpPr>
        <p:spPr>
          <a:xfrm>
            <a:off x="9253728" y="2130552"/>
            <a:ext cx="2240280" cy="640080"/>
          </a:xfrm>
          <a:prstGeom prst="rect">
            <a:avLst/>
          </a:prstGeom>
          <a:noFill/>
          <a:ln/>
        </p:spPr>
        <p:txBody>
          <a:bodyPr wrap="square" lIns="0" tIns="0" rIns="0" bIns="0" rtlCol="0" anchor="t"/>
          <a:lstStyle/>
          <a:p>
            <a:pPr marL="0" indent="0">
              <a:buNone/>
            </a:pPr>
            <a:r>
              <a:rPr lang="en-US" sz="1400" dirty="0">
                <a:solidFill>
                  <a:schemeClr val="tx1"/>
                </a:solidFill>
              </a:rPr>
              <a:t>One free cell = one possible drone position</a:t>
            </a:r>
            <a:endParaRPr lang="en-US" sz="1400" dirty="0"/>
          </a:p>
        </p:txBody>
      </p:sp>
      <p:sp>
        <p:nvSpPr>
          <p:cNvPr id="153" name="Text 148"/>
          <p:cNvSpPr txBox="1"/>
          <p:nvPr/>
        </p:nvSpPr>
        <p:spPr>
          <a:xfrm>
            <a:off x="9253728" y="2898648"/>
            <a:ext cx="2286000" cy="219456"/>
          </a:xfrm>
          <a:prstGeom prst="rect">
            <a:avLst/>
          </a:prstGeom>
          <a:noFill/>
          <a:ln/>
        </p:spPr>
        <p:txBody>
          <a:bodyPr wrap="square" lIns="0" tIns="0" rIns="0" bIns="0" rtlCol="0" anchor="t"/>
          <a:lstStyle/>
          <a:p>
            <a:pPr marL="0" indent="0">
              <a:buNone/>
            </a:pPr>
            <a:r>
              <a:rPr lang="en-US" sz="1100" b="1" dirty="0">
                <a:solidFill>
                  <a:schemeClr val="accent1"/>
                </a:solidFill>
                <a:latin typeface="Consolas" pitchFamily="34" charset="0"/>
                <a:ea typeface="Consolas" pitchFamily="34" charset="-122"/>
                <a:cs typeface="Consolas" pitchFamily="34" charset="-120"/>
              </a:rPr>
              <a:t>ACTIONS</a:t>
            </a:r>
            <a:endParaRPr lang="en-US" sz="1100" dirty="0"/>
          </a:p>
        </p:txBody>
      </p:sp>
      <p:sp>
        <p:nvSpPr>
          <p:cNvPr id="154" name="Text 149"/>
          <p:cNvSpPr txBox="1"/>
          <p:nvPr/>
        </p:nvSpPr>
        <p:spPr>
          <a:xfrm>
            <a:off x="9253728" y="3154680"/>
            <a:ext cx="2240280" cy="640080"/>
          </a:xfrm>
          <a:prstGeom prst="rect">
            <a:avLst/>
          </a:prstGeom>
          <a:noFill/>
          <a:ln/>
        </p:spPr>
        <p:txBody>
          <a:bodyPr wrap="square" lIns="0" tIns="0" rIns="0" bIns="0" rtlCol="0" anchor="t"/>
          <a:lstStyle/>
          <a:p>
            <a:pPr marL="0" indent="0">
              <a:buNone/>
            </a:pPr>
            <a:r>
              <a:rPr lang="en-US" sz="1400" dirty="0">
                <a:solidFill>
                  <a:schemeClr val="tx1"/>
                </a:solidFill>
              </a:rPr>
              <a:t>Up · Down · Left · Right</a:t>
            </a:r>
            <a:endParaRPr lang="en-US" sz="1400" dirty="0"/>
          </a:p>
        </p:txBody>
      </p:sp>
      <p:sp>
        <p:nvSpPr>
          <p:cNvPr id="155" name="Text 150"/>
          <p:cNvSpPr txBox="1"/>
          <p:nvPr/>
        </p:nvSpPr>
        <p:spPr>
          <a:xfrm>
            <a:off x="9253728" y="3922776"/>
            <a:ext cx="2286000" cy="219456"/>
          </a:xfrm>
          <a:prstGeom prst="rect">
            <a:avLst/>
          </a:prstGeom>
          <a:noFill/>
          <a:ln/>
        </p:spPr>
        <p:txBody>
          <a:bodyPr wrap="square" lIns="0" tIns="0" rIns="0" bIns="0" rtlCol="0" anchor="t"/>
          <a:lstStyle/>
          <a:p>
            <a:pPr marL="0" indent="0">
              <a:buNone/>
            </a:pPr>
            <a:r>
              <a:rPr lang="en-US" sz="1100" b="1" dirty="0">
                <a:solidFill>
                  <a:schemeClr val="accent1"/>
                </a:solidFill>
                <a:latin typeface="Consolas" pitchFamily="34" charset="0"/>
                <a:ea typeface="Consolas" pitchFamily="34" charset="-122"/>
                <a:cs typeface="Consolas" pitchFamily="34" charset="-120"/>
              </a:rPr>
              <a:t>COST</a:t>
            </a:r>
            <a:endParaRPr lang="en-US" sz="1100" dirty="0"/>
          </a:p>
        </p:txBody>
      </p:sp>
      <p:sp>
        <p:nvSpPr>
          <p:cNvPr id="156" name="Text 151"/>
          <p:cNvSpPr txBox="1"/>
          <p:nvPr/>
        </p:nvSpPr>
        <p:spPr>
          <a:xfrm>
            <a:off x="9253728" y="4178808"/>
            <a:ext cx="2240280" cy="640080"/>
          </a:xfrm>
          <a:prstGeom prst="rect">
            <a:avLst/>
          </a:prstGeom>
          <a:noFill/>
          <a:ln/>
        </p:spPr>
        <p:txBody>
          <a:bodyPr wrap="square" lIns="0" tIns="0" rIns="0" bIns="0" rtlCol="0" anchor="t"/>
          <a:lstStyle/>
          <a:p>
            <a:pPr marL="0" indent="0">
              <a:buNone/>
            </a:pPr>
            <a:r>
              <a:rPr lang="en-US" sz="1400" dirty="0">
                <a:solidFill>
                  <a:schemeClr val="tx1"/>
                </a:solidFill>
              </a:rPr>
              <a:t>1 per move</a:t>
            </a:r>
            <a:endParaRPr lang="en-US" sz="1400" dirty="0"/>
          </a:p>
        </p:txBody>
      </p:sp>
      <p:sp>
        <p:nvSpPr>
          <p:cNvPr id="157" name="Text 152"/>
          <p:cNvSpPr txBox="1"/>
          <p:nvPr/>
        </p:nvSpPr>
        <p:spPr>
          <a:xfrm>
            <a:off x="9253728" y="4946904"/>
            <a:ext cx="2286000" cy="219456"/>
          </a:xfrm>
          <a:prstGeom prst="rect">
            <a:avLst/>
          </a:prstGeom>
          <a:noFill/>
          <a:ln/>
        </p:spPr>
        <p:txBody>
          <a:bodyPr wrap="square" lIns="0" tIns="0" rIns="0" bIns="0" rtlCol="0" anchor="t"/>
          <a:lstStyle/>
          <a:p>
            <a:pPr marL="0" indent="0">
              <a:buNone/>
            </a:pPr>
            <a:r>
              <a:rPr lang="en-US" sz="1100" b="1" dirty="0">
                <a:solidFill>
                  <a:schemeClr val="accent1"/>
                </a:solidFill>
                <a:latin typeface="Consolas" pitchFamily="34" charset="0"/>
                <a:ea typeface="Consolas" pitchFamily="34" charset="-122"/>
                <a:cs typeface="Consolas" pitchFamily="34" charset="-120"/>
              </a:rPr>
              <a:t>GOAL TEST</a:t>
            </a:r>
            <a:endParaRPr lang="en-US" sz="1100" dirty="0"/>
          </a:p>
        </p:txBody>
      </p:sp>
      <p:sp>
        <p:nvSpPr>
          <p:cNvPr id="158" name="Text 153"/>
          <p:cNvSpPr txBox="1"/>
          <p:nvPr/>
        </p:nvSpPr>
        <p:spPr>
          <a:xfrm>
            <a:off x="9253728" y="5202936"/>
            <a:ext cx="2240280" cy="640080"/>
          </a:xfrm>
          <a:prstGeom prst="rect">
            <a:avLst/>
          </a:prstGeom>
          <a:noFill/>
          <a:ln/>
        </p:spPr>
        <p:txBody>
          <a:bodyPr wrap="square" lIns="0" tIns="0" rIns="0" bIns="0" rtlCol="0" anchor="t"/>
          <a:lstStyle/>
          <a:p>
            <a:pPr marL="0" indent="0">
              <a:buNone/>
            </a:pPr>
            <a:r>
              <a:rPr lang="en-US" sz="1400" dirty="0">
                <a:solidFill>
                  <a:schemeClr val="tx1"/>
                </a:solidFill>
              </a:rPr>
              <a:t>Is the drone at F3, the survivor cell?</a:t>
            </a:r>
            <a:endParaRPr lang="en-US" sz="1400" dirty="0"/>
          </a:p>
        </p:txBody>
      </p:sp>
      <p:sp>
        <p:nvSpPr>
          <p:cNvPr id="159" name="Text 154"/>
          <p:cNvSpPr txBox="1"/>
          <p:nvPr/>
        </p:nvSpPr>
        <p:spPr>
          <a:xfrm>
            <a:off x="5852160" y="6473952"/>
            <a:ext cx="5212080" cy="228600"/>
          </a:xfrm>
          <a:prstGeom prst="rect">
            <a:avLst/>
          </a:prstGeom>
          <a:noFill/>
          <a:ln/>
        </p:spPr>
        <p:txBody>
          <a:bodyPr wrap="square" lIns="0" tIns="0" rIns="0" bIns="0" rtlCol="0" anchor="ctr"/>
          <a:lstStyle/>
          <a:p>
            <a:pPr marL="0" indent="0" algn="r">
              <a:buNone/>
            </a:pPr>
            <a:r>
              <a:rPr lang="en-US" sz="900" b="1" dirty="0">
                <a:solidFill>
                  <a:schemeClr val="accent2"/>
                </a:solidFill>
                <a:latin typeface="Consolas" pitchFamily="34" charset="0"/>
                <a:ea typeface="Consolas" pitchFamily="34" charset="-122"/>
                <a:cs typeface="Consolas" pitchFamily="34" charset="-120"/>
              </a:rPr>
              <a:t>RUBRIC · STATE SPACE · A* SETUP</a:t>
            </a:r>
            <a:endParaRPr lang="en-US" sz="900" dirty="0"/>
          </a:p>
        </p:txBody>
      </p:sp>
      <p:sp>
        <p:nvSpPr>
          <p:cNvPr id="160" name="Slide Number Placeholder 0"/>
          <p:cNvSpPr>
            <a:spLocks noGrp="1"/>
          </p:cNvSpPr>
          <p:nvPr>
            <p:ph type="sldNum" sz="quarter" idx="4294967295"/>
          </p:nvPr>
        </p:nvSpPr>
        <p:spPr>
          <a:xfrm>
            <a:off x="11183112" y="6473952"/>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tx2"/>
                </a:solidFill>
                <a:latin typeface="Consolas"/>
                <a:ea typeface="Consolas"/>
                <a:cs typeface="Consolas"/>
              </a:defRPr>
            </a:lvl1pPr>
          </a:lstStyle>
          <a:p>
            <a:pPr algn="r"/>
            <a:fld id="{F7021451-1387-4CA6-816F-3879F97B5CBC}" type="slidenum">
              <a:rPr lang="en-US" b="0"/>
              <a:t>5</a:t>
            </a:fld>
            <a:endParaRPr lang="en-US"/>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74320"/>
            <a:ext cx="7315200" cy="201168"/>
          </a:xfrm>
          <a:prstGeom prst="rect">
            <a:avLst/>
          </a:prstGeom>
          <a:noFill/>
          <a:ln/>
        </p:spPr>
        <p:txBody>
          <a:bodyPr wrap="square" lIns="0" tIns="0" rIns="0" bIns="0" rtlCol="0" anchor="t"/>
          <a:lstStyle/>
          <a:p>
            <a:pPr marL="0" indent="0">
              <a:buNone/>
            </a:pPr>
            <a:r>
              <a:rPr lang="en-US" sz="1000" b="1" dirty="0">
                <a:solidFill>
                  <a:schemeClr val="accent1"/>
                </a:solidFill>
                <a:latin typeface="Consolas" pitchFamily="34" charset="0"/>
                <a:ea typeface="Consolas" pitchFamily="34" charset="-122"/>
                <a:cs typeface="Consolas" pitchFamily="34" charset="-120"/>
              </a:rPr>
              <a:t>PHASE 05 · A* DECISION</a:t>
            </a:r>
            <a:endParaRPr lang="en-US" sz="1000" dirty="0"/>
          </a:p>
        </p:txBody>
      </p:sp>
      <p:sp>
        <p:nvSpPr>
          <p:cNvPr id="3" name="Shape 1"/>
          <p:cNvSpPr/>
          <p:nvPr/>
        </p:nvSpPr>
        <p:spPr>
          <a:xfrm>
            <a:off x="10314432" y="301752"/>
            <a:ext cx="109728" cy="109728"/>
          </a:xfrm>
          <a:prstGeom prst="rect">
            <a:avLst/>
          </a:prstGeom>
          <a:solidFill>
            <a:schemeClr val="accent1"/>
          </a:solidFill>
          <a:ln w="12700">
            <a:solidFill>
              <a:schemeClr val="accent1"/>
            </a:solidFill>
            <a:prstDash val="solid"/>
          </a:ln>
        </p:spPr>
      </p:sp>
      <p:sp>
        <p:nvSpPr>
          <p:cNvPr id="4" name="Shape 2"/>
          <p:cNvSpPr/>
          <p:nvPr/>
        </p:nvSpPr>
        <p:spPr>
          <a:xfrm>
            <a:off x="10488168" y="301752"/>
            <a:ext cx="109728" cy="109728"/>
          </a:xfrm>
          <a:prstGeom prst="rect">
            <a:avLst/>
          </a:prstGeom>
          <a:solidFill>
            <a:schemeClr val="accent1"/>
          </a:solidFill>
          <a:ln w="12700">
            <a:solidFill>
              <a:schemeClr val="accent1"/>
            </a:solidFill>
            <a:prstDash val="solid"/>
          </a:ln>
        </p:spPr>
      </p:sp>
      <p:sp>
        <p:nvSpPr>
          <p:cNvPr id="5" name="Shape 3"/>
          <p:cNvSpPr/>
          <p:nvPr/>
        </p:nvSpPr>
        <p:spPr>
          <a:xfrm>
            <a:off x="10661904" y="301752"/>
            <a:ext cx="109728" cy="109728"/>
          </a:xfrm>
          <a:prstGeom prst="rect">
            <a:avLst/>
          </a:prstGeom>
          <a:solidFill>
            <a:schemeClr val="accent1"/>
          </a:solidFill>
          <a:ln w="12700">
            <a:solidFill>
              <a:schemeClr val="accent1"/>
            </a:solidFill>
            <a:prstDash val="solid"/>
          </a:ln>
        </p:spPr>
      </p:sp>
      <p:sp>
        <p:nvSpPr>
          <p:cNvPr id="6" name="Shape 4"/>
          <p:cNvSpPr/>
          <p:nvPr/>
        </p:nvSpPr>
        <p:spPr>
          <a:xfrm>
            <a:off x="10835640" y="301752"/>
            <a:ext cx="109728" cy="109728"/>
          </a:xfrm>
          <a:prstGeom prst="rect">
            <a:avLst/>
          </a:prstGeom>
          <a:solidFill>
            <a:schemeClr val="accent1"/>
          </a:solidFill>
          <a:ln w="12700">
            <a:solidFill>
              <a:schemeClr val="accent1"/>
            </a:solidFill>
            <a:prstDash val="solid"/>
          </a:ln>
        </p:spPr>
      </p:sp>
      <p:sp>
        <p:nvSpPr>
          <p:cNvPr id="7" name="Shape 5"/>
          <p:cNvSpPr/>
          <p:nvPr/>
        </p:nvSpPr>
        <p:spPr>
          <a:xfrm>
            <a:off x="11009376" y="301752"/>
            <a:ext cx="109728" cy="109728"/>
          </a:xfrm>
          <a:prstGeom prst="rect">
            <a:avLst/>
          </a:prstGeom>
          <a:solidFill>
            <a:schemeClr val="accent1"/>
          </a:solidFill>
          <a:ln w="12700">
            <a:solidFill>
              <a:schemeClr val="accent1"/>
            </a:solidFill>
            <a:prstDash val="solid"/>
          </a:ln>
        </p:spPr>
      </p:sp>
      <p:sp>
        <p:nvSpPr>
          <p:cNvPr id="8" name="Shape 6"/>
          <p:cNvSpPr/>
          <p:nvPr/>
        </p:nvSpPr>
        <p:spPr>
          <a:xfrm>
            <a:off x="11183112" y="301752"/>
            <a:ext cx="109728" cy="109728"/>
          </a:xfrm>
          <a:prstGeom prst="rect">
            <a:avLst/>
          </a:prstGeom>
          <a:solidFill>
            <a:schemeClr val="accent5"/>
          </a:solidFill>
          <a:ln w="12700">
            <a:solidFill>
              <a:schemeClr val="accent5"/>
            </a:solidFill>
            <a:prstDash val="solid"/>
          </a:ln>
        </p:spPr>
      </p:sp>
      <p:sp>
        <p:nvSpPr>
          <p:cNvPr id="9" name="Shape 7"/>
          <p:cNvSpPr/>
          <p:nvPr/>
        </p:nvSpPr>
        <p:spPr>
          <a:xfrm>
            <a:off x="11356848" y="301752"/>
            <a:ext cx="109728" cy="109728"/>
          </a:xfrm>
          <a:prstGeom prst="rect">
            <a:avLst/>
          </a:prstGeom>
          <a:solidFill>
            <a:schemeClr val="accent5"/>
          </a:solidFill>
          <a:ln w="12700">
            <a:solidFill>
              <a:schemeClr val="accent5"/>
            </a:solidFill>
            <a:prstDash val="solid"/>
          </a:ln>
        </p:spPr>
      </p:sp>
      <p:sp>
        <p:nvSpPr>
          <p:cNvPr id="10" name="Shape 8"/>
          <p:cNvSpPr/>
          <p:nvPr/>
        </p:nvSpPr>
        <p:spPr>
          <a:xfrm>
            <a:off x="11530584" y="301752"/>
            <a:ext cx="109728" cy="109728"/>
          </a:xfrm>
          <a:prstGeom prst="rect">
            <a:avLst/>
          </a:prstGeom>
          <a:solidFill>
            <a:schemeClr val="accent5"/>
          </a:solidFill>
          <a:ln w="12700">
            <a:solidFill>
              <a:schemeClr val="accent5"/>
            </a:solidFill>
            <a:prstDash val="solid"/>
          </a:ln>
        </p:spPr>
      </p:sp>
      <p:sp>
        <p:nvSpPr>
          <p:cNvPr id="11" name="Text 0"/>
          <p:cNvSpPr>
            <a:spLocks noGrp="1"/>
          </p:cNvSpPr>
          <p:nvPr>
            <p:ph type="title" idx="100" hasCustomPrompt="1"/>
          </p:nvPr>
        </p:nvSpPr>
        <p:spPr>
          <a:xfrm>
            <a:off x="548640" y="530352"/>
            <a:ext cx="11091672" cy="640080"/>
          </a:xfrm>
          <a:prstGeom prst="rect">
            <a:avLst/>
          </a:prstGeom>
          <a:noFill/>
          <a:ln/>
        </p:spPr>
        <p:txBody>
          <a:bodyPr wrap="square" lIns="0" tIns="0" rIns="0" bIns="0" rtlCol="0" anchor="ctr"/>
          <a:lstStyle/>
          <a:p>
            <a:pPr marL="0" indent="0" algn="l">
              <a:buNone/>
            </a:pPr>
            <a:r>
              <a:rPr lang="en-US" sz="3200" b="1" dirty="0">
                <a:solidFill>
                  <a:schemeClr val="tx1"/>
                </a:solidFill>
              </a:rPr>
              <a:t>Why A* search?</a:t>
            </a:r>
            <a:endParaRPr lang="en-US" sz="3200" dirty="0"/>
          </a:p>
        </p:txBody>
      </p:sp>
      <p:sp>
        <p:nvSpPr>
          <p:cNvPr id="12" name="Text 10"/>
          <p:cNvSpPr txBox="1"/>
          <p:nvPr/>
        </p:nvSpPr>
        <p:spPr>
          <a:xfrm>
            <a:off x="548640" y="1417320"/>
            <a:ext cx="6766560" cy="914400"/>
          </a:xfrm>
          <a:prstGeom prst="rect">
            <a:avLst/>
          </a:prstGeom>
          <a:noFill/>
          <a:ln/>
        </p:spPr>
        <p:txBody>
          <a:bodyPr wrap="square" lIns="0" tIns="0" rIns="0" bIns="0" rtlCol="0" anchor="ctr"/>
          <a:lstStyle/>
          <a:p>
            <a:pPr marL="0" indent="0">
              <a:buNone/>
            </a:pPr>
            <a:r>
              <a:rPr lang="en-US" sz="4200" b="1" dirty="0">
                <a:solidFill>
                  <a:schemeClr val="accent4"/>
                </a:solidFill>
                <a:latin typeface="Consolas" pitchFamily="34" charset="0"/>
                <a:ea typeface="Consolas" pitchFamily="34" charset="-122"/>
                <a:cs typeface="Consolas" pitchFamily="34" charset="-120"/>
              </a:rPr>
              <a:t>f(n)</a:t>
            </a:r>
            <a:r>
              <a:rPr lang="en-US" sz="4200" b="1" dirty="0">
                <a:solidFill>
                  <a:schemeClr val="tx1"/>
                </a:solidFill>
                <a:latin typeface="Consolas" pitchFamily="34" charset="0"/>
                <a:ea typeface="Consolas" pitchFamily="34" charset="-122"/>
                <a:cs typeface="Consolas" pitchFamily="34" charset="-120"/>
              </a:rPr>
              <a:t> = </a:t>
            </a:r>
            <a:r>
              <a:rPr lang="en-US" sz="4200" b="1" dirty="0">
                <a:solidFill>
                  <a:schemeClr val="accent1"/>
                </a:solidFill>
                <a:latin typeface="Consolas" pitchFamily="34" charset="0"/>
                <a:ea typeface="Consolas" pitchFamily="34" charset="-122"/>
                <a:cs typeface="Consolas" pitchFamily="34" charset="-120"/>
              </a:rPr>
              <a:t>g(n)</a:t>
            </a:r>
            <a:r>
              <a:rPr lang="en-US" sz="4200" b="1" dirty="0">
                <a:solidFill>
                  <a:schemeClr val="tx1"/>
                </a:solidFill>
                <a:latin typeface="Consolas" pitchFamily="34" charset="0"/>
                <a:ea typeface="Consolas" pitchFamily="34" charset="-122"/>
                <a:cs typeface="Consolas" pitchFamily="34" charset="-120"/>
              </a:rPr>
              <a:t> + </a:t>
            </a:r>
            <a:r>
              <a:rPr lang="en-US" sz="4200" b="1" dirty="0">
                <a:solidFill>
                  <a:schemeClr val="accent2"/>
                </a:solidFill>
                <a:latin typeface="Consolas" pitchFamily="34" charset="0"/>
                <a:ea typeface="Consolas" pitchFamily="34" charset="-122"/>
                <a:cs typeface="Consolas" pitchFamily="34" charset="-120"/>
              </a:rPr>
              <a:t>h(n)</a:t>
            </a:r>
            <a:endParaRPr lang="en-US" sz="4200" dirty="0"/>
          </a:p>
        </p:txBody>
      </p:sp>
      <p:sp>
        <p:nvSpPr>
          <p:cNvPr id="13" name="Shape 11"/>
          <p:cNvSpPr/>
          <p:nvPr/>
        </p:nvSpPr>
        <p:spPr>
          <a:xfrm>
            <a:off x="914400" y="3429000"/>
            <a:ext cx="2971800" cy="0"/>
          </a:xfrm>
          <a:prstGeom prst="line">
            <a:avLst/>
          </a:prstGeom>
          <a:noFill/>
          <a:ln w="31750">
            <a:solidFill>
              <a:schemeClr val="accent1"/>
            </a:solidFill>
            <a:prstDash val="solid"/>
          </a:ln>
        </p:spPr>
      </p:sp>
      <p:sp>
        <p:nvSpPr>
          <p:cNvPr id="14" name="Shape 12"/>
          <p:cNvSpPr/>
          <p:nvPr/>
        </p:nvSpPr>
        <p:spPr>
          <a:xfrm>
            <a:off x="3931920" y="3429000"/>
            <a:ext cx="2743200" cy="0"/>
          </a:xfrm>
          <a:prstGeom prst="line">
            <a:avLst/>
          </a:prstGeom>
          <a:noFill/>
          <a:ln w="31750">
            <a:solidFill>
              <a:schemeClr val="accent2"/>
            </a:solidFill>
            <a:prstDash val="dash"/>
          </a:ln>
        </p:spPr>
      </p:sp>
      <p:sp>
        <p:nvSpPr>
          <p:cNvPr id="15" name="Shape 13"/>
          <p:cNvSpPr/>
          <p:nvPr/>
        </p:nvSpPr>
        <p:spPr>
          <a:xfrm>
            <a:off x="640080" y="3154680"/>
            <a:ext cx="548640" cy="548640"/>
          </a:xfrm>
          <a:prstGeom prst="ellipse">
            <a:avLst/>
          </a:prstGeom>
          <a:solidFill>
            <a:schemeClr val="bg2"/>
          </a:solidFill>
          <a:ln w="25400">
            <a:solidFill>
              <a:schemeClr val="accent1"/>
            </a:solidFill>
            <a:prstDash val="solid"/>
          </a:ln>
        </p:spPr>
      </p:sp>
      <p:sp>
        <p:nvSpPr>
          <p:cNvPr id="16" name="Text 14"/>
          <p:cNvSpPr txBox="1"/>
          <p:nvPr/>
        </p:nvSpPr>
        <p:spPr>
          <a:xfrm>
            <a:off x="640080" y="3154680"/>
            <a:ext cx="548640" cy="548640"/>
          </a:xfrm>
          <a:prstGeom prst="rect">
            <a:avLst/>
          </a:prstGeom>
          <a:noFill/>
          <a:ln/>
        </p:spPr>
        <p:txBody>
          <a:bodyPr wrap="square" lIns="0" tIns="0" rIns="0" bIns="0" rtlCol="0" anchor="ctr"/>
          <a:lstStyle/>
          <a:p>
            <a:pPr marL="0" indent="0" algn="ctr">
              <a:buNone/>
            </a:pPr>
            <a:r>
              <a:rPr lang="en-US" sz="1600" b="1" dirty="0">
                <a:solidFill>
                  <a:schemeClr val="accent1"/>
                </a:solidFill>
                <a:latin typeface="Consolas" pitchFamily="34" charset="0"/>
                <a:ea typeface="Consolas" pitchFamily="34" charset="-122"/>
                <a:cs typeface="Consolas" pitchFamily="34" charset="-120"/>
              </a:rPr>
              <a:t>S</a:t>
            </a:r>
            <a:endParaRPr lang="en-US" sz="1600" dirty="0"/>
          </a:p>
        </p:txBody>
      </p:sp>
      <p:sp>
        <p:nvSpPr>
          <p:cNvPr id="17" name="Text 15"/>
          <p:cNvSpPr txBox="1"/>
          <p:nvPr/>
        </p:nvSpPr>
        <p:spPr>
          <a:xfrm>
            <a:off x="182880" y="3776472"/>
            <a:ext cx="1463040" cy="228600"/>
          </a:xfrm>
          <a:prstGeom prst="rect">
            <a:avLst/>
          </a:prstGeom>
          <a:noFill/>
          <a:ln/>
        </p:spPr>
        <p:txBody>
          <a:bodyPr wrap="square" lIns="0" tIns="0" rIns="0" bIns="0" rtlCol="0" anchor="t"/>
          <a:lstStyle/>
          <a:p>
            <a:pPr marL="0" indent="0" algn="ctr">
              <a:buNone/>
            </a:pPr>
            <a:r>
              <a:rPr lang="en-US" sz="1100" dirty="0">
                <a:solidFill>
                  <a:schemeClr val="tx2"/>
                </a:solidFill>
              </a:rPr>
              <a:t>Drone</a:t>
            </a:r>
            <a:endParaRPr lang="en-US" sz="1100" dirty="0"/>
          </a:p>
        </p:txBody>
      </p:sp>
      <p:sp>
        <p:nvSpPr>
          <p:cNvPr id="18" name="Shape 16"/>
          <p:cNvSpPr/>
          <p:nvPr/>
        </p:nvSpPr>
        <p:spPr>
          <a:xfrm>
            <a:off x="3657600" y="3154680"/>
            <a:ext cx="548640" cy="548640"/>
          </a:xfrm>
          <a:prstGeom prst="ellipse">
            <a:avLst/>
          </a:prstGeom>
          <a:solidFill>
            <a:schemeClr val="bg2"/>
          </a:solidFill>
          <a:ln w="25400">
            <a:solidFill>
              <a:schemeClr val="tx2"/>
            </a:solidFill>
            <a:prstDash val="solid"/>
          </a:ln>
        </p:spPr>
      </p:sp>
      <p:sp>
        <p:nvSpPr>
          <p:cNvPr id="19" name="Text 17"/>
          <p:cNvSpPr txBox="1"/>
          <p:nvPr/>
        </p:nvSpPr>
        <p:spPr>
          <a:xfrm>
            <a:off x="3657600" y="3154680"/>
            <a:ext cx="548640" cy="548640"/>
          </a:xfrm>
          <a:prstGeom prst="rect">
            <a:avLst/>
          </a:prstGeom>
          <a:noFill/>
          <a:ln/>
        </p:spPr>
        <p:txBody>
          <a:bodyPr wrap="square" lIns="0" tIns="0" rIns="0" bIns="0" rtlCol="0" anchor="ctr"/>
          <a:lstStyle/>
          <a:p>
            <a:pPr marL="0" indent="0" algn="ctr">
              <a:buNone/>
            </a:pPr>
            <a:r>
              <a:rPr lang="en-US" sz="1600" b="1" dirty="0">
                <a:solidFill>
                  <a:schemeClr val="tx2"/>
                </a:solidFill>
                <a:latin typeface="Consolas" pitchFamily="34" charset="0"/>
                <a:ea typeface="Consolas" pitchFamily="34" charset="-122"/>
                <a:cs typeface="Consolas" pitchFamily="34" charset="-120"/>
              </a:rPr>
              <a:t>n</a:t>
            </a:r>
            <a:endParaRPr lang="en-US" sz="1600" dirty="0"/>
          </a:p>
        </p:txBody>
      </p:sp>
      <p:sp>
        <p:nvSpPr>
          <p:cNvPr id="20" name="Text 18"/>
          <p:cNvSpPr txBox="1"/>
          <p:nvPr/>
        </p:nvSpPr>
        <p:spPr>
          <a:xfrm>
            <a:off x="3200400" y="3776472"/>
            <a:ext cx="1463040" cy="228600"/>
          </a:xfrm>
          <a:prstGeom prst="rect">
            <a:avLst/>
          </a:prstGeom>
          <a:noFill/>
          <a:ln/>
        </p:spPr>
        <p:txBody>
          <a:bodyPr wrap="square" lIns="0" tIns="0" rIns="0" bIns="0" rtlCol="0" anchor="t"/>
          <a:lstStyle/>
          <a:p>
            <a:pPr marL="0" indent="0" algn="ctr">
              <a:buNone/>
            </a:pPr>
            <a:r>
              <a:rPr lang="en-US" sz="1100" dirty="0">
                <a:solidFill>
                  <a:schemeClr val="tx2"/>
                </a:solidFill>
              </a:rPr>
              <a:t>Current state</a:t>
            </a:r>
            <a:endParaRPr lang="en-US" sz="1100" dirty="0"/>
          </a:p>
        </p:txBody>
      </p:sp>
      <p:sp>
        <p:nvSpPr>
          <p:cNvPr id="21" name="Shape 19"/>
          <p:cNvSpPr/>
          <p:nvPr/>
        </p:nvSpPr>
        <p:spPr>
          <a:xfrm>
            <a:off x="6400800" y="3154680"/>
            <a:ext cx="548640" cy="548640"/>
          </a:xfrm>
          <a:prstGeom prst="ellipse">
            <a:avLst/>
          </a:prstGeom>
          <a:solidFill>
            <a:schemeClr val="bg2"/>
          </a:solidFill>
          <a:ln w="25400">
            <a:solidFill>
              <a:schemeClr val="accent2"/>
            </a:solidFill>
            <a:prstDash val="solid"/>
          </a:ln>
        </p:spPr>
      </p:sp>
      <p:sp>
        <p:nvSpPr>
          <p:cNvPr id="22" name="Text 20"/>
          <p:cNvSpPr txBox="1"/>
          <p:nvPr/>
        </p:nvSpPr>
        <p:spPr>
          <a:xfrm>
            <a:off x="6400800" y="3154680"/>
            <a:ext cx="548640" cy="548640"/>
          </a:xfrm>
          <a:prstGeom prst="rect">
            <a:avLst/>
          </a:prstGeom>
          <a:noFill/>
          <a:ln/>
        </p:spPr>
        <p:txBody>
          <a:bodyPr wrap="square" lIns="0" tIns="0" rIns="0" bIns="0" rtlCol="0" anchor="ctr"/>
          <a:lstStyle/>
          <a:p>
            <a:pPr marL="0" indent="0" algn="ctr">
              <a:buNone/>
            </a:pPr>
            <a:r>
              <a:rPr lang="en-US" sz="1600" b="1" dirty="0">
                <a:solidFill>
                  <a:schemeClr val="accent2"/>
                </a:solidFill>
                <a:latin typeface="Consolas" pitchFamily="34" charset="0"/>
                <a:ea typeface="Consolas" pitchFamily="34" charset="-122"/>
                <a:cs typeface="Consolas" pitchFamily="34" charset="-120"/>
              </a:rPr>
              <a:t>G</a:t>
            </a:r>
            <a:endParaRPr lang="en-US" sz="1600" dirty="0"/>
          </a:p>
        </p:txBody>
      </p:sp>
      <p:sp>
        <p:nvSpPr>
          <p:cNvPr id="23" name="Text 21"/>
          <p:cNvSpPr txBox="1"/>
          <p:nvPr/>
        </p:nvSpPr>
        <p:spPr>
          <a:xfrm>
            <a:off x="5943600" y="3776472"/>
            <a:ext cx="1463040" cy="228600"/>
          </a:xfrm>
          <a:prstGeom prst="rect">
            <a:avLst/>
          </a:prstGeom>
          <a:noFill/>
          <a:ln/>
        </p:spPr>
        <p:txBody>
          <a:bodyPr wrap="square" lIns="0" tIns="0" rIns="0" bIns="0" rtlCol="0" anchor="t"/>
          <a:lstStyle/>
          <a:p>
            <a:pPr marL="0" indent="0" algn="ctr">
              <a:buNone/>
            </a:pPr>
            <a:r>
              <a:rPr lang="en-US" sz="1100" dirty="0">
                <a:solidFill>
                  <a:schemeClr val="tx2"/>
                </a:solidFill>
              </a:rPr>
              <a:t>Survivor</a:t>
            </a:r>
            <a:endParaRPr lang="en-US" sz="1100" dirty="0"/>
          </a:p>
        </p:txBody>
      </p:sp>
      <p:sp>
        <p:nvSpPr>
          <p:cNvPr id="24" name="Text 22"/>
          <p:cNvSpPr txBox="1"/>
          <p:nvPr/>
        </p:nvSpPr>
        <p:spPr>
          <a:xfrm>
            <a:off x="1554480" y="2770632"/>
            <a:ext cx="1645920" cy="274320"/>
          </a:xfrm>
          <a:prstGeom prst="rect">
            <a:avLst/>
          </a:prstGeom>
          <a:noFill/>
          <a:ln/>
        </p:spPr>
        <p:txBody>
          <a:bodyPr wrap="square" lIns="0" tIns="0" rIns="0" bIns="0" rtlCol="0" anchor="t"/>
          <a:lstStyle/>
          <a:p>
            <a:pPr marL="0" indent="0" algn="ctr">
              <a:buNone/>
            </a:pPr>
            <a:r>
              <a:rPr lang="en-US" sz="1600" b="1" dirty="0">
                <a:solidFill>
                  <a:schemeClr val="accent1"/>
                </a:solidFill>
                <a:latin typeface="Consolas" pitchFamily="34" charset="0"/>
                <a:ea typeface="Consolas" pitchFamily="34" charset="-122"/>
                <a:cs typeface="Consolas" pitchFamily="34" charset="-120"/>
              </a:rPr>
              <a:t>g(n)</a:t>
            </a:r>
            <a:endParaRPr lang="en-US" sz="1600" dirty="0"/>
          </a:p>
        </p:txBody>
      </p:sp>
      <p:sp>
        <p:nvSpPr>
          <p:cNvPr id="25" name="Text 23"/>
          <p:cNvSpPr txBox="1"/>
          <p:nvPr/>
        </p:nvSpPr>
        <p:spPr>
          <a:xfrm>
            <a:off x="1371600" y="3063240"/>
            <a:ext cx="2011680" cy="228600"/>
          </a:xfrm>
          <a:prstGeom prst="rect">
            <a:avLst/>
          </a:prstGeom>
          <a:noFill/>
          <a:ln/>
        </p:spPr>
        <p:txBody>
          <a:bodyPr wrap="square" lIns="0" tIns="0" rIns="0" bIns="0" rtlCol="0" anchor="t"/>
          <a:lstStyle/>
          <a:p>
            <a:pPr marL="0" indent="0" algn="ctr">
              <a:buNone/>
            </a:pPr>
            <a:r>
              <a:rPr lang="en-US" sz="1100" dirty="0">
                <a:solidFill>
                  <a:schemeClr val="tx2"/>
                </a:solidFill>
              </a:rPr>
              <a:t>cost already travelled</a:t>
            </a:r>
            <a:endParaRPr lang="en-US" sz="1100" dirty="0"/>
          </a:p>
        </p:txBody>
      </p:sp>
      <p:sp>
        <p:nvSpPr>
          <p:cNvPr id="26" name="Text 24"/>
          <p:cNvSpPr txBox="1"/>
          <p:nvPr/>
        </p:nvSpPr>
        <p:spPr>
          <a:xfrm>
            <a:off x="4480560" y="2770632"/>
            <a:ext cx="1645920" cy="274320"/>
          </a:xfrm>
          <a:prstGeom prst="rect">
            <a:avLst/>
          </a:prstGeom>
          <a:noFill/>
          <a:ln/>
        </p:spPr>
        <p:txBody>
          <a:bodyPr wrap="square" lIns="0" tIns="0" rIns="0" bIns="0" rtlCol="0" anchor="t"/>
          <a:lstStyle/>
          <a:p>
            <a:pPr marL="0" indent="0" algn="ctr">
              <a:buNone/>
            </a:pPr>
            <a:r>
              <a:rPr lang="en-US" sz="1600" b="1" dirty="0">
                <a:solidFill>
                  <a:schemeClr val="accent2"/>
                </a:solidFill>
                <a:latin typeface="Consolas" pitchFamily="34" charset="0"/>
                <a:ea typeface="Consolas" pitchFamily="34" charset="-122"/>
                <a:cs typeface="Consolas" pitchFamily="34" charset="-120"/>
              </a:rPr>
              <a:t>h(n)</a:t>
            </a:r>
            <a:endParaRPr lang="en-US" sz="1600" dirty="0"/>
          </a:p>
        </p:txBody>
      </p:sp>
      <p:sp>
        <p:nvSpPr>
          <p:cNvPr id="27" name="Text 25"/>
          <p:cNvSpPr txBox="1"/>
          <p:nvPr/>
        </p:nvSpPr>
        <p:spPr>
          <a:xfrm>
            <a:off x="4297680" y="3063240"/>
            <a:ext cx="2103120" cy="228600"/>
          </a:xfrm>
          <a:prstGeom prst="rect">
            <a:avLst/>
          </a:prstGeom>
          <a:noFill/>
          <a:ln/>
        </p:spPr>
        <p:txBody>
          <a:bodyPr wrap="square" lIns="0" tIns="0" rIns="0" bIns="0" rtlCol="0" anchor="t"/>
          <a:lstStyle/>
          <a:p>
            <a:pPr marL="0" indent="0" algn="ctr">
              <a:buNone/>
            </a:pPr>
            <a:r>
              <a:rPr lang="en-US" sz="1100" dirty="0">
                <a:solidFill>
                  <a:schemeClr val="tx2"/>
                </a:solidFill>
              </a:rPr>
              <a:t>estimated cost remaining</a:t>
            </a:r>
            <a:endParaRPr lang="en-US" sz="1100" dirty="0"/>
          </a:p>
        </p:txBody>
      </p:sp>
      <p:sp>
        <p:nvSpPr>
          <p:cNvPr id="28" name="Shape 26"/>
          <p:cNvSpPr/>
          <p:nvPr/>
        </p:nvSpPr>
        <p:spPr>
          <a:xfrm>
            <a:off x="914400" y="4572000"/>
            <a:ext cx="5760720" cy="0"/>
          </a:xfrm>
          <a:prstGeom prst="line">
            <a:avLst/>
          </a:prstGeom>
          <a:noFill/>
          <a:ln w="25400">
            <a:solidFill>
              <a:schemeClr val="accent4"/>
            </a:solidFill>
            <a:prstDash val="solid"/>
          </a:ln>
        </p:spPr>
      </p:sp>
      <p:sp>
        <p:nvSpPr>
          <p:cNvPr id="29" name="Shape 27"/>
          <p:cNvSpPr/>
          <p:nvPr/>
        </p:nvSpPr>
        <p:spPr>
          <a:xfrm>
            <a:off x="914400" y="4480560"/>
            <a:ext cx="0" cy="182880"/>
          </a:xfrm>
          <a:prstGeom prst="line">
            <a:avLst/>
          </a:prstGeom>
          <a:noFill/>
          <a:ln w="25400">
            <a:solidFill>
              <a:schemeClr val="accent4"/>
            </a:solidFill>
            <a:prstDash val="solid"/>
          </a:ln>
        </p:spPr>
      </p:sp>
      <p:sp>
        <p:nvSpPr>
          <p:cNvPr id="30" name="Shape 28"/>
          <p:cNvSpPr/>
          <p:nvPr/>
        </p:nvSpPr>
        <p:spPr>
          <a:xfrm>
            <a:off x="6675120" y="4480560"/>
            <a:ext cx="0" cy="182880"/>
          </a:xfrm>
          <a:prstGeom prst="line">
            <a:avLst/>
          </a:prstGeom>
          <a:noFill/>
          <a:ln w="25400">
            <a:solidFill>
              <a:schemeClr val="accent4"/>
            </a:solidFill>
            <a:prstDash val="solid"/>
          </a:ln>
        </p:spPr>
      </p:sp>
      <p:sp>
        <p:nvSpPr>
          <p:cNvPr id="31" name="Text 29"/>
          <p:cNvSpPr txBox="1"/>
          <p:nvPr/>
        </p:nvSpPr>
        <p:spPr>
          <a:xfrm>
            <a:off x="914400" y="4754880"/>
            <a:ext cx="548640" cy="274320"/>
          </a:xfrm>
          <a:prstGeom prst="rect">
            <a:avLst/>
          </a:prstGeom>
          <a:noFill/>
          <a:ln/>
        </p:spPr>
        <p:txBody>
          <a:bodyPr wrap="square" lIns="0" tIns="0" rIns="0" bIns="0" rtlCol="0" anchor="t"/>
          <a:lstStyle/>
          <a:p>
            <a:pPr marL="0" indent="0">
              <a:buNone/>
            </a:pPr>
            <a:r>
              <a:rPr lang="en-US" sz="1400" b="1" dirty="0">
                <a:solidFill>
                  <a:schemeClr val="accent4"/>
                </a:solidFill>
                <a:latin typeface="Consolas" pitchFamily="34" charset="0"/>
                <a:ea typeface="Consolas" pitchFamily="34" charset="-122"/>
                <a:cs typeface="Consolas" pitchFamily="34" charset="-120"/>
              </a:rPr>
              <a:t>f(n)</a:t>
            </a:r>
            <a:endParaRPr lang="en-US" sz="1400" dirty="0"/>
          </a:p>
        </p:txBody>
      </p:sp>
      <p:sp>
        <p:nvSpPr>
          <p:cNvPr id="32" name="Text 30"/>
          <p:cNvSpPr txBox="1"/>
          <p:nvPr/>
        </p:nvSpPr>
        <p:spPr>
          <a:xfrm>
            <a:off x="1508760" y="4754880"/>
            <a:ext cx="5029200" cy="274320"/>
          </a:xfrm>
          <a:prstGeom prst="rect">
            <a:avLst/>
          </a:prstGeom>
          <a:noFill/>
          <a:ln/>
        </p:spPr>
        <p:txBody>
          <a:bodyPr wrap="square" lIns="0" tIns="0" rIns="0" bIns="0" rtlCol="0" anchor="t"/>
          <a:lstStyle/>
          <a:p>
            <a:pPr marL="0" indent="0">
              <a:buNone/>
            </a:pPr>
            <a:r>
              <a:rPr lang="en-US" sz="1400" dirty="0">
                <a:solidFill>
                  <a:schemeClr val="tx1"/>
                </a:solidFill>
              </a:rPr>
              <a:t>total estimated cost of a path through n</a:t>
            </a:r>
            <a:endParaRPr lang="en-US" sz="1400" dirty="0"/>
          </a:p>
        </p:txBody>
      </p:sp>
      <p:sp>
        <p:nvSpPr>
          <p:cNvPr id="33" name="Why it fits"/>
          <p:cNvSpPr/>
          <p:nvPr/>
        </p:nvSpPr>
        <p:spPr>
          <a:xfrm>
            <a:off x="7498080" y="1417320"/>
            <a:ext cx="4142232" cy="2697480"/>
          </a:xfrm>
          <a:prstGeom prst="roundRect">
            <a:avLst>
              <a:gd name="adj" fmla="val 2712"/>
            </a:avLst>
          </a:prstGeom>
          <a:solidFill>
            <a:schemeClr val="bg2"/>
          </a:solidFill>
          <a:ln w="12700">
            <a:solidFill>
              <a:schemeClr val="accent5"/>
            </a:solidFill>
            <a:prstDash val="solid"/>
          </a:ln>
        </p:spPr>
      </p:sp>
      <p:sp>
        <p:nvSpPr>
          <p:cNvPr id="34" name="Text 32"/>
          <p:cNvSpPr txBox="1"/>
          <p:nvPr/>
        </p:nvSpPr>
        <p:spPr>
          <a:xfrm>
            <a:off x="7699248" y="1572768"/>
            <a:ext cx="3657600" cy="201168"/>
          </a:xfrm>
          <a:prstGeom prst="rect">
            <a:avLst/>
          </a:prstGeom>
          <a:noFill/>
          <a:ln/>
        </p:spPr>
        <p:txBody>
          <a:bodyPr wrap="square" lIns="0" tIns="0" rIns="0" bIns="0" rtlCol="0" anchor="t"/>
          <a:lstStyle/>
          <a:p>
            <a:pPr marL="0" indent="0">
              <a:buNone/>
            </a:pPr>
            <a:r>
              <a:rPr lang="en-US" sz="900" b="1" dirty="0">
                <a:solidFill>
                  <a:schemeClr val="tx2"/>
                </a:solidFill>
                <a:latin typeface="Consolas" pitchFamily="34" charset="0"/>
                <a:ea typeface="Consolas" pitchFamily="34" charset="-122"/>
                <a:cs typeface="Consolas" pitchFamily="34" charset="-120"/>
              </a:rPr>
              <a:t>WHY IT FITS OUR DRONE</a:t>
            </a:r>
            <a:endParaRPr lang="en-US" sz="900" dirty="0"/>
          </a:p>
        </p:txBody>
      </p:sp>
      <p:pic>
        <p:nvPicPr>
          <p:cNvPr id="35" name="Image 0" descr="preencoded.png"/>
          <p:cNvPicPr>
            <a:picLocks noChangeAspect="1"/>
          </p:cNvPicPr>
          <p:nvPr/>
        </p:nvPicPr>
        <p:blipFill>
          <a:blip r:embed="rId3"/>
          <a:stretch>
            <a:fillRect/>
          </a:stretch>
        </p:blipFill>
        <p:spPr>
          <a:xfrm>
            <a:off x="7699248" y="1956816"/>
            <a:ext cx="274320" cy="274320"/>
          </a:xfrm>
          <a:prstGeom prst="rect">
            <a:avLst/>
          </a:prstGeom>
        </p:spPr>
      </p:pic>
      <p:sp>
        <p:nvSpPr>
          <p:cNvPr id="36" name="Text 33"/>
          <p:cNvSpPr txBox="1"/>
          <p:nvPr/>
        </p:nvSpPr>
        <p:spPr>
          <a:xfrm>
            <a:off x="8138160" y="1920240"/>
            <a:ext cx="3291840" cy="274320"/>
          </a:xfrm>
          <a:prstGeom prst="rect">
            <a:avLst/>
          </a:prstGeom>
          <a:noFill/>
          <a:ln/>
        </p:spPr>
        <p:txBody>
          <a:bodyPr wrap="square" lIns="0" tIns="0" rIns="0" bIns="0" rtlCol="0" anchor="t"/>
          <a:lstStyle/>
          <a:p>
            <a:pPr marL="0" indent="0">
              <a:buNone/>
            </a:pPr>
            <a:r>
              <a:rPr lang="en-US" sz="1600" b="1" dirty="0">
                <a:solidFill>
                  <a:schemeClr val="tx1"/>
                </a:solidFill>
              </a:rPr>
              <a:t>The goal location is known</a:t>
            </a:r>
            <a:endParaRPr lang="en-US" sz="1600" dirty="0"/>
          </a:p>
        </p:txBody>
      </p:sp>
      <p:sp>
        <p:nvSpPr>
          <p:cNvPr id="37" name="Text 34"/>
          <p:cNvSpPr txBox="1"/>
          <p:nvPr/>
        </p:nvSpPr>
        <p:spPr>
          <a:xfrm>
            <a:off x="8138160" y="2212848"/>
            <a:ext cx="3291840" cy="256032"/>
          </a:xfrm>
          <a:prstGeom prst="rect">
            <a:avLst/>
          </a:prstGeom>
          <a:noFill/>
          <a:ln/>
        </p:spPr>
        <p:txBody>
          <a:bodyPr wrap="square" lIns="0" tIns="0" rIns="0" bIns="0" rtlCol="0" anchor="t"/>
          <a:lstStyle/>
          <a:p>
            <a:pPr marL="0" indent="0">
              <a:buNone/>
            </a:pPr>
            <a:r>
              <a:rPr lang="en-US" sz="1200" dirty="0">
                <a:solidFill>
                  <a:schemeClr val="tx2"/>
                </a:solidFill>
              </a:rPr>
              <a:t>Computer vision supplies it</a:t>
            </a:r>
            <a:endParaRPr lang="en-US" sz="1200" dirty="0"/>
          </a:p>
        </p:txBody>
      </p:sp>
      <p:pic>
        <p:nvPicPr>
          <p:cNvPr id="38" name="Image 1" descr="preencoded.png"/>
          <p:cNvPicPr>
            <a:picLocks noChangeAspect="1"/>
          </p:cNvPicPr>
          <p:nvPr/>
        </p:nvPicPr>
        <p:blipFill>
          <a:blip r:embed="rId3"/>
          <a:stretch>
            <a:fillRect/>
          </a:stretch>
        </p:blipFill>
        <p:spPr>
          <a:xfrm>
            <a:off x="7699248" y="2670048"/>
            <a:ext cx="274320" cy="274320"/>
          </a:xfrm>
          <a:prstGeom prst="rect">
            <a:avLst/>
          </a:prstGeom>
        </p:spPr>
      </p:pic>
      <p:sp>
        <p:nvSpPr>
          <p:cNvPr id="39" name="Text 35"/>
          <p:cNvSpPr txBox="1"/>
          <p:nvPr/>
        </p:nvSpPr>
        <p:spPr>
          <a:xfrm>
            <a:off x="8138160" y="2633472"/>
            <a:ext cx="3291840" cy="274320"/>
          </a:xfrm>
          <a:prstGeom prst="rect">
            <a:avLst/>
          </a:prstGeom>
          <a:noFill/>
          <a:ln/>
        </p:spPr>
        <p:txBody>
          <a:bodyPr wrap="square" lIns="0" tIns="0" rIns="0" bIns="0" rtlCol="0" anchor="t"/>
          <a:lstStyle/>
          <a:p>
            <a:pPr marL="0" indent="0">
              <a:buNone/>
            </a:pPr>
            <a:r>
              <a:rPr lang="en-US" sz="1600" b="1" dirty="0">
                <a:solidFill>
                  <a:schemeClr val="tx1"/>
                </a:solidFill>
              </a:rPr>
              <a:t>Every move has a cost</a:t>
            </a:r>
            <a:endParaRPr lang="en-US" sz="1600" dirty="0"/>
          </a:p>
        </p:txBody>
      </p:sp>
      <p:sp>
        <p:nvSpPr>
          <p:cNvPr id="40" name="Text 36"/>
          <p:cNvSpPr txBox="1"/>
          <p:nvPr/>
        </p:nvSpPr>
        <p:spPr>
          <a:xfrm>
            <a:off x="8138160" y="2926080"/>
            <a:ext cx="3291840" cy="256032"/>
          </a:xfrm>
          <a:prstGeom prst="rect">
            <a:avLst/>
          </a:prstGeom>
          <a:noFill/>
          <a:ln/>
        </p:spPr>
        <p:txBody>
          <a:bodyPr wrap="square" lIns="0" tIns="0" rIns="0" bIns="0" rtlCol="0" anchor="t"/>
          <a:lstStyle/>
          <a:p>
            <a:pPr marL="0" indent="0">
              <a:buNone/>
            </a:pPr>
            <a:r>
              <a:rPr lang="en-US" sz="1200" dirty="0">
                <a:solidFill>
                  <a:schemeClr val="tx2"/>
                </a:solidFill>
              </a:rPr>
              <a:t>Time and battery</a:t>
            </a:r>
            <a:endParaRPr lang="en-US" sz="1200" dirty="0"/>
          </a:p>
        </p:txBody>
      </p:sp>
      <p:pic>
        <p:nvPicPr>
          <p:cNvPr id="41" name="Image 2" descr="preencoded.png"/>
          <p:cNvPicPr>
            <a:picLocks noChangeAspect="1"/>
          </p:cNvPicPr>
          <p:nvPr/>
        </p:nvPicPr>
        <p:blipFill>
          <a:blip r:embed="rId3"/>
          <a:stretch>
            <a:fillRect/>
          </a:stretch>
        </p:blipFill>
        <p:spPr>
          <a:xfrm>
            <a:off x="7699248" y="3383280"/>
            <a:ext cx="274320" cy="274320"/>
          </a:xfrm>
          <a:prstGeom prst="rect">
            <a:avLst/>
          </a:prstGeom>
        </p:spPr>
      </p:pic>
      <p:sp>
        <p:nvSpPr>
          <p:cNvPr id="42" name="Text 37"/>
          <p:cNvSpPr txBox="1"/>
          <p:nvPr/>
        </p:nvSpPr>
        <p:spPr>
          <a:xfrm>
            <a:off x="8138160" y="3346704"/>
            <a:ext cx="3291840" cy="274320"/>
          </a:xfrm>
          <a:prstGeom prst="rect">
            <a:avLst/>
          </a:prstGeom>
          <a:noFill/>
          <a:ln/>
        </p:spPr>
        <p:txBody>
          <a:bodyPr wrap="square" lIns="0" tIns="0" rIns="0" bIns="0" rtlCol="0" anchor="t"/>
          <a:lstStyle/>
          <a:p>
            <a:pPr marL="0" indent="0">
              <a:buNone/>
            </a:pPr>
            <a:r>
              <a:rPr lang="en-US" sz="1600" b="1" dirty="0">
                <a:solidFill>
                  <a:schemeClr val="tx1"/>
                </a:solidFill>
              </a:rPr>
              <a:t>We want the cheapest path</a:t>
            </a:r>
            <a:endParaRPr lang="en-US" sz="1600" dirty="0"/>
          </a:p>
        </p:txBody>
      </p:sp>
      <p:sp>
        <p:nvSpPr>
          <p:cNvPr id="43" name="Text 38"/>
          <p:cNvSpPr txBox="1"/>
          <p:nvPr/>
        </p:nvSpPr>
        <p:spPr>
          <a:xfrm>
            <a:off x="8138160" y="3639312"/>
            <a:ext cx="3291840" cy="256032"/>
          </a:xfrm>
          <a:prstGeom prst="rect">
            <a:avLst/>
          </a:prstGeom>
          <a:noFill/>
          <a:ln/>
        </p:spPr>
        <p:txBody>
          <a:bodyPr wrap="square" lIns="0" tIns="0" rIns="0" bIns="0" rtlCol="0" anchor="t"/>
          <a:lstStyle/>
          <a:p>
            <a:pPr marL="0" indent="0">
              <a:buNone/>
            </a:pPr>
            <a:r>
              <a:rPr lang="en-US" sz="1200" dirty="0">
                <a:solidFill>
                  <a:schemeClr val="tx2"/>
                </a:solidFill>
              </a:rPr>
              <a:t>Not just any path</a:t>
            </a:r>
            <a:endParaRPr lang="en-US" sz="1200" dirty="0"/>
          </a:p>
        </p:txBody>
      </p:sp>
      <p:sp>
        <p:nvSpPr>
          <p:cNvPr id="44" name="Heuristic"/>
          <p:cNvSpPr/>
          <p:nvPr/>
        </p:nvSpPr>
        <p:spPr>
          <a:xfrm>
            <a:off x="7498080" y="4297680"/>
            <a:ext cx="4142232" cy="1234440"/>
          </a:xfrm>
          <a:prstGeom prst="roundRect">
            <a:avLst>
              <a:gd name="adj" fmla="val 5926"/>
            </a:avLst>
          </a:prstGeom>
          <a:solidFill>
            <a:schemeClr val="accent2">
              <a:alpha val="10000"/>
            </a:schemeClr>
          </a:solidFill>
          <a:ln w="15875">
            <a:solidFill>
              <a:schemeClr val="accent2"/>
            </a:solidFill>
            <a:prstDash val="solid"/>
          </a:ln>
        </p:spPr>
      </p:sp>
      <p:sp>
        <p:nvSpPr>
          <p:cNvPr id="45" name="Text 40"/>
          <p:cNvSpPr txBox="1"/>
          <p:nvPr/>
        </p:nvSpPr>
        <p:spPr>
          <a:xfrm>
            <a:off x="7699248" y="4434840"/>
            <a:ext cx="3749040" cy="219456"/>
          </a:xfrm>
          <a:prstGeom prst="rect">
            <a:avLst/>
          </a:prstGeom>
          <a:noFill/>
          <a:ln/>
        </p:spPr>
        <p:txBody>
          <a:bodyPr wrap="square" lIns="0" tIns="0" rIns="0" bIns="0" rtlCol="0" anchor="t"/>
          <a:lstStyle/>
          <a:p>
            <a:pPr marL="0" indent="0">
              <a:buNone/>
            </a:pPr>
            <a:r>
              <a:rPr lang="en-US" sz="1000" b="1" dirty="0">
                <a:solidFill>
                  <a:schemeClr val="accent2"/>
                </a:solidFill>
                <a:latin typeface="Consolas" pitchFamily="34" charset="0"/>
                <a:ea typeface="Consolas" pitchFamily="34" charset="-122"/>
                <a:cs typeface="Consolas" pitchFamily="34" charset="-120"/>
              </a:rPr>
              <a:t>OUR h(n): MANHATTAN DISTANCE</a:t>
            </a:r>
            <a:endParaRPr lang="en-US" sz="1000" dirty="0"/>
          </a:p>
        </p:txBody>
      </p:sp>
      <p:sp>
        <p:nvSpPr>
          <p:cNvPr id="46" name="Text 41"/>
          <p:cNvSpPr txBox="1"/>
          <p:nvPr/>
        </p:nvSpPr>
        <p:spPr>
          <a:xfrm>
            <a:off x="7699248" y="4709160"/>
            <a:ext cx="3749040" cy="274320"/>
          </a:xfrm>
          <a:prstGeom prst="rect">
            <a:avLst/>
          </a:prstGeom>
          <a:noFill/>
          <a:ln/>
        </p:spPr>
        <p:txBody>
          <a:bodyPr wrap="square" lIns="0" tIns="0" rIns="0" bIns="0" rtlCol="0" anchor="t"/>
          <a:lstStyle/>
          <a:p>
            <a:pPr marL="0" indent="0">
              <a:buNone/>
            </a:pPr>
            <a:r>
              <a:rPr lang="en-US" sz="1600" b="1" dirty="0">
                <a:solidFill>
                  <a:schemeClr val="tx1"/>
                </a:solidFill>
                <a:latin typeface="Consolas" pitchFamily="34" charset="0"/>
                <a:ea typeface="Consolas" pitchFamily="34" charset="-122"/>
                <a:cs typeface="Consolas" pitchFamily="34" charset="-120"/>
              </a:rPr>
              <a:t>|Δcol| + |Δrow|</a:t>
            </a:r>
            <a:endParaRPr lang="en-US" sz="1600" dirty="0"/>
          </a:p>
        </p:txBody>
      </p:sp>
      <p:sp>
        <p:nvSpPr>
          <p:cNvPr id="47" name="Text 42"/>
          <p:cNvSpPr txBox="1"/>
          <p:nvPr/>
        </p:nvSpPr>
        <p:spPr>
          <a:xfrm>
            <a:off x="7699248" y="5074920"/>
            <a:ext cx="3749040" cy="256032"/>
          </a:xfrm>
          <a:prstGeom prst="rect">
            <a:avLst/>
          </a:prstGeom>
          <a:noFill/>
          <a:ln/>
        </p:spPr>
        <p:txBody>
          <a:bodyPr wrap="square" lIns="0" tIns="0" rIns="0" bIns="0" rtlCol="0" anchor="t"/>
          <a:lstStyle/>
          <a:p>
            <a:pPr marL="0" indent="0">
              <a:buNone/>
            </a:pPr>
            <a:r>
              <a:rPr lang="en-US" sz="1300" dirty="0">
                <a:solidFill>
                  <a:schemeClr val="tx2"/>
                </a:solidFill>
                <a:latin typeface="Consolas" pitchFamily="34" charset="0"/>
                <a:ea typeface="Consolas" pitchFamily="34" charset="-122"/>
                <a:cs typeface="Consolas" pitchFamily="34" charset="-120"/>
              </a:rPr>
              <a:t>e.g. h(A3) = 5 + 0 = 5</a:t>
            </a:r>
            <a:endParaRPr lang="en-US" sz="1300" dirty="0"/>
          </a:p>
        </p:txBody>
      </p:sp>
      <p:sp>
        <p:nvSpPr>
          <p:cNvPr id="48" name="Text 43"/>
          <p:cNvSpPr txBox="1"/>
          <p:nvPr/>
        </p:nvSpPr>
        <p:spPr>
          <a:xfrm>
            <a:off x="548640" y="5897880"/>
            <a:ext cx="11064240" cy="274320"/>
          </a:xfrm>
          <a:prstGeom prst="rect">
            <a:avLst/>
          </a:prstGeom>
          <a:noFill/>
          <a:ln/>
        </p:spPr>
        <p:txBody>
          <a:bodyPr wrap="square" lIns="0" tIns="0" rIns="0" bIns="0" rtlCol="0" anchor="t"/>
          <a:lstStyle/>
          <a:p>
            <a:pPr marL="0" indent="0">
              <a:buNone/>
            </a:pPr>
            <a:r>
              <a:rPr lang="en-US" sz="1100" dirty="0">
                <a:solidFill>
                  <a:schemeClr val="tx2"/>
                </a:solidFill>
                <a:latin typeface="Consolas" pitchFamily="34" charset="0"/>
                <a:ea typeface="Consolas" pitchFamily="34" charset="-122"/>
                <a:cs typeface="Consolas" pitchFamily="34" charset="-120"/>
              </a:rPr>
              <a:t>Informed search · Complete · Optimal when h never overestimates (Manhattan distance never does on our grid)</a:t>
            </a:r>
            <a:endParaRPr lang="en-US" sz="1100" dirty="0"/>
          </a:p>
        </p:txBody>
      </p:sp>
      <p:sp>
        <p:nvSpPr>
          <p:cNvPr id="49" name="Text 44"/>
          <p:cNvSpPr txBox="1"/>
          <p:nvPr/>
        </p:nvSpPr>
        <p:spPr>
          <a:xfrm>
            <a:off x="5852160" y="6473952"/>
            <a:ext cx="5212080" cy="228600"/>
          </a:xfrm>
          <a:prstGeom prst="rect">
            <a:avLst/>
          </a:prstGeom>
          <a:noFill/>
          <a:ln/>
        </p:spPr>
        <p:txBody>
          <a:bodyPr wrap="square" lIns="0" tIns="0" rIns="0" bIns="0" rtlCol="0" anchor="ctr"/>
          <a:lstStyle/>
          <a:p>
            <a:pPr marL="0" indent="0" algn="r">
              <a:buNone/>
            </a:pPr>
            <a:r>
              <a:rPr lang="en-US" sz="900" b="1" dirty="0">
                <a:solidFill>
                  <a:schemeClr val="accent2"/>
                </a:solidFill>
                <a:latin typeface="Consolas" pitchFamily="34" charset="0"/>
                <a:ea typeface="Consolas" pitchFamily="34" charset="-122"/>
                <a:cs typeface="Consolas" pitchFamily="34" charset="-120"/>
              </a:rPr>
              <a:t>RUBRIC · SEARCH STRATEGY IDENTIFIED · 3 MARKS</a:t>
            </a:r>
            <a:endParaRPr lang="en-US" sz="900" dirty="0"/>
          </a:p>
        </p:txBody>
      </p:sp>
      <p:sp>
        <p:nvSpPr>
          <p:cNvPr id="50" name="Slide Number Placeholder 0"/>
          <p:cNvSpPr>
            <a:spLocks noGrp="1"/>
          </p:cNvSpPr>
          <p:nvPr>
            <p:ph type="sldNum" sz="quarter" idx="4294967295"/>
          </p:nvPr>
        </p:nvSpPr>
        <p:spPr>
          <a:xfrm>
            <a:off x="11183112" y="6473952"/>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tx2"/>
                </a:solidFill>
                <a:latin typeface="Consolas"/>
                <a:ea typeface="Consolas"/>
                <a:cs typeface="Consolas"/>
              </a:defRPr>
            </a:lvl1pPr>
          </a:lstStyle>
          <a:p>
            <a:pPr algn="r"/>
            <a:fld id="{F7021451-1387-4CA6-816F-3879F97B5CBC}" type="slidenum">
              <a:rPr lang="en-US" b="0"/>
              <a:t>6</a:t>
            </a:fld>
            <a:endParaRPr lang="en-US"/>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74320"/>
            <a:ext cx="7315200" cy="201168"/>
          </a:xfrm>
          <a:prstGeom prst="rect">
            <a:avLst/>
          </a:prstGeom>
          <a:noFill/>
          <a:ln/>
        </p:spPr>
        <p:txBody>
          <a:bodyPr wrap="square" lIns="0" tIns="0" rIns="0" bIns="0" rtlCol="0" anchor="t"/>
          <a:lstStyle/>
          <a:p>
            <a:pPr marL="0" indent="0">
              <a:buNone/>
            </a:pPr>
            <a:r>
              <a:rPr lang="en-US" sz="1000" b="1" dirty="0">
                <a:solidFill>
                  <a:schemeClr val="accent1"/>
                </a:solidFill>
                <a:latin typeface="Consolas" pitchFamily="34" charset="0"/>
                <a:ea typeface="Consolas" pitchFamily="34" charset="-122"/>
                <a:cs typeface="Consolas" pitchFamily="34" charset="-120"/>
              </a:rPr>
              <a:t>PHASE 05 · A* IN ACTION · 1 / 2</a:t>
            </a:r>
            <a:endParaRPr lang="en-US" sz="1000" dirty="0"/>
          </a:p>
        </p:txBody>
      </p:sp>
      <p:sp>
        <p:nvSpPr>
          <p:cNvPr id="3" name="Shape 1"/>
          <p:cNvSpPr/>
          <p:nvPr/>
        </p:nvSpPr>
        <p:spPr>
          <a:xfrm>
            <a:off x="10314432" y="301752"/>
            <a:ext cx="109728" cy="109728"/>
          </a:xfrm>
          <a:prstGeom prst="rect">
            <a:avLst/>
          </a:prstGeom>
          <a:solidFill>
            <a:schemeClr val="accent1"/>
          </a:solidFill>
          <a:ln w="12700">
            <a:solidFill>
              <a:schemeClr val="accent1"/>
            </a:solidFill>
            <a:prstDash val="solid"/>
          </a:ln>
        </p:spPr>
      </p:sp>
      <p:sp>
        <p:nvSpPr>
          <p:cNvPr id="4" name="Shape 2"/>
          <p:cNvSpPr/>
          <p:nvPr/>
        </p:nvSpPr>
        <p:spPr>
          <a:xfrm>
            <a:off x="10488168" y="301752"/>
            <a:ext cx="109728" cy="109728"/>
          </a:xfrm>
          <a:prstGeom prst="rect">
            <a:avLst/>
          </a:prstGeom>
          <a:solidFill>
            <a:schemeClr val="accent1"/>
          </a:solidFill>
          <a:ln w="12700">
            <a:solidFill>
              <a:schemeClr val="accent1"/>
            </a:solidFill>
            <a:prstDash val="solid"/>
          </a:ln>
        </p:spPr>
      </p:sp>
      <p:sp>
        <p:nvSpPr>
          <p:cNvPr id="5" name="Shape 3"/>
          <p:cNvSpPr/>
          <p:nvPr/>
        </p:nvSpPr>
        <p:spPr>
          <a:xfrm>
            <a:off x="10661904" y="301752"/>
            <a:ext cx="109728" cy="109728"/>
          </a:xfrm>
          <a:prstGeom prst="rect">
            <a:avLst/>
          </a:prstGeom>
          <a:solidFill>
            <a:schemeClr val="accent1"/>
          </a:solidFill>
          <a:ln w="12700">
            <a:solidFill>
              <a:schemeClr val="accent1"/>
            </a:solidFill>
            <a:prstDash val="solid"/>
          </a:ln>
        </p:spPr>
      </p:sp>
      <p:sp>
        <p:nvSpPr>
          <p:cNvPr id="6" name="Shape 4"/>
          <p:cNvSpPr/>
          <p:nvPr/>
        </p:nvSpPr>
        <p:spPr>
          <a:xfrm>
            <a:off x="10835640" y="301752"/>
            <a:ext cx="109728" cy="109728"/>
          </a:xfrm>
          <a:prstGeom prst="rect">
            <a:avLst/>
          </a:prstGeom>
          <a:solidFill>
            <a:schemeClr val="accent1"/>
          </a:solidFill>
          <a:ln w="12700">
            <a:solidFill>
              <a:schemeClr val="accent1"/>
            </a:solidFill>
            <a:prstDash val="solid"/>
          </a:ln>
        </p:spPr>
      </p:sp>
      <p:sp>
        <p:nvSpPr>
          <p:cNvPr id="7" name="Shape 5"/>
          <p:cNvSpPr/>
          <p:nvPr/>
        </p:nvSpPr>
        <p:spPr>
          <a:xfrm>
            <a:off x="11009376" y="301752"/>
            <a:ext cx="109728" cy="109728"/>
          </a:xfrm>
          <a:prstGeom prst="rect">
            <a:avLst/>
          </a:prstGeom>
          <a:solidFill>
            <a:schemeClr val="accent1"/>
          </a:solidFill>
          <a:ln w="12700">
            <a:solidFill>
              <a:schemeClr val="accent1"/>
            </a:solidFill>
            <a:prstDash val="solid"/>
          </a:ln>
        </p:spPr>
      </p:sp>
      <p:sp>
        <p:nvSpPr>
          <p:cNvPr id="8" name="Shape 6"/>
          <p:cNvSpPr/>
          <p:nvPr/>
        </p:nvSpPr>
        <p:spPr>
          <a:xfrm>
            <a:off x="11183112" y="301752"/>
            <a:ext cx="109728" cy="109728"/>
          </a:xfrm>
          <a:prstGeom prst="rect">
            <a:avLst/>
          </a:prstGeom>
          <a:solidFill>
            <a:schemeClr val="accent5"/>
          </a:solidFill>
          <a:ln w="12700">
            <a:solidFill>
              <a:schemeClr val="accent5"/>
            </a:solidFill>
            <a:prstDash val="solid"/>
          </a:ln>
        </p:spPr>
      </p:sp>
      <p:sp>
        <p:nvSpPr>
          <p:cNvPr id="9" name="Shape 7"/>
          <p:cNvSpPr/>
          <p:nvPr/>
        </p:nvSpPr>
        <p:spPr>
          <a:xfrm>
            <a:off x="11356848" y="301752"/>
            <a:ext cx="109728" cy="109728"/>
          </a:xfrm>
          <a:prstGeom prst="rect">
            <a:avLst/>
          </a:prstGeom>
          <a:solidFill>
            <a:schemeClr val="accent5"/>
          </a:solidFill>
          <a:ln w="12700">
            <a:solidFill>
              <a:schemeClr val="accent5"/>
            </a:solidFill>
            <a:prstDash val="solid"/>
          </a:ln>
        </p:spPr>
      </p:sp>
      <p:sp>
        <p:nvSpPr>
          <p:cNvPr id="10" name="Shape 8"/>
          <p:cNvSpPr/>
          <p:nvPr/>
        </p:nvSpPr>
        <p:spPr>
          <a:xfrm>
            <a:off x="11530584" y="301752"/>
            <a:ext cx="109728" cy="109728"/>
          </a:xfrm>
          <a:prstGeom prst="rect">
            <a:avLst/>
          </a:prstGeom>
          <a:solidFill>
            <a:schemeClr val="accent5"/>
          </a:solidFill>
          <a:ln w="12700">
            <a:solidFill>
              <a:schemeClr val="accent5"/>
            </a:solidFill>
            <a:prstDash val="solid"/>
          </a:ln>
        </p:spPr>
      </p:sp>
      <p:sp>
        <p:nvSpPr>
          <p:cNvPr id="11" name="Text 0"/>
          <p:cNvSpPr>
            <a:spLocks noGrp="1"/>
          </p:cNvSpPr>
          <p:nvPr>
            <p:ph type="title" idx="100" hasCustomPrompt="1"/>
          </p:nvPr>
        </p:nvSpPr>
        <p:spPr>
          <a:xfrm>
            <a:off x="548640" y="530352"/>
            <a:ext cx="11091672" cy="640080"/>
          </a:xfrm>
          <a:prstGeom prst="rect">
            <a:avLst/>
          </a:prstGeom>
          <a:noFill/>
          <a:ln/>
        </p:spPr>
        <p:txBody>
          <a:bodyPr wrap="square" lIns="0" tIns="0" rIns="0" bIns="0" rtlCol="0" anchor="ctr"/>
          <a:lstStyle/>
          <a:p>
            <a:pPr marL="0" indent="0" algn="l">
              <a:buNone/>
            </a:pPr>
            <a:r>
              <a:rPr lang="en-US" sz="3200" b="1" dirty="0">
                <a:solidFill>
                  <a:schemeClr val="tx1"/>
                </a:solidFill>
              </a:rPr>
              <a:t>A* in action: the first decision</a:t>
            </a:r>
            <a:endParaRPr lang="en-US" sz="3200" dirty="0"/>
          </a:p>
        </p:txBody>
      </p:sp>
      <p:sp>
        <p:nvSpPr>
          <p:cNvPr id="12" name="Text 10"/>
          <p:cNvSpPr txBox="1"/>
          <p:nvPr/>
        </p:nvSpPr>
        <p:spPr>
          <a:xfrm>
            <a:off x="914400" y="1554480"/>
            <a:ext cx="713232" cy="219456"/>
          </a:xfrm>
          <a:prstGeom prst="rect">
            <a:avLst/>
          </a:prstGeom>
          <a:noFill/>
          <a:ln/>
        </p:spPr>
        <p:txBody>
          <a:bodyPr wrap="square" lIns="0" tIns="0" rIns="0" bIns="0" rtlCol="0" anchor="t"/>
          <a:lstStyle/>
          <a:p>
            <a:pPr marL="0" indent="0" algn="ctr">
              <a:buNone/>
            </a:pPr>
            <a:r>
              <a:rPr lang="en-US" sz="1000" dirty="0">
                <a:solidFill>
                  <a:schemeClr val="tx2"/>
                </a:solidFill>
                <a:latin typeface="Consolas" pitchFamily="34" charset="0"/>
                <a:ea typeface="Consolas" pitchFamily="34" charset="-122"/>
                <a:cs typeface="Consolas" pitchFamily="34" charset="-120"/>
              </a:rPr>
              <a:t>A</a:t>
            </a:r>
            <a:endParaRPr lang="en-US" sz="1000" dirty="0"/>
          </a:p>
        </p:txBody>
      </p:sp>
      <p:sp>
        <p:nvSpPr>
          <p:cNvPr id="13" name="Text 11"/>
          <p:cNvSpPr txBox="1"/>
          <p:nvPr/>
        </p:nvSpPr>
        <p:spPr>
          <a:xfrm>
            <a:off x="1682496" y="1554480"/>
            <a:ext cx="713232" cy="219456"/>
          </a:xfrm>
          <a:prstGeom prst="rect">
            <a:avLst/>
          </a:prstGeom>
          <a:noFill/>
          <a:ln/>
        </p:spPr>
        <p:txBody>
          <a:bodyPr wrap="square" lIns="0" tIns="0" rIns="0" bIns="0" rtlCol="0" anchor="t"/>
          <a:lstStyle/>
          <a:p>
            <a:pPr marL="0" indent="0" algn="ctr">
              <a:buNone/>
            </a:pPr>
            <a:r>
              <a:rPr lang="en-US" sz="1000" dirty="0">
                <a:solidFill>
                  <a:schemeClr val="tx2"/>
                </a:solidFill>
                <a:latin typeface="Consolas" pitchFamily="34" charset="0"/>
                <a:ea typeface="Consolas" pitchFamily="34" charset="-122"/>
                <a:cs typeface="Consolas" pitchFamily="34" charset="-120"/>
              </a:rPr>
              <a:t>B</a:t>
            </a:r>
            <a:endParaRPr lang="en-US" sz="1000" dirty="0"/>
          </a:p>
        </p:txBody>
      </p:sp>
      <p:sp>
        <p:nvSpPr>
          <p:cNvPr id="14" name="Text 12"/>
          <p:cNvSpPr txBox="1"/>
          <p:nvPr/>
        </p:nvSpPr>
        <p:spPr>
          <a:xfrm>
            <a:off x="2450592" y="1554480"/>
            <a:ext cx="713232" cy="219456"/>
          </a:xfrm>
          <a:prstGeom prst="rect">
            <a:avLst/>
          </a:prstGeom>
          <a:noFill/>
          <a:ln/>
        </p:spPr>
        <p:txBody>
          <a:bodyPr wrap="square" lIns="0" tIns="0" rIns="0" bIns="0" rtlCol="0" anchor="t"/>
          <a:lstStyle/>
          <a:p>
            <a:pPr marL="0" indent="0" algn="ctr">
              <a:buNone/>
            </a:pPr>
            <a:r>
              <a:rPr lang="en-US" sz="1000" dirty="0">
                <a:solidFill>
                  <a:schemeClr val="tx2"/>
                </a:solidFill>
                <a:latin typeface="Consolas" pitchFamily="34" charset="0"/>
                <a:ea typeface="Consolas" pitchFamily="34" charset="-122"/>
                <a:cs typeface="Consolas" pitchFamily="34" charset="-120"/>
              </a:rPr>
              <a:t>C</a:t>
            </a:r>
            <a:endParaRPr lang="en-US" sz="1000" dirty="0"/>
          </a:p>
        </p:txBody>
      </p:sp>
      <p:sp>
        <p:nvSpPr>
          <p:cNvPr id="15" name="Text 13"/>
          <p:cNvSpPr txBox="1"/>
          <p:nvPr/>
        </p:nvSpPr>
        <p:spPr>
          <a:xfrm>
            <a:off x="3218688" y="1554480"/>
            <a:ext cx="713232" cy="219456"/>
          </a:xfrm>
          <a:prstGeom prst="rect">
            <a:avLst/>
          </a:prstGeom>
          <a:noFill/>
          <a:ln/>
        </p:spPr>
        <p:txBody>
          <a:bodyPr wrap="square" lIns="0" tIns="0" rIns="0" bIns="0" rtlCol="0" anchor="t"/>
          <a:lstStyle/>
          <a:p>
            <a:pPr marL="0" indent="0" algn="ctr">
              <a:buNone/>
            </a:pPr>
            <a:r>
              <a:rPr lang="en-US" sz="1000" dirty="0">
                <a:solidFill>
                  <a:schemeClr val="tx2"/>
                </a:solidFill>
                <a:latin typeface="Consolas" pitchFamily="34" charset="0"/>
                <a:ea typeface="Consolas" pitchFamily="34" charset="-122"/>
                <a:cs typeface="Consolas" pitchFamily="34" charset="-120"/>
              </a:rPr>
              <a:t>D</a:t>
            </a:r>
            <a:endParaRPr lang="en-US" sz="1000" dirty="0"/>
          </a:p>
        </p:txBody>
      </p:sp>
      <p:sp>
        <p:nvSpPr>
          <p:cNvPr id="16" name="Text 14"/>
          <p:cNvSpPr txBox="1"/>
          <p:nvPr/>
        </p:nvSpPr>
        <p:spPr>
          <a:xfrm>
            <a:off x="3986784" y="1554480"/>
            <a:ext cx="713232" cy="219456"/>
          </a:xfrm>
          <a:prstGeom prst="rect">
            <a:avLst/>
          </a:prstGeom>
          <a:noFill/>
          <a:ln/>
        </p:spPr>
        <p:txBody>
          <a:bodyPr wrap="square" lIns="0" tIns="0" rIns="0" bIns="0" rtlCol="0" anchor="t"/>
          <a:lstStyle/>
          <a:p>
            <a:pPr marL="0" indent="0" algn="ctr">
              <a:buNone/>
            </a:pPr>
            <a:r>
              <a:rPr lang="en-US" sz="1000" dirty="0">
                <a:solidFill>
                  <a:schemeClr val="tx2"/>
                </a:solidFill>
                <a:latin typeface="Consolas" pitchFamily="34" charset="0"/>
                <a:ea typeface="Consolas" pitchFamily="34" charset="-122"/>
                <a:cs typeface="Consolas" pitchFamily="34" charset="-120"/>
              </a:rPr>
              <a:t>E</a:t>
            </a:r>
            <a:endParaRPr lang="en-US" sz="1000" dirty="0"/>
          </a:p>
        </p:txBody>
      </p:sp>
      <p:sp>
        <p:nvSpPr>
          <p:cNvPr id="17" name="Text 15"/>
          <p:cNvSpPr txBox="1"/>
          <p:nvPr/>
        </p:nvSpPr>
        <p:spPr>
          <a:xfrm>
            <a:off x="4754880" y="1554480"/>
            <a:ext cx="713232" cy="219456"/>
          </a:xfrm>
          <a:prstGeom prst="rect">
            <a:avLst/>
          </a:prstGeom>
          <a:noFill/>
          <a:ln/>
        </p:spPr>
        <p:txBody>
          <a:bodyPr wrap="square" lIns="0" tIns="0" rIns="0" bIns="0" rtlCol="0" anchor="t"/>
          <a:lstStyle/>
          <a:p>
            <a:pPr marL="0" indent="0" algn="ctr">
              <a:buNone/>
            </a:pPr>
            <a:r>
              <a:rPr lang="en-US" sz="1000" dirty="0">
                <a:solidFill>
                  <a:schemeClr val="tx2"/>
                </a:solidFill>
                <a:latin typeface="Consolas" pitchFamily="34" charset="0"/>
                <a:ea typeface="Consolas" pitchFamily="34" charset="-122"/>
                <a:cs typeface="Consolas" pitchFamily="34" charset="-120"/>
              </a:rPr>
              <a:t>F</a:t>
            </a:r>
            <a:endParaRPr lang="en-US" sz="1000" dirty="0"/>
          </a:p>
        </p:txBody>
      </p:sp>
      <p:sp>
        <p:nvSpPr>
          <p:cNvPr id="18" name="Text 16"/>
          <p:cNvSpPr txBox="1"/>
          <p:nvPr/>
        </p:nvSpPr>
        <p:spPr>
          <a:xfrm>
            <a:off x="585216" y="1828800"/>
            <a:ext cx="219456" cy="713232"/>
          </a:xfrm>
          <a:prstGeom prst="rect">
            <a:avLst/>
          </a:prstGeom>
          <a:noFill/>
          <a:ln/>
        </p:spPr>
        <p:txBody>
          <a:bodyPr wrap="square" lIns="0" tIns="0" rIns="0" bIns="0" rtlCol="0" anchor="ctr"/>
          <a:lstStyle/>
          <a:p>
            <a:pPr marL="0" indent="0" algn="ctr">
              <a:buNone/>
            </a:pPr>
            <a:r>
              <a:rPr lang="en-US" sz="1000" dirty="0">
                <a:solidFill>
                  <a:schemeClr val="tx2"/>
                </a:solidFill>
                <a:latin typeface="Consolas" pitchFamily="34" charset="0"/>
                <a:ea typeface="Consolas" pitchFamily="34" charset="-122"/>
                <a:cs typeface="Consolas" pitchFamily="34" charset="-120"/>
              </a:rPr>
              <a:t>1</a:t>
            </a:r>
            <a:endParaRPr lang="en-US" sz="1000" dirty="0"/>
          </a:p>
        </p:txBody>
      </p:sp>
      <p:sp>
        <p:nvSpPr>
          <p:cNvPr id="19" name="Text 17"/>
          <p:cNvSpPr txBox="1"/>
          <p:nvPr/>
        </p:nvSpPr>
        <p:spPr>
          <a:xfrm>
            <a:off x="585216" y="2596896"/>
            <a:ext cx="219456" cy="713232"/>
          </a:xfrm>
          <a:prstGeom prst="rect">
            <a:avLst/>
          </a:prstGeom>
          <a:noFill/>
          <a:ln/>
        </p:spPr>
        <p:txBody>
          <a:bodyPr wrap="square" lIns="0" tIns="0" rIns="0" bIns="0" rtlCol="0" anchor="ctr"/>
          <a:lstStyle/>
          <a:p>
            <a:pPr marL="0" indent="0" algn="ctr">
              <a:buNone/>
            </a:pPr>
            <a:r>
              <a:rPr lang="en-US" sz="1000" dirty="0">
                <a:solidFill>
                  <a:schemeClr val="tx2"/>
                </a:solidFill>
                <a:latin typeface="Consolas" pitchFamily="34" charset="0"/>
                <a:ea typeface="Consolas" pitchFamily="34" charset="-122"/>
                <a:cs typeface="Consolas" pitchFamily="34" charset="-120"/>
              </a:rPr>
              <a:t>2</a:t>
            </a:r>
            <a:endParaRPr lang="en-US" sz="1000" dirty="0"/>
          </a:p>
        </p:txBody>
      </p:sp>
      <p:sp>
        <p:nvSpPr>
          <p:cNvPr id="20" name="Text 18"/>
          <p:cNvSpPr txBox="1"/>
          <p:nvPr/>
        </p:nvSpPr>
        <p:spPr>
          <a:xfrm>
            <a:off x="585216" y="3364992"/>
            <a:ext cx="219456" cy="713232"/>
          </a:xfrm>
          <a:prstGeom prst="rect">
            <a:avLst/>
          </a:prstGeom>
          <a:noFill/>
          <a:ln/>
        </p:spPr>
        <p:txBody>
          <a:bodyPr wrap="square" lIns="0" tIns="0" rIns="0" bIns="0" rtlCol="0" anchor="ctr"/>
          <a:lstStyle/>
          <a:p>
            <a:pPr marL="0" indent="0" algn="ctr">
              <a:buNone/>
            </a:pPr>
            <a:r>
              <a:rPr lang="en-US" sz="1000" dirty="0">
                <a:solidFill>
                  <a:schemeClr val="tx2"/>
                </a:solidFill>
                <a:latin typeface="Consolas" pitchFamily="34" charset="0"/>
                <a:ea typeface="Consolas" pitchFamily="34" charset="-122"/>
                <a:cs typeface="Consolas" pitchFamily="34" charset="-120"/>
              </a:rPr>
              <a:t>3</a:t>
            </a:r>
            <a:endParaRPr lang="en-US" sz="1000" dirty="0"/>
          </a:p>
        </p:txBody>
      </p:sp>
      <p:sp>
        <p:nvSpPr>
          <p:cNvPr id="21" name="Text 19"/>
          <p:cNvSpPr txBox="1"/>
          <p:nvPr/>
        </p:nvSpPr>
        <p:spPr>
          <a:xfrm>
            <a:off x="585216" y="4133088"/>
            <a:ext cx="219456" cy="713232"/>
          </a:xfrm>
          <a:prstGeom prst="rect">
            <a:avLst/>
          </a:prstGeom>
          <a:noFill/>
          <a:ln/>
        </p:spPr>
        <p:txBody>
          <a:bodyPr wrap="square" lIns="0" tIns="0" rIns="0" bIns="0" rtlCol="0" anchor="ctr"/>
          <a:lstStyle/>
          <a:p>
            <a:pPr marL="0" indent="0" algn="ctr">
              <a:buNone/>
            </a:pPr>
            <a:r>
              <a:rPr lang="en-US" sz="1000" dirty="0">
                <a:solidFill>
                  <a:schemeClr val="tx2"/>
                </a:solidFill>
                <a:latin typeface="Consolas" pitchFamily="34" charset="0"/>
                <a:ea typeface="Consolas" pitchFamily="34" charset="-122"/>
                <a:cs typeface="Consolas" pitchFamily="34" charset="-120"/>
              </a:rPr>
              <a:t>4</a:t>
            </a:r>
            <a:endParaRPr lang="en-US" sz="1000" dirty="0"/>
          </a:p>
        </p:txBody>
      </p:sp>
      <p:sp>
        <p:nvSpPr>
          <p:cNvPr id="22" name="Text 20"/>
          <p:cNvSpPr txBox="1"/>
          <p:nvPr/>
        </p:nvSpPr>
        <p:spPr>
          <a:xfrm>
            <a:off x="585216" y="4901184"/>
            <a:ext cx="219456" cy="713232"/>
          </a:xfrm>
          <a:prstGeom prst="rect">
            <a:avLst/>
          </a:prstGeom>
          <a:noFill/>
          <a:ln/>
        </p:spPr>
        <p:txBody>
          <a:bodyPr wrap="square" lIns="0" tIns="0" rIns="0" bIns="0" rtlCol="0" anchor="ctr"/>
          <a:lstStyle/>
          <a:p>
            <a:pPr marL="0" indent="0" algn="ctr">
              <a:buNone/>
            </a:pPr>
            <a:r>
              <a:rPr lang="en-US" sz="1000" dirty="0">
                <a:solidFill>
                  <a:schemeClr val="tx2"/>
                </a:solidFill>
                <a:latin typeface="Consolas" pitchFamily="34" charset="0"/>
                <a:ea typeface="Consolas" pitchFamily="34" charset="-122"/>
                <a:cs typeface="Consolas" pitchFamily="34" charset="-120"/>
              </a:rPr>
              <a:t>5</a:t>
            </a:r>
            <a:endParaRPr lang="en-US" sz="1000" dirty="0"/>
          </a:p>
        </p:txBody>
      </p:sp>
      <p:sp>
        <p:nvSpPr>
          <p:cNvPr id="23" name="Shape 21"/>
          <p:cNvSpPr/>
          <p:nvPr/>
        </p:nvSpPr>
        <p:spPr>
          <a:xfrm>
            <a:off x="914400" y="1828800"/>
            <a:ext cx="713232" cy="713232"/>
          </a:xfrm>
          <a:prstGeom prst="roundRect">
            <a:avLst>
              <a:gd name="adj" fmla="val 8974"/>
            </a:avLst>
          </a:prstGeom>
          <a:solidFill>
            <a:schemeClr val="bg2"/>
          </a:solidFill>
          <a:ln w="12700">
            <a:solidFill>
              <a:schemeClr val="accent5"/>
            </a:solidFill>
            <a:prstDash val="solid"/>
          </a:ln>
        </p:spPr>
      </p:sp>
      <p:sp>
        <p:nvSpPr>
          <p:cNvPr id="24" name="Text 22"/>
          <p:cNvSpPr txBox="1"/>
          <p:nvPr/>
        </p:nvSpPr>
        <p:spPr>
          <a:xfrm>
            <a:off x="914400" y="1828800"/>
            <a:ext cx="713232" cy="713232"/>
          </a:xfrm>
          <a:prstGeom prst="rect">
            <a:avLst/>
          </a:prstGeom>
          <a:noFill/>
          <a:ln/>
        </p:spPr>
        <p:txBody>
          <a:bodyPr wrap="square" lIns="0" tIns="0" rIns="0" bIns="0" rtlCol="0" anchor="ctr"/>
          <a:lstStyle/>
          <a:p>
            <a:pPr marL="0" indent="0" algn="ctr">
              <a:buNone/>
            </a:pPr>
            <a:r>
              <a:rPr lang="en-US" sz="1100" dirty="0">
                <a:solidFill>
                  <a:schemeClr val="tx2"/>
                </a:solidFill>
                <a:latin typeface="Consolas" pitchFamily="34" charset="0"/>
                <a:ea typeface="Consolas" pitchFamily="34" charset="-122"/>
                <a:cs typeface="Consolas" pitchFamily="34" charset="-120"/>
              </a:rPr>
              <a:t>h=7</a:t>
            </a:r>
            <a:endParaRPr lang="en-US" sz="1100" dirty="0"/>
          </a:p>
        </p:txBody>
      </p:sp>
      <p:sp>
        <p:nvSpPr>
          <p:cNvPr id="25" name="Shape 23"/>
          <p:cNvSpPr/>
          <p:nvPr/>
        </p:nvSpPr>
        <p:spPr>
          <a:xfrm>
            <a:off x="1682496" y="1828800"/>
            <a:ext cx="713232" cy="713232"/>
          </a:xfrm>
          <a:prstGeom prst="roundRect">
            <a:avLst>
              <a:gd name="adj" fmla="val 8974"/>
            </a:avLst>
          </a:prstGeom>
          <a:solidFill>
            <a:schemeClr val="bg2"/>
          </a:solidFill>
          <a:ln w="12700">
            <a:solidFill>
              <a:schemeClr val="accent5"/>
            </a:solidFill>
            <a:prstDash val="solid"/>
          </a:ln>
        </p:spPr>
      </p:sp>
      <p:sp>
        <p:nvSpPr>
          <p:cNvPr id="26" name="Text 24"/>
          <p:cNvSpPr txBox="1"/>
          <p:nvPr/>
        </p:nvSpPr>
        <p:spPr>
          <a:xfrm>
            <a:off x="1682496" y="1828800"/>
            <a:ext cx="713232" cy="713232"/>
          </a:xfrm>
          <a:prstGeom prst="rect">
            <a:avLst/>
          </a:prstGeom>
          <a:noFill/>
          <a:ln/>
        </p:spPr>
        <p:txBody>
          <a:bodyPr wrap="square" lIns="0" tIns="0" rIns="0" bIns="0" rtlCol="0" anchor="ctr"/>
          <a:lstStyle/>
          <a:p>
            <a:pPr marL="0" indent="0" algn="ctr">
              <a:buNone/>
            </a:pPr>
            <a:r>
              <a:rPr lang="en-US" sz="1100" dirty="0">
                <a:solidFill>
                  <a:schemeClr val="tx2"/>
                </a:solidFill>
                <a:latin typeface="Consolas" pitchFamily="34" charset="0"/>
                <a:ea typeface="Consolas" pitchFamily="34" charset="-122"/>
                <a:cs typeface="Consolas" pitchFamily="34" charset="-120"/>
              </a:rPr>
              <a:t>h=6</a:t>
            </a:r>
            <a:endParaRPr lang="en-US" sz="1100" dirty="0"/>
          </a:p>
        </p:txBody>
      </p:sp>
      <p:sp>
        <p:nvSpPr>
          <p:cNvPr id="27" name="Shape 25"/>
          <p:cNvSpPr/>
          <p:nvPr/>
        </p:nvSpPr>
        <p:spPr>
          <a:xfrm>
            <a:off x="2450592" y="1828800"/>
            <a:ext cx="713232" cy="713232"/>
          </a:xfrm>
          <a:prstGeom prst="roundRect">
            <a:avLst>
              <a:gd name="adj" fmla="val 8974"/>
            </a:avLst>
          </a:prstGeom>
          <a:solidFill>
            <a:schemeClr val="bg2"/>
          </a:solidFill>
          <a:ln w="12700">
            <a:solidFill>
              <a:schemeClr val="accent5"/>
            </a:solidFill>
            <a:prstDash val="solid"/>
          </a:ln>
        </p:spPr>
      </p:sp>
      <p:sp>
        <p:nvSpPr>
          <p:cNvPr id="28" name="Text 26"/>
          <p:cNvSpPr txBox="1"/>
          <p:nvPr/>
        </p:nvSpPr>
        <p:spPr>
          <a:xfrm>
            <a:off x="2450592" y="1828800"/>
            <a:ext cx="713232" cy="713232"/>
          </a:xfrm>
          <a:prstGeom prst="rect">
            <a:avLst/>
          </a:prstGeom>
          <a:noFill/>
          <a:ln/>
        </p:spPr>
        <p:txBody>
          <a:bodyPr wrap="square" lIns="0" tIns="0" rIns="0" bIns="0" rtlCol="0" anchor="ctr"/>
          <a:lstStyle/>
          <a:p>
            <a:pPr marL="0" indent="0" algn="ctr">
              <a:buNone/>
            </a:pPr>
            <a:r>
              <a:rPr lang="en-US" sz="1100" dirty="0">
                <a:solidFill>
                  <a:schemeClr val="tx2"/>
                </a:solidFill>
                <a:latin typeface="Consolas" pitchFamily="34" charset="0"/>
                <a:ea typeface="Consolas" pitchFamily="34" charset="-122"/>
                <a:cs typeface="Consolas" pitchFamily="34" charset="-120"/>
              </a:rPr>
              <a:t>h=5</a:t>
            </a:r>
            <a:endParaRPr lang="en-US" sz="1100" dirty="0"/>
          </a:p>
        </p:txBody>
      </p:sp>
      <p:sp>
        <p:nvSpPr>
          <p:cNvPr id="29" name="Shape 27"/>
          <p:cNvSpPr/>
          <p:nvPr/>
        </p:nvSpPr>
        <p:spPr>
          <a:xfrm>
            <a:off x="3218688" y="1828800"/>
            <a:ext cx="713232" cy="713232"/>
          </a:xfrm>
          <a:prstGeom prst="roundRect">
            <a:avLst>
              <a:gd name="adj" fmla="val 8974"/>
            </a:avLst>
          </a:prstGeom>
          <a:solidFill>
            <a:schemeClr val="accent3">
              <a:alpha val="14000"/>
            </a:schemeClr>
          </a:solidFill>
          <a:ln w="19050">
            <a:solidFill>
              <a:schemeClr val="accent3"/>
            </a:solidFill>
            <a:prstDash val="solid"/>
          </a:ln>
        </p:spPr>
      </p:sp>
      <p:sp>
        <p:nvSpPr>
          <p:cNvPr id="30" name="Shape 28"/>
          <p:cNvSpPr/>
          <p:nvPr/>
        </p:nvSpPr>
        <p:spPr>
          <a:xfrm>
            <a:off x="3374136" y="1984248"/>
            <a:ext cx="402336" cy="402336"/>
          </a:xfrm>
          <a:prstGeom prst="line">
            <a:avLst/>
          </a:prstGeom>
          <a:noFill/>
          <a:ln w="19050">
            <a:solidFill>
              <a:schemeClr val="accent3"/>
            </a:solidFill>
            <a:prstDash val="solid"/>
          </a:ln>
        </p:spPr>
      </p:sp>
      <p:sp>
        <p:nvSpPr>
          <p:cNvPr id="31" name="Shape 29"/>
          <p:cNvSpPr/>
          <p:nvPr/>
        </p:nvSpPr>
        <p:spPr>
          <a:xfrm flipV="1">
            <a:off x="3374136" y="1984248"/>
            <a:ext cx="402336" cy="402336"/>
          </a:xfrm>
          <a:prstGeom prst="line">
            <a:avLst/>
          </a:prstGeom>
          <a:noFill/>
          <a:ln w="19050">
            <a:solidFill>
              <a:schemeClr val="accent3"/>
            </a:solidFill>
            <a:prstDash val="solid"/>
          </a:ln>
        </p:spPr>
      </p:sp>
      <p:sp>
        <p:nvSpPr>
          <p:cNvPr id="32" name="Shape 30"/>
          <p:cNvSpPr/>
          <p:nvPr/>
        </p:nvSpPr>
        <p:spPr>
          <a:xfrm>
            <a:off x="3986784" y="1828800"/>
            <a:ext cx="713232" cy="713232"/>
          </a:xfrm>
          <a:prstGeom prst="roundRect">
            <a:avLst>
              <a:gd name="adj" fmla="val 8974"/>
            </a:avLst>
          </a:prstGeom>
          <a:solidFill>
            <a:schemeClr val="bg2"/>
          </a:solidFill>
          <a:ln w="12700">
            <a:solidFill>
              <a:schemeClr val="accent5"/>
            </a:solidFill>
            <a:prstDash val="solid"/>
          </a:ln>
        </p:spPr>
      </p:sp>
      <p:sp>
        <p:nvSpPr>
          <p:cNvPr id="33" name="Text 31"/>
          <p:cNvSpPr txBox="1"/>
          <p:nvPr/>
        </p:nvSpPr>
        <p:spPr>
          <a:xfrm>
            <a:off x="3986784" y="1828800"/>
            <a:ext cx="713232" cy="713232"/>
          </a:xfrm>
          <a:prstGeom prst="rect">
            <a:avLst/>
          </a:prstGeom>
          <a:noFill/>
          <a:ln/>
        </p:spPr>
        <p:txBody>
          <a:bodyPr wrap="square" lIns="0" tIns="0" rIns="0" bIns="0" rtlCol="0" anchor="ctr"/>
          <a:lstStyle/>
          <a:p>
            <a:pPr marL="0" indent="0" algn="ctr">
              <a:buNone/>
            </a:pPr>
            <a:r>
              <a:rPr lang="en-US" sz="1100" dirty="0">
                <a:solidFill>
                  <a:schemeClr val="tx2"/>
                </a:solidFill>
                <a:latin typeface="Consolas" pitchFamily="34" charset="0"/>
                <a:ea typeface="Consolas" pitchFamily="34" charset="-122"/>
                <a:cs typeface="Consolas" pitchFamily="34" charset="-120"/>
              </a:rPr>
              <a:t>h=3</a:t>
            </a:r>
            <a:endParaRPr lang="en-US" sz="1100" dirty="0"/>
          </a:p>
        </p:txBody>
      </p:sp>
      <p:sp>
        <p:nvSpPr>
          <p:cNvPr id="34" name="Shape 32"/>
          <p:cNvSpPr/>
          <p:nvPr/>
        </p:nvSpPr>
        <p:spPr>
          <a:xfrm>
            <a:off x="4754880" y="1828800"/>
            <a:ext cx="713232" cy="713232"/>
          </a:xfrm>
          <a:prstGeom prst="roundRect">
            <a:avLst>
              <a:gd name="adj" fmla="val 8974"/>
            </a:avLst>
          </a:prstGeom>
          <a:solidFill>
            <a:schemeClr val="bg2"/>
          </a:solidFill>
          <a:ln w="12700">
            <a:solidFill>
              <a:schemeClr val="accent5"/>
            </a:solidFill>
            <a:prstDash val="solid"/>
          </a:ln>
        </p:spPr>
      </p:sp>
      <p:sp>
        <p:nvSpPr>
          <p:cNvPr id="35" name="Text 33"/>
          <p:cNvSpPr txBox="1"/>
          <p:nvPr/>
        </p:nvSpPr>
        <p:spPr>
          <a:xfrm>
            <a:off x="4754880" y="1828800"/>
            <a:ext cx="713232" cy="713232"/>
          </a:xfrm>
          <a:prstGeom prst="rect">
            <a:avLst/>
          </a:prstGeom>
          <a:noFill/>
          <a:ln/>
        </p:spPr>
        <p:txBody>
          <a:bodyPr wrap="square" lIns="0" tIns="0" rIns="0" bIns="0" rtlCol="0" anchor="ctr"/>
          <a:lstStyle/>
          <a:p>
            <a:pPr marL="0" indent="0" algn="ctr">
              <a:buNone/>
            </a:pPr>
            <a:r>
              <a:rPr lang="en-US" sz="1100" dirty="0">
                <a:solidFill>
                  <a:schemeClr val="tx2"/>
                </a:solidFill>
                <a:latin typeface="Consolas" pitchFamily="34" charset="0"/>
                <a:ea typeface="Consolas" pitchFamily="34" charset="-122"/>
                <a:cs typeface="Consolas" pitchFamily="34" charset="-120"/>
              </a:rPr>
              <a:t>h=2</a:t>
            </a:r>
            <a:endParaRPr lang="en-US" sz="1100" dirty="0"/>
          </a:p>
        </p:txBody>
      </p:sp>
      <p:sp>
        <p:nvSpPr>
          <p:cNvPr id="36" name="Shape 34"/>
          <p:cNvSpPr/>
          <p:nvPr/>
        </p:nvSpPr>
        <p:spPr>
          <a:xfrm>
            <a:off x="914400" y="2596896"/>
            <a:ext cx="713232" cy="713232"/>
          </a:xfrm>
          <a:prstGeom prst="roundRect">
            <a:avLst>
              <a:gd name="adj" fmla="val 8974"/>
            </a:avLst>
          </a:prstGeom>
          <a:solidFill>
            <a:schemeClr val="accent2">
              <a:alpha val="12000"/>
            </a:schemeClr>
          </a:solidFill>
          <a:ln w="19050">
            <a:solidFill>
              <a:schemeClr val="accent2"/>
            </a:solidFill>
            <a:prstDash val="solid"/>
          </a:ln>
        </p:spPr>
      </p:sp>
      <p:sp>
        <p:nvSpPr>
          <p:cNvPr id="37" name="Text 35"/>
          <p:cNvSpPr txBox="1"/>
          <p:nvPr/>
        </p:nvSpPr>
        <p:spPr>
          <a:xfrm>
            <a:off x="914400" y="2596896"/>
            <a:ext cx="713232" cy="713232"/>
          </a:xfrm>
          <a:prstGeom prst="rect">
            <a:avLst/>
          </a:prstGeom>
          <a:noFill/>
          <a:ln/>
        </p:spPr>
        <p:txBody>
          <a:bodyPr wrap="square" lIns="0" tIns="0" rIns="0" bIns="0" rtlCol="0" anchor="ctr"/>
          <a:lstStyle/>
          <a:p>
            <a:pPr marL="0" indent="0" algn="ctr">
              <a:buNone/>
            </a:pPr>
            <a:r>
              <a:rPr lang="en-US" sz="2000" b="1" dirty="0">
                <a:solidFill>
                  <a:schemeClr val="accent2"/>
                </a:solidFill>
              </a:rPr>
              <a:t>7</a:t>
            </a:r>
            <a:endParaRPr lang="en-US" sz="2000" dirty="0"/>
          </a:p>
          <a:p>
            <a:pPr marL="0" indent="0" algn="ctr">
              <a:buNone/>
            </a:pPr>
            <a:r>
              <a:rPr lang="en-US" sz="900" dirty="0">
                <a:solidFill>
                  <a:schemeClr val="accent2"/>
                </a:solidFill>
                <a:latin typeface="Consolas" pitchFamily="34" charset="0"/>
                <a:ea typeface="Consolas" pitchFamily="34" charset="-122"/>
                <a:cs typeface="Consolas" pitchFamily="34" charset="-120"/>
              </a:rPr>
              <a:t>1+6</a:t>
            </a:r>
            <a:endParaRPr lang="en-US" sz="2000" dirty="0"/>
          </a:p>
        </p:txBody>
      </p:sp>
      <p:sp>
        <p:nvSpPr>
          <p:cNvPr id="38" name="Text 36"/>
          <p:cNvSpPr txBox="1"/>
          <p:nvPr/>
        </p:nvSpPr>
        <p:spPr>
          <a:xfrm>
            <a:off x="1408176" y="3108960"/>
            <a:ext cx="182880" cy="182880"/>
          </a:xfrm>
          <a:prstGeom prst="rect">
            <a:avLst/>
          </a:prstGeom>
          <a:noFill/>
          <a:ln/>
        </p:spPr>
        <p:txBody>
          <a:bodyPr wrap="square" lIns="0" tIns="0" rIns="0" bIns="0" rtlCol="0" anchor="t"/>
          <a:lstStyle/>
          <a:p>
            <a:pPr marL="0" indent="0" algn="r">
              <a:buNone/>
            </a:pPr>
            <a:r>
              <a:rPr lang="en-US" sz="1000" dirty="0">
                <a:solidFill>
                  <a:schemeClr val="tx2"/>
                </a:solidFill>
                <a:latin typeface="Consolas" pitchFamily="34" charset="0"/>
                <a:ea typeface="Consolas" pitchFamily="34" charset="-122"/>
                <a:cs typeface="Consolas" pitchFamily="34" charset="-120"/>
              </a:rPr>
              <a:t>↑</a:t>
            </a:r>
            <a:endParaRPr lang="en-US" sz="1000" dirty="0"/>
          </a:p>
        </p:txBody>
      </p:sp>
      <p:sp>
        <p:nvSpPr>
          <p:cNvPr id="39" name="Shape 37"/>
          <p:cNvSpPr/>
          <p:nvPr/>
        </p:nvSpPr>
        <p:spPr>
          <a:xfrm>
            <a:off x="1682496" y="2596896"/>
            <a:ext cx="713232" cy="713232"/>
          </a:xfrm>
          <a:prstGeom prst="roundRect">
            <a:avLst>
              <a:gd name="adj" fmla="val 8974"/>
            </a:avLst>
          </a:prstGeom>
          <a:solidFill>
            <a:schemeClr val="bg2"/>
          </a:solidFill>
          <a:ln w="12700">
            <a:solidFill>
              <a:schemeClr val="accent5"/>
            </a:solidFill>
            <a:prstDash val="solid"/>
          </a:ln>
        </p:spPr>
      </p:sp>
      <p:sp>
        <p:nvSpPr>
          <p:cNvPr id="40" name="Text 38"/>
          <p:cNvSpPr txBox="1"/>
          <p:nvPr/>
        </p:nvSpPr>
        <p:spPr>
          <a:xfrm>
            <a:off x="1682496" y="2596896"/>
            <a:ext cx="713232" cy="713232"/>
          </a:xfrm>
          <a:prstGeom prst="rect">
            <a:avLst/>
          </a:prstGeom>
          <a:noFill/>
          <a:ln/>
        </p:spPr>
        <p:txBody>
          <a:bodyPr wrap="square" lIns="0" tIns="0" rIns="0" bIns="0" rtlCol="0" anchor="ctr"/>
          <a:lstStyle/>
          <a:p>
            <a:pPr marL="0" indent="0" algn="ctr">
              <a:buNone/>
            </a:pPr>
            <a:r>
              <a:rPr lang="en-US" sz="1100" dirty="0">
                <a:solidFill>
                  <a:schemeClr val="tx2"/>
                </a:solidFill>
                <a:latin typeface="Consolas" pitchFamily="34" charset="0"/>
                <a:ea typeface="Consolas" pitchFamily="34" charset="-122"/>
                <a:cs typeface="Consolas" pitchFamily="34" charset="-120"/>
              </a:rPr>
              <a:t>h=5</a:t>
            </a:r>
            <a:endParaRPr lang="en-US" sz="1100" dirty="0"/>
          </a:p>
        </p:txBody>
      </p:sp>
      <p:sp>
        <p:nvSpPr>
          <p:cNvPr id="41" name="Shape 39"/>
          <p:cNvSpPr/>
          <p:nvPr/>
        </p:nvSpPr>
        <p:spPr>
          <a:xfrm>
            <a:off x="2450592" y="2596896"/>
            <a:ext cx="713232" cy="713232"/>
          </a:xfrm>
          <a:prstGeom prst="roundRect">
            <a:avLst>
              <a:gd name="adj" fmla="val 8974"/>
            </a:avLst>
          </a:prstGeom>
          <a:solidFill>
            <a:schemeClr val="accent3">
              <a:alpha val="14000"/>
            </a:schemeClr>
          </a:solidFill>
          <a:ln w="19050">
            <a:solidFill>
              <a:schemeClr val="accent3"/>
            </a:solidFill>
            <a:prstDash val="solid"/>
          </a:ln>
        </p:spPr>
      </p:sp>
      <p:sp>
        <p:nvSpPr>
          <p:cNvPr id="42" name="Shape 40"/>
          <p:cNvSpPr/>
          <p:nvPr/>
        </p:nvSpPr>
        <p:spPr>
          <a:xfrm>
            <a:off x="2606040" y="2752344"/>
            <a:ext cx="402336" cy="402336"/>
          </a:xfrm>
          <a:prstGeom prst="line">
            <a:avLst/>
          </a:prstGeom>
          <a:noFill/>
          <a:ln w="19050">
            <a:solidFill>
              <a:schemeClr val="accent3"/>
            </a:solidFill>
            <a:prstDash val="solid"/>
          </a:ln>
        </p:spPr>
      </p:sp>
      <p:sp>
        <p:nvSpPr>
          <p:cNvPr id="43" name="Shape 41"/>
          <p:cNvSpPr/>
          <p:nvPr/>
        </p:nvSpPr>
        <p:spPr>
          <a:xfrm flipV="1">
            <a:off x="2606040" y="2752344"/>
            <a:ext cx="402336" cy="402336"/>
          </a:xfrm>
          <a:prstGeom prst="line">
            <a:avLst/>
          </a:prstGeom>
          <a:noFill/>
          <a:ln w="19050">
            <a:solidFill>
              <a:schemeClr val="accent3"/>
            </a:solidFill>
            <a:prstDash val="solid"/>
          </a:ln>
        </p:spPr>
      </p:sp>
      <p:sp>
        <p:nvSpPr>
          <p:cNvPr id="44" name="Shape 42"/>
          <p:cNvSpPr/>
          <p:nvPr/>
        </p:nvSpPr>
        <p:spPr>
          <a:xfrm>
            <a:off x="3218688" y="2596896"/>
            <a:ext cx="713232" cy="713232"/>
          </a:xfrm>
          <a:prstGeom prst="roundRect">
            <a:avLst>
              <a:gd name="adj" fmla="val 8974"/>
            </a:avLst>
          </a:prstGeom>
          <a:solidFill>
            <a:schemeClr val="bg2"/>
          </a:solidFill>
          <a:ln w="12700">
            <a:solidFill>
              <a:schemeClr val="accent5"/>
            </a:solidFill>
            <a:prstDash val="solid"/>
          </a:ln>
        </p:spPr>
      </p:sp>
      <p:sp>
        <p:nvSpPr>
          <p:cNvPr id="45" name="Text 43"/>
          <p:cNvSpPr txBox="1"/>
          <p:nvPr/>
        </p:nvSpPr>
        <p:spPr>
          <a:xfrm>
            <a:off x="3218688" y="2596896"/>
            <a:ext cx="713232" cy="713232"/>
          </a:xfrm>
          <a:prstGeom prst="rect">
            <a:avLst/>
          </a:prstGeom>
          <a:noFill/>
          <a:ln/>
        </p:spPr>
        <p:txBody>
          <a:bodyPr wrap="square" lIns="0" tIns="0" rIns="0" bIns="0" rtlCol="0" anchor="ctr"/>
          <a:lstStyle/>
          <a:p>
            <a:pPr marL="0" indent="0" algn="ctr">
              <a:buNone/>
            </a:pPr>
            <a:r>
              <a:rPr lang="en-US" sz="1100" dirty="0">
                <a:solidFill>
                  <a:schemeClr val="tx2"/>
                </a:solidFill>
                <a:latin typeface="Consolas" pitchFamily="34" charset="0"/>
                <a:ea typeface="Consolas" pitchFamily="34" charset="-122"/>
                <a:cs typeface="Consolas" pitchFamily="34" charset="-120"/>
              </a:rPr>
              <a:t>h=3</a:t>
            </a:r>
            <a:endParaRPr lang="en-US" sz="1100" dirty="0"/>
          </a:p>
        </p:txBody>
      </p:sp>
      <p:sp>
        <p:nvSpPr>
          <p:cNvPr id="46" name="Shape 44"/>
          <p:cNvSpPr/>
          <p:nvPr/>
        </p:nvSpPr>
        <p:spPr>
          <a:xfrm>
            <a:off x="3986784" y="2596896"/>
            <a:ext cx="713232" cy="713232"/>
          </a:xfrm>
          <a:prstGeom prst="roundRect">
            <a:avLst>
              <a:gd name="adj" fmla="val 8974"/>
            </a:avLst>
          </a:prstGeom>
          <a:solidFill>
            <a:schemeClr val="bg2"/>
          </a:solidFill>
          <a:ln w="12700">
            <a:solidFill>
              <a:schemeClr val="accent5"/>
            </a:solidFill>
            <a:prstDash val="solid"/>
          </a:ln>
        </p:spPr>
      </p:sp>
      <p:sp>
        <p:nvSpPr>
          <p:cNvPr id="47" name="Text 45"/>
          <p:cNvSpPr txBox="1"/>
          <p:nvPr/>
        </p:nvSpPr>
        <p:spPr>
          <a:xfrm>
            <a:off x="3986784" y="2596896"/>
            <a:ext cx="713232" cy="713232"/>
          </a:xfrm>
          <a:prstGeom prst="rect">
            <a:avLst/>
          </a:prstGeom>
          <a:noFill/>
          <a:ln/>
        </p:spPr>
        <p:txBody>
          <a:bodyPr wrap="square" lIns="0" tIns="0" rIns="0" bIns="0" rtlCol="0" anchor="ctr"/>
          <a:lstStyle/>
          <a:p>
            <a:pPr marL="0" indent="0" algn="ctr">
              <a:buNone/>
            </a:pPr>
            <a:r>
              <a:rPr lang="en-US" sz="1100" dirty="0">
                <a:solidFill>
                  <a:schemeClr val="tx2"/>
                </a:solidFill>
                <a:latin typeface="Consolas" pitchFamily="34" charset="0"/>
                <a:ea typeface="Consolas" pitchFamily="34" charset="-122"/>
                <a:cs typeface="Consolas" pitchFamily="34" charset="-120"/>
              </a:rPr>
              <a:t>h=2</a:t>
            </a:r>
            <a:endParaRPr lang="en-US" sz="1100" dirty="0"/>
          </a:p>
        </p:txBody>
      </p:sp>
      <p:sp>
        <p:nvSpPr>
          <p:cNvPr id="48" name="Shape 46"/>
          <p:cNvSpPr/>
          <p:nvPr/>
        </p:nvSpPr>
        <p:spPr>
          <a:xfrm>
            <a:off x="4754880" y="2596896"/>
            <a:ext cx="713232" cy="713232"/>
          </a:xfrm>
          <a:prstGeom prst="roundRect">
            <a:avLst>
              <a:gd name="adj" fmla="val 8974"/>
            </a:avLst>
          </a:prstGeom>
          <a:solidFill>
            <a:schemeClr val="bg2"/>
          </a:solidFill>
          <a:ln w="12700">
            <a:solidFill>
              <a:schemeClr val="accent5"/>
            </a:solidFill>
            <a:prstDash val="solid"/>
          </a:ln>
        </p:spPr>
      </p:sp>
      <p:sp>
        <p:nvSpPr>
          <p:cNvPr id="49" name="Text 47"/>
          <p:cNvSpPr txBox="1"/>
          <p:nvPr/>
        </p:nvSpPr>
        <p:spPr>
          <a:xfrm>
            <a:off x="4754880" y="2596896"/>
            <a:ext cx="713232" cy="713232"/>
          </a:xfrm>
          <a:prstGeom prst="rect">
            <a:avLst/>
          </a:prstGeom>
          <a:noFill/>
          <a:ln/>
        </p:spPr>
        <p:txBody>
          <a:bodyPr wrap="square" lIns="0" tIns="0" rIns="0" bIns="0" rtlCol="0" anchor="ctr"/>
          <a:lstStyle/>
          <a:p>
            <a:pPr marL="0" indent="0" algn="ctr">
              <a:buNone/>
            </a:pPr>
            <a:r>
              <a:rPr lang="en-US" sz="1100" dirty="0">
                <a:solidFill>
                  <a:schemeClr val="tx2"/>
                </a:solidFill>
                <a:latin typeface="Consolas" pitchFamily="34" charset="0"/>
                <a:ea typeface="Consolas" pitchFamily="34" charset="-122"/>
                <a:cs typeface="Consolas" pitchFamily="34" charset="-120"/>
              </a:rPr>
              <a:t>h=1</a:t>
            </a:r>
            <a:endParaRPr lang="en-US" sz="1100" dirty="0"/>
          </a:p>
        </p:txBody>
      </p:sp>
      <p:sp>
        <p:nvSpPr>
          <p:cNvPr id="50" name="Shape 48"/>
          <p:cNvSpPr/>
          <p:nvPr/>
        </p:nvSpPr>
        <p:spPr>
          <a:xfrm>
            <a:off x="914400" y="3364992"/>
            <a:ext cx="713232" cy="713232"/>
          </a:xfrm>
          <a:prstGeom prst="roundRect">
            <a:avLst>
              <a:gd name="adj" fmla="val 8974"/>
            </a:avLst>
          </a:prstGeom>
          <a:solidFill>
            <a:schemeClr val="accent1">
              <a:alpha val="20000"/>
            </a:schemeClr>
          </a:solidFill>
          <a:ln w="28575">
            <a:solidFill>
              <a:schemeClr val="accent1"/>
            </a:solidFill>
            <a:prstDash val="solid"/>
          </a:ln>
        </p:spPr>
      </p:sp>
      <p:sp>
        <p:nvSpPr>
          <p:cNvPr id="51" name="Text 49"/>
          <p:cNvSpPr txBox="1"/>
          <p:nvPr/>
        </p:nvSpPr>
        <p:spPr>
          <a:xfrm>
            <a:off x="914400" y="3364992"/>
            <a:ext cx="713232" cy="713232"/>
          </a:xfrm>
          <a:prstGeom prst="rect">
            <a:avLst/>
          </a:prstGeom>
          <a:noFill/>
          <a:ln/>
        </p:spPr>
        <p:txBody>
          <a:bodyPr wrap="square" lIns="0" tIns="0" rIns="0" bIns="0" rtlCol="0" anchor="ctr"/>
          <a:lstStyle/>
          <a:p>
            <a:pPr marL="0" indent="0" algn="ctr">
              <a:buNone/>
            </a:pPr>
            <a:r>
              <a:rPr lang="en-US" sz="2000" b="1" dirty="0">
                <a:solidFill>
                  <a:schemeClr val="accent1"/>
                </a:solidFill>
              </a:rPr>
              <a:t>5</a:t>
            </a:r>
            <a:endParaRPr lang="en-US" sz="2000" dirty="0"/>
          </a:p>
          <a:p>
            <a:pPr marL="0" indent="0" algn="ctr">
              <a:buNone/>
            </a:pPr>
            <a:r>
              <a:rPr lang="en-US" sz="900" dirty="0">
                <a:solidFill>
                  <a:schemeClr val="accent1"/>
                </a:solidFill>
                <a:latin typeface="Consolas" pitchFamily="34" charset="0"/>
                <a:ea typeface="Consolas" pitchFamily="34" charset="-122"/>
                <a:cs typeface="Consolas" pitchFamily="34" charset="-120"/>
              </a:rPr>
              <a:t>0+5</a:t>
            </a:r>
            <a:endParaRPr lang="en-US" sz="2000" dirty="0"/>
          </a:p>
        </p:txBody>
      </p:sp>
      <p:sp>
        <p:nvSpPr>
          <p:cNvPr id="52" name="Text 50"/>
          <p:cNvSpPr txBox="1"/>
          <p:nvPr/>
        </p:nvSpPr>
        <p:spPr>
          <a:xfrm>
            <a:off x="969264" y="3401568"/>
            <a:ext cx="182880" cy="182880"/>
          </a:xfrm>
          <a:prstGeom prst="rect">
            <a:avLst/>
          </a:prstGeom>
          <a:noFill/>
          <a:ln/>
        </p:spPr>
        <p:txBody>
          <a:bodyPr wrap="square" lIns="0" tIns="0" rIns="0" bIns="0" rtlCol="0" anchor="t"/>
          <a:lstStyle/>
          <a:p>
            <a:pPr marL="0" indent="0">
              <a:buNone/>
            </a:pPr>
            <a:r>
              <a:rPr lang="en-US" sz="1000" b="1" dirty="0">
                <a:solidFill>
                  <a:schemeClr val="accent1"/>
                </a:solidFill>
                <a:latin typeface="Consolas" pitchFamily="34" charset="0"/>
                <a:ea typeface="Consolas" pitchFamily="34" charset="-122"/>
                <a:cs typeface="Consolas" pitchFamily="34" charset="-120"/>
              </a:rPr>
              <a:t>S</a:t>
            </a:r>
            <a:endParaRPr lang="en-US" sz="1000" dirty="0"/>
          </a:p>
        </p:txBody>
      </p:sp>
      <p:sp>
        <p:nvSpPr>
          <p:cNvPr id="53" name="Shape 51"/>
          <p:cNvSpPr/>
          <p:nvPr/>
        </p:nvSpPr>
        <p:spPr>
          <a:xfrm>
            <a:off x="1682496" y="3364992"/>
            <a:ext cx="713232" cy="713232"/>
          </a:xfrm>
          <a:prstGeom prst="roundRect">
            <a:avLst>
              <a:gd name="adj" fmla="val 8974"/>
            </a:avLst>
          </a:prstGeom>
          <a:solidFill>
            <a:schemeClr val="accent2">
              <a:alpha val="12000"/>
            </a:schemeClr>
          </a:solidFill>
          <a:ln w="19050">
            <a:solidFill>
              <a:schemeClr val="accent2"/>
            </a:solidFill>
            <a:prstDash val="solid"/>
          </a:ln>
        </p:spPr>
      </p:sp>
      <p:sp>
        <p:nvSpPr>
          <p:cNvPr id="54" name="Text 52"/>
          <p:cNvSpPr txBox="1"/>
          <p:nvPr/>
        </p:nvSpPr>
        <p:spPr>
          <a:xfrm>
            <a:off x="1682496" y="3364992"/>
            <a:ext cx="713232" cy="713232"/>
          </a:xfrm>
          <a:prstGeom prst="rect">
            <a:avLst/>
          </a:prstGeom>
          <a:noFill/>
          <a:ln/>
        </p:spPr>
        <p:txBody>
          <a:bodyPr wrap="square" lIns="0" tIns="0" rIns="0" bIns="0" rtlCol="0" anchor="ctr"/>
          <a:lstStyle/>
          <a:p>
            <a:pPr marL="0" indent="0" algn="ctr">
              <a:buNone/>
            </a:pPr>
            <a:r>
              <a:rPr lang="en-US" sz="2000" b="1" dirty="0">
                <a:solidFill>
                  <a:schemeClr val="accent2"/>
                </a:solidFill>
              </a:rPr>
              <a:t>5</a:t>
            </a:r>
            <a:endParaRPr lang="en-US" sz="2000" dirty="0"/>
          </a:p>
          <a:p>
            <a:pPr marL="0" indent="0" algn="ctr">
              <a:buNone/>
            </a:pPr>
            <a:r>
              <a:rPr lang="en-US" sz="900" dirty="0">
                <a:solidFill>
                  <a:schemeClr val="accent2"/>
                </a:solidFill>
                <a:latin typeface="Consolas" pitchFamily="34" charset="0"/>
                <a:ea typeface="Consolas" pitchFamily="34" charset="-122"/>
                <a:cs typeface="Consolas" pitchFamily="34" charset="-120"/>
              </a:rPr>
              <a:t>1+4</a:t>
            </a:r>
            <a:endParaRPr lang="en-US" sz="2000" dirty="0"/>
          </a:p>
        </p:txBody>
      </p:sp>
      <p:sp>
        <p:nvSpPr>
          <p:cNvPr id="55" name="Text 53"/>
          <p:cNvSpPr txBox="1"/>
          <p:nvPr/>
        </p:nvSpPr>
        <p:spPr>
          <a:xfrm>
            <a:off x="2176272" y="3877056"/>
            <a:ext cx="182880" cy="182880"/>
          </a:xfrm>
          <a:prstGeom prst="rect">
            <a:avLst/>
          </a:prstGeom>
          <a:noFill/>
          <a:ln/>
        </p:spPr>
        <p:txBody>
          <a:bodyPr wrap="square" lIns="0" tIns="0" rIns="0" bIns="0" rtlCol="0" anchor="t"/>
          <a:lstStyle/>
          <a:p>
            <a:pPr marL="0" indent="0" algn="r">
              <a:buNone/>
            </a:pPr>
            <a:r>
              <a:rPr lang="en-US" sz="1000" dirty="0">
                <a:solidFill>
                  <a:schemeClr val="tx2"/>
                </a:solidFill>
                <a:latin typeface="Consolas" pitchFamily="34" charset="0"/>
                <a:ea typeface="Consolas" pitchFamily="34" charset="-122"/>
                <a:cs typeface="Consolas" pitchFamily="34" charset="-120"/>
              </a:rPr>
              <a:t>→</a:t>
            </a:r>
            <a:endParaRPr lang="en-US" sz="1000" dirty="0"/>
          </a:p>
        </p:txBody>
      </p:sp>
      <p:sp>
        <p:nvSpPr>
          <p:cNvPr id="56" name="Shape 54"/>
          <p:cNvSpPr/>
          <p:nvPr/>
        </p:nvSpPr>
        <p:spPr>
          <a:xfrm>
            <a:off x="2450592" y="3364992"/>
            <a:ext cx="713232" cy="713232"/>
          </a:xfrm>
          <a:prstGeom prst="roundRect">
            <a:avLst>
              <a:gd name="adj" fmla="val 8974"/>
            </a:avLst>
          </a:prstGeom>
          <a:solidFill>
            <a:schemeClr val="accent3">
              <a:alpha val="14000"/>
            </a:schemeClr>
          </a:solidFill>
          <a:ln w="19050">
            <a:solidFill>
              <a:schemeClr val="accent3"/>
            </a:solidFill>
            <a:prstDash val="solid"/>
          </a:ln>
        </p:spPr>
      </p:sp>
      <p:sp>
        <p:nvSpPr>
          <p:cNvPr id="57" name="Shape 55"/>
          <p:cNvSpPr/>
          <p:nvPr/>
        </p:nvSpPr>
        <p:spPr>
          <a:xfrm>
            <a:off x="2606040" y="3520440"/>
            <a:ext cx="402336" cy="402336"/>
          </a:xfrm>
          <a:prstGeom prst="line">
            <a:avLst/>
          </a:prstGeom>
          <a:noFill/>
          <a:ln w="19050">
            <a:solidFill>
              <a:schemeClr val="accent3"/>
            </a:solidFill>
            <a:prstDash val="solid"/>
          </a:ln>
        </p:spPr>
      </p:sp>
      <p:sp>
        <p:nvSpPr>
          <p:cNvPr id="58" name="Shape 56"/>
          <p:cNvSpPr/>
          <p:nvPr/>
        </p:nvSpPr>
        <p:spPr>
          <a:xfrm flipV="1">
            <a:off x="2606040" y="3520440"/>
            <a:ext cx="402336" cy="402336"/>
          </a:xfrm>
          <a:prstGeom prst="line">
            <a:avLst/>
          </a:prstGeom>
          <a:noFill/>
          <a:ln w="19050">
            <a:solidFill>
              <a:schemeClr val="accent3"/>
            </a:solidFill>
            <a:prstDash val="solid"/>
          </a:ln>
        </p:spPr>
      </p:sp>
      <p:sp>
        <p:nvSpPr>
          <p:cNvPr id="59" name="Shape 57"/>
          <p:cNvSpPr/>
          <p:nvPr/>
        </p:nvSpPr>
        <p:spPr>
          <a:xfrm>
            <a:off x="3218688" y="3364992"/>
            <a:ext cx="713232" cy="713232"/>
          </a:xfrm>
          <a:prstGeom prst="roundRect">
            <a:avLst>
              <a:gd name="adj" fmla="val 8974"/>
            </a:avLst>
          </a:prstGeom>
          <a:solidFill>
            <a:schemeClr val="bg2"/>
          </a:solidFill>
          <a:ln w="12700">
            <a:solidFill>
              <a:schemeClr val="accent5"/>
            </a:solidFill>
            <a:prstDash val="solid"/>
          </a:ln>
        </p:spPr>
      </p:sp>
      <p:sp>
        <p:nvSpPr>
          <p:cNvPr id="60" name="Text 58"/>
          <p:cNvSpPr txBox="1"/>
          <p:nvPr/>
        </p:nvSpPr>
        <p:spPr>
          <a:xfrm>
            <a:off x="3218688" y="3364992"/>
            <a:ext cx="713232" cy="713232"/>
          </a:xfrm>
          <a:prstGeom prst="rect">
            <a:avLst/>
          </a:prstGeom>
          <a:noFill/>
          <a:ln/>
        </p:spPr>
        <p:txBody>
          <a:bodyPr wrap="square" lIns="0" tIns="0" rIns="0" bIns="0" rtlCol="0" anchor="ctr"/>
          <a:lstStyle/>
          <a:p>
            <a:pPr marL="0" indent="0" algn="ctr">
              <a:buNone/>
            </a:pPr>
            <a:r>
              <a:rPr lang="en-US" sz="1100" dirty="0">
                <a:solidFill>
                  <a:schemeClr val="tx2"/>
                </a:solidFill>
                <a:latin typeface="Consolas" pitchFamily="34" charset="0"/>
                <a:ea typeface="Consolas" pitchFamily="34" charset="-122"/>
                <a:cs typeface="Consolas" pitchFamily="34" charset="-120"/>
              </a:rPr>
              <a:t>h=2</a:t>
            </a:r>
            <a:endParaRPr lang="en-US" sz="1100" dirty="0"/>
          </a:p>
        </p:txBody>
      </p:sp>
      <p:sp>
        <p:nvSpPr>
          <p:cNvPr id="61" name="Shape 59"/>
          <p:cNvSpPr/>
          <p:nvPr/>
        </p:nvSpPr>
        <p:spPr>
          <a:xfrm>
            <a:off x="3986784" y="3364992"/>
            <a:ext cx="713232" cy="713232"/>
          </a:xfrm>
          <a:prstGeom prst="roundRect">
            <a:avLst>
              <a:gd name="adj" fmla="val 8974"/>
            </a:avLst>
          </a:prstGeom>
          <a:solidFill>
            <a:schemeClr val="bg2"/>
          </a:solidFill>
          <a:ln w="12700">
            <a:solidFill>
              <a:schemeClr val="accent5"/>
            </a:solidFill>
            <a:prstDash val="solid"/>
          </a:ln>
        </p:spPr>
      </p:sp>
      <p:sp>
        <p:nvSpPr>
          <p:cNvPr id="62" name="Text 60"/>
          <p:cNvSpPr txBox="1"/>
          <p:nvPr/>
        </p:nvSpPr>
        <p:spPr>
          <a:xfrm>
            <a:off x="3986784" y="3364992"/>
            <a:ext cx="713232" cy="713232"/>
          </a:xfrm>
          <a:prstGeom prst="rect">
            <a:avLst/>
          </a:prstGeom>
          <a:noFill/>
          <a:ln/>
        </p:spPr>
        <p:txBody>
          <a:bodyPr wrap="square" lIns="0" tIns="0" rIns="0" bIns="0" rtlCol="0" anchor="ctr"/>
          <a:lstStyle/>
          <a:p>
            <a:pPr marL="0" indent="0" algn="ctr">
              <a:buNone/>
            </a:pPr>
            <a:r>
              <a:rPr lang="en-US" sz="1100" dirty="0">
                <a:solidFill>
                  <a:schemeClr val="tx2"/>
                </a:solidFill>
                <a:latin typeface="Consolas" pitchFamily="34" charset="0"/>
                <a:ea typeface="Consolas" pitchFamily="34" charset="-122"/>
                <a:cs typeface="Consolas" pitchFamily="34" charset="-120"/>
              </a:rPr>
              <a:t>h=1</a:t>
            </a:r>
            <a:endParaRPr lang="en-US" sz="1100" dirty="0"/>
          </a:p>
        </p:txBody>
      </p:sp>
      <p:sp>
        <p:nvSpPr>
          <p:cNvPr id="63" name="Shape 61"/>
          <p:cNvSpPr/>
          <p:nvPr/>
        </p:nvSpPr>
        <p:spPr>
          <a:xfrm>
            <a:off x="4754880" y="3364992"/>
            <a:ext cx="713232" cy="713232"/>
          </a:xfrm>
          <a:prstGeom prst="roundRect">
            <a:avLst>
              <a:gd name="adj" fmla="val 8974"/>
            </a:avLst>
          </a:prstGeom>
          <a:solidFill>
            <a:schemeClr val="bg2"/>
          </a:solidFill>
          <a:ln w="12700">
            <a:solidFill>
              <a:schemeClr val="accent5"/>
            </a:solidFill>
            <a:prstDash val="solid"/>
          </a:ln>
        </p:spPr>
      </p:sp>
      <p:sp>
        <p:nvSpPr>
          <p:cNvPr id="64" name="Text 62"/>
          <p:cNvSpPr txBox="1"/>
          <p:nvPr/>
        </p:nvSpPr>
        <p:spPr>
          <a:xfrm>
            <a:off x="4754880" y="3364992"/>
            <a:ext cx="713232" cy="713232"/>
          </a:xfrm>
          <a:prstGeom prst="rect">
            <a:avLst/>
          </a:prstGeom>
          <a:noFill/>
          <a:ln/>
        </p:spPr>
        <p:txBody>
          <a:bodyPr wrap="square" lIns="0" tIns="0" rIns="0" bIns="0" rtlCol="0" anchor="ctr"/>
          <a:lstStyle/>
          <a:p>
            <a:pPr marL="0" indent="0" algn="ctr">
              <a:buNone/>
            </a:pPr>
            <a:r>
              <a:rPr lang="en-US" sz="1100" dirty="0">
                <a:solidFill>
                  <a:schemeClr val="tx2"/>
                </a:solidFill>
                <a:latin typeface="Consolas" pitchFamily="34" charset="0"/>
                <a:ea typeface="Consolas" pitchFamily="34" charset="-122"/>
                <a:cs typeface="Consolas" pitchFamily="34" charset="-120"/>
              </a:rPr>
              <a:t>h=0</a:t>
            </a:r>
            <a:endParaRPr lang="en-US" sz="1100" dirty="0"/>
          </a:p>
        </p:txBody>
      </p:sp>
      <p:sp>
        <p:nvSpPr>
          <p:cNvPr id="65" name="Text 63"/>
          <p:cNvSpPr txBox="1"/>
          <p:nvPr/>
        </p:nvSpPr>
        <p:spPr>
          <a:xfrm>
            <a:off x="5230368" y="3401568"/>
            <a:ext cx="182880" cy="182880"/>
          </a:xfrm>
          <a:prstGeom prst="rect">
            <a:avLst/>
          </a:prstGeom>
          <a:noFill/>
          <a:ln/>
        </p:spPr>
        <p:txBody>
          <a:bodyPr wrap="square" lIns="0" tIns="0" rIns="0" bIns="0" rtlCol="0" anchor="t"/>
          <a:lstStyle/>
          <a:p>
            <a:pPr marL="0" indent="0" algn="r">
              <a:buNone/>
            </a:pPr>
            <a:r>
              <a:rPr lang="en-US" sz="1000" b="1" dirty="0">
                <a:solidFill>
                  <a:schemeClr val="accent2"/>
                </a:solidFill>
                <a:latin typeface="Consolas" pitchFamily="34" charset="0"/>
                <a:ea typeface="Consolas" pitchFamily="34" charset="-122"/>
                <a:cs typeface="Consolas" pitchFamily="34" charset="-120"/>
              </a:rPr>
              <a:t>G</a:t>
            </a:r>
            <a:endParaRPr lang="en-US" sz="1000" dirty="0"/>
          </a:p>
        </p:txBody>
      </p:sp>
      <p:sp>
        <p:nvSpPr>
          <p:cNvPr id="66" name="Shape 64"/>
          <p:cNvSpPr/>
          <p:nvPr/>
        </p:nvSpPr>
        <p:spPr>
          <a:xfrm>
            <a:off x="914400" y="4133088"/>
            <a:ext cx="713232" cy="713232"/>
          </a:xfrm>
          <a:prstGeom prst="roundRect">
            <a:avLst>
              <a:gd name="adj" fmla="val 8974"/>
            </a:avLst>
          </a:prstGeom>
          <a:solidFill>
            <a:schemeClr val="accent2">
              <a:alpha val="12000"/>
            </a:schemeClr>
          </a:solidFill>
          <a:ln w="19050">
            <a:solidFill>
              <a:schemeClr val="accent2"/>
            </a:solidFill>
            <a:prstDash val="solid"/>
          </a:ln>
        </p:spPr>
      </p:sp>
      <p:sp>
        <p:nvSpPr>
          <p:cNvPr id="67" name="Text 65"/>
          <p:cNvSpPr txBox="1"/>
          <p:nvPr/>
        </p:nvSpPr>
        <p:spPr>
          <a:xfrm>
            <a:off x="914400" y="4133088"/>
            <a:ext cx="713232" cy="713232"/>
          </a:xfrm>
          <a:prstGeom prst="rect">
            <a:avLst/>
          </a:prstGeom>
          <a:noFill/>
          <a:ln/>
        </p:spPr>
        <p:txBody>
          <a:bodyPr wrap="square" lIns="0" tIns="0" rIns="0" bIns="0" rtlCol="0" anchor="ctr"/>
          <a:lstStyle/>
          <a:p>
            <a:pPr marL="0" indent="0" algn="ctr">
              <a:buNone/>
            </a:pPr>
            <a:r>
              <a:rPr lang="en-US" sz="2000" b="1" dirty="0">
                <a:solidFill>
                  <a:schemeClr val="accent2"/>
                </a:solidFill>
              </a:rPr>
              <a:t>7</a:t>
            </a:r>
            <a:endParaRPr lang="en-US" sz="2000" dirty="0"/>
          </a:p>
          <a:p>
            <a:pPr marL="0" indent="0" algn="ctr">
              <a:buNone/>
            </a:pPr>
            <a:r>
              <a:rPr lang="en-US" sz="900" dirty="0">
                <a:solidFill>
                  <a:schemeClr val="accent2"/>
                </a:solidFill>
                <a:latin typeface="Consolas" pitchFamily="34" charset="0"/>
                <a:ea typeface="Consolas" pitchFamily="34" charset="-122"/>
                <a:cs typeface="Consolas" pitchFamily="34" charset="-120"/>
              </a:rPr>
              <a:t>1+6</a:t>
            </a:r>
            <a:endParaRPr lang="en-US" sz="2000" dirty="0"/>
          </a:p>
        </p:txBody>
      </p:sp>
      <p:sp>
        <p:nvSpPr>
          <p:cNvPr id="68" name="Text 66"/>
          <p:cNvSpPr txBox="1"/>
          <p:nvPr/>
        </p:nvSpPr>
        <p:spPr>
          <a:xfrm>
            <a:off x="1408176" y="4645152"/>
            <a:ext cx="182880" cy="182880"/>
          </a:xfrm>
          <a:prstGeom prst="rect">
            <a:avLst/>
          </a:prstGeom>
          <a:noFill/>
          <a:ln/>
        </p:spPr>
        <p:txBody>
          <a:bodyPr wrap="square" lIns="0" tIns="0" rIns="0" bIns="0" rtlCol="0" anchor="t"/>
          <a:lstStyle/>
          <a:p>
            <a:pPr marL="0" indent="0" algn="r">
              <a:buNone/>
            </a:pPr>
            <a:r>
              <a:rPr lang="en-US" sz="1000" dirty="0">
                <a:solidFill>
                  <a:schemeClr val="tx2"/>
                </a:solidFill>
                <a:latin typeface="Consolas" pitchFamily="34" charset="0"/>
                <a:ea typeface="Consolas" pitchFamily="34" charset="-122"/>
                <a:cs typeface="Consolas" pitchFamily="34" charset="-120"/>
              </a:rPr>
              <a:t>↓</a:t>
            </a:r>
            <a:endParaRPr lang="en-US" sz="1000" dirty="0"/>
          </a:p>
        </p:txBody>
      </p:sp>
      <p:sp>
        <p:nvSpPr>
          <p:cNvPr id="69" name="Shape 67"/>
          <p:cNvSpPr/>
          <p:nvPr/>
        </p:nvSpPr>
        <p:spPr>
          <a:xfrm>
            <a:off x="1682496" y="4133088"/>
            <a:ext cx="713232" cy="713232"/>
          </a:xfrm>
          <a:prstGeom prst="roundRect">
            <a:avLst>
              <a:gd name="adj" fmla="val 8974"/>
            </a:avLst>
          </a:prstGeom>
          <a:solidFill>
            <a:schemeClr val="bg2"/>
          </a:solidFill>
          <a:ln w="12700">
            <a:solidFill>
              <a:schemeClr val="accent5"/>
            </a:solidFill>
            <a:prstDash val="solid"/>
          </a:ln>
        </p:spPr>
      </p:sp>
      <p:sp>
        <p:nvSpPr>
          <p:cNvPr id="70" name="Text 68"/>
          <p:cNvSpPr txBox="1"/>
          <p:nvPr/>
        </p:nvSpPr>
        <p:spPr>
          <a:xfrm>
            <a:off x="1682496" y="4133088"/>
            <a:ext cx="713232" cy="713232"/>
          </a:xfrm>
          <a:prstGeom prst="rect">
            <a:avLst/>
          </a:prstGeom>
          <a:noFill/>
          <a:ln/>
        </p:spPr>
        <p:txBody>
          <a:bodyPr wrap="square" lIns="0" tIns="0" rIns="0" bIns="0" rtlCol="0" anchor="ctr"/>
          <a:lstStyle/>
          <a:p>
            <a:pPr marL="0" indent="0" algn="ctr">
              <a:buNone/>
            </a:pPr>
            <a:r>
              <a:rPr lang="en-US" sz="1100" dirty="0">
                <a:solidFill>
                  <a:schemeClr val="tx2"/>
                </a:solidFill>
                <a:latin typeface="Consolas" pitchFamily="34" charset="0"/>
                <a:ea typeface="Consolas" pitchFamily="34" charset="-122"/>
                <a:cs typeface="Consolas" pitchFamily="34" charset="-120"/>
              </a:rPr>
              <a:t>h=5</a:t>
            </a:r>
            <a:endParaRPr lang="en-US" sz="1100" dirty="0"/>
          </a:p>
        </p:txBody>
      </p:sp>
      <p:sp>
        <p:nvSpPr>
          <p:cNvPr id="71" name="Shape 69"/>
          <p:cNvSpPr/>
          <p:nvPr/>
        </p:nvSpPr>
        <p:spPr>
          <a:xfrm>
            <a:off x="2450592" y="4133088"/>
            <a:ext cx="713232" cy="713232"/>
          </a:xfrm>
          <a:prstGeom prst="roundRect">
            <a:avLst>
              <a:gd name="adj" fmla="val 8974"/>
            </a:avLst>
          </a:prstGeom>
          <a:solidFill>
            <a:schemeClr val="accent3">
              <a:alpha val="14000"/>
            </a:schemeClr>
          </a:solidFill>
          <a:ln w="19050">
            <a:solidFill>
              <a:schemeClr val="accent3"/>
            </a:solidFill>
            <a:prstDash val="solid"/>
          </a:ln>
        </p:spPr>
      </p:sp>
      <p:sp>
        <p:nvSpPr>
          <p:cNvPr id="72" name="Shape 70"/>
          <p:cNvSpPr/>
          <p:nvPr/>
        </p:nvSpPr>
        <p:spPr>
          <a:xfrm>
            <a:off x="2606040" y="4288536"/>
            <a:ext cx="402336" cy="402336"/>
          </a:xfrm>
          <a:prstGeom prst="line">
            <a:avLst/>
          </a:prstGeom>
          <a:noFill/>
          <a:ln w="19050">
            <a:solidFill>
              <a:schemeClr val="accent3"/>
            </a:solidFill>
            <a:prstDash val="solid"/>
          </a:ln>
        </p:spPr>
      </p:sp>
      <p:sp>
        <p:nvSpPr>
          <p:cNvPr id="73" name="Shape 71"/>
          <p:cNvSpPr/>
          <p:nvPr/>
        </p:nvSpPr>
        <p:spPr>
          <a:xfrm flipV="1">
            <a:off x="2606040" y="4288536"/>
            <a:ext cx="402336" cy="402336"/>
          </a:xfrm>
          <a:prstGeom prst="line">
            <a:avLst/>
          </a:prstGeom>
          <a:noFill/>
          <a:ln w="19050">
            <a:solidFill>
              <a:schemeClr val="accent3"/>
            </a:solidFill>
            <a:prstDash val="solid"/>
          </a:ln>
        </p:spPr>
      </p:sp>
      <p:sp>
        <p:nvSpPr>
          <p:cNvPr id="74" name="Shape 72"/>
          <p:cNvSpPr/>
          <p:nvPr/>
        </p:nvSpPr>
        <p:spPr>
          <a:xfrm>
            <a:off x="3218688" y="4133088"/>
            <a:ext cx="713232" cy="713232"/>
          </a:xfrm>
          <a:prstGeom prst="roundRect">
            <a:avLst>
              <a:gd name="adj" fmla="val 8974"/>
            </a:avLst>
          </a:prstGeom>
          <a:solidFill>
            <a:schemeClr val="bg2"/>
          </a:solidFill>
          <a:ln w="12700">
            <a:solidFill>
              <a:schemeClr val="accent5"/>
            </a:solidFill>
            <a:prstDash val="solid"/>
          </a:ln>
        </p:spPr>
      </p:sp>
      <p:sp>
        <p:nvSpPr>
          <p:cNvPr id="75" name="Text 73"/>
          <p:cNvSpPr txBox="1"/>
          <p:nvPr/>
        </p:nvSpPr>
        <p:spPr>
          <a:xfrm>
            <a:off x="3218688" y="4133088"/>
            <a:ext cx="713232" cy="713232"/>
          </a:xfrm>
          <a:prstGeom prst="rect">
            <a:avLst/>
          </a:prstGeom>
          <a:noFill/>
          <a:ln/>
        </p:spPr>
        <p:txBody>
          <a:bodyPr wrap="square" lIns="0" tIns="0" rIns="0" bIns="0" rtlCol="0" anchor="ctr"/>
          <a:lstStyle/>
          <a:p>
            <a:pPr marL="0" indent="0" algn="ctr">
              <a:buNone/>
            </a:pPr>
            <a:r>
              <a:rPr lang="en-US" sz="1100" dirty="0">
                <a:solidFill>
                  <a:schemeClr val="tx2"/>
                </a:solidFill>
                <a:latin typeface="Consolas" pitchFamily="34" charset="0"/>
                <a:ea typeface="Consolas" pitchFamily="34" charset="-122"/>
                <a:cs typeface="Consolas" pitchFamily="34" charset="-120"/>
              </a:rPr>
              <a:t>h=3</a:t>
            </a:r>
            <a:endParaRPr lang="en-US" sz="1100" dirty="0"/>
          </a:p>
        </p:txBody>
      </p:sp>
      <p:sp>
        <p:nvSpPr>
          <p:cNvPr id="76" name="Shape 74"/>
          <p:cNvSpPr/>
          <p:nvPr/>
        </p:nvSpPr>
        <p:spPr>
          <a:xfrm>
            <a:off x="3986784" y="4133088"/>
            <a:ext cx="713232" cy="713232"/>
          </a:xfrm>
          <a:prstGeom prst="roundRect">
            <a:avLst>
              <a:gd name="adj" fmla="val 8974"/>
            </a:avLst>
          </a:prstGeom>
          <a:solidFill>
            <a:schemeClr val="bg2"/>
          </a:solidFill>
          <a:ln w="12700">
            <a:solidFill>
              <a:schemeClr val="accent5"/>
            </a:solidFill>
            <a:prstDash val="solid"/>
          </a:ln>
        </p:spPr>
      </p:sp>
      <p:sp>
        <p:nvSpPr>
          <p:cNvPr id="77" name="Text 75"/>
          <p:cNvSpPr txBox="1"/>
          <p:nvPr/>
        </p:nvSpPr>
        <p:spPr>
          <a:xfrm>
            <a:off x="3986784" y="4133088"/>
            <a:ext cx="713232" cy="713232"/>
          </a:xfrm>
          <a:prstGeom prst="rect">
            <a:avLst/>
          </a:prstGeom>
          <a:noFill/>
          <a:ln/>
        </p:spPr>
        <p:txBody>
          <a:bodyPr wrap="square" lIns="0" tIns="0" rIns="0" bIns="0" rtlCol="0" anchor="ctr"/>
          <a:lstStyle/>
          <a:p>
            <a:pPr marL="0" indent="0" algn="ctr">
              <a:buNone/>
            </a:pPr>
            <a:r>
              <a:rPr lang="en-US" sz="1100" dirty="0">
                <a:solidFill>
                  <a:schemeClr val="tx2"/>
                </a:solidFill>
                <a:latin typeface="Consolas" pitchFamily="34" charset="0"/>
                <a:ea typeface="Consolas" pitchFamily="34" charset="-122"/>
                <a:cs typeface="Consolas" pitchFamily="34" charset="-120"/>
              </a:rPr>
              <a:t>h=2</a:t>
            </a:r>
            <a:endParaRPr lang="en-US" sz="1100" dirty="0"/>
          </a:p>
        </p:txBody>
      </p:sp>
      <p:sp>
        <p:nvSpPr>
          <p:cNvPr id="78" name="Shape 76"/>
          <p:cNvSpPr/>
          <p:nvPr/>
        </p:nvSpPr>
        <p:spPr>
          <a:xfrm>
            <a:off x="4754880" y="4133088"/>
            <a:ext cx="713232" cy="713232"/>
          </a:xfrm>
          <a:prstGeom prst="roundRect">
            <a:avLst>
              <a:gd name="adj" fmla="val 8974"/>
            </a:avLst>
          </a:prstGeom>
          <a:solidFill>
            <a:schemeClr val="bg2"/>
          </a:solidFill>
          <a:ln w="12700">
            <a:solidFill>
              <a:schemeClr val="accent5"/>
            </a:solidFill>
            <a:prstDash val="solid"/>
          </a:ln>
        </p:spPr>
      </p:sp>
      <p:sp>
        <p:nvSpPr>
          <p:cNvPr id="79" name="Text 77"/>
          <p:cNvSpPr txBox="1"/>
          <p:nvPr/>
        </p:nvSpPr>
        <p:spPr>
          <a:xfrm>
            <a:off x="4754880" y="4133088"/>
            <a:ext cx="713232" cy="713232"/>
          </a:xfrm>
          <a:prstGeom prst="rect">
            <a:avLst/>
          </a:prstGeom>
          <a:noFill/>
          <a:ln/>
        </p:spPr>
        <p:txBody>
          <a:bodyPr wrap="square" lIns="0" tIns="0" rIns="0" bIns="0" rtlCol="0" anchor="ctr"/>
          <a:lstStyle/>
          <a:p>
            <a:pPr marL="0" indent="0" algn="ctr">
              <a:buNone/>
            </a:pPr>
            <a:r>
              <a:rPr lang="en-US" sz="1100" dirty="0">
                <a:solidFill>
                  <a:schemeClr val="tx2"/>
                </a:solidFill>
                <a:latin typeface="Consolas" pitchFamily="34" charset="0"/>
                <a:ea typeface="Consolas" pitchFamily="34" charset="-122"/>
                <a:cs typeface="Consolas" pitchFamily="34" charset="-120"/>
              </a:rPr>
              <a:t>h=1</a:t>
            </a:r>
            <a:endParaRPr lang="en-US" sz="1100" dirty="0"/>
          </a:p>
        </p:txBody>
      </p:sp>
      <p:sp>
        <p:nvSpPr>
          <p:cNvPr id="80" name="Shape 78"/>
          <p:cNvSpPr/>
          <p:nvPr/>
        </p:nvSpPr>
        <p:spPr>
          <a:xfrm>
            <a:off x="914400" y="4901184"/>
            <a:ext cx="713232" cy="713232"/>
          </a:xfrm>
          <a:prstGeom prst="roundRect">
            <a:avLst>
              <a:gd name="adj" fmla="val 8974"/>
            </a:avLst>
          </a:prstGeom>
          <a:solidFill>
            <a:schemeClr val="bg2"/>
          </a:solidFill>
          <a:ln w="12700">
            <a:solidFill>
              <a:schemeClr val="accent5"/>
            </a:solidFill>
            <a:prstDash val="solid"/>
          </a:ln>
        </p:spPr>
      </p:sp>
      <p:sp>
        <p:nvSpPr>
          <p:cNvPr id="81" name="Text 79"/>
          <p:cNvSpPr txBox="1"/>
          <p:nvPr/>
        </p:nvSpPr>
        <p:spPr>
          <a:xfrm>
            <a:off x="914400" y="4901184"/>
            <a:ext cx="713232" cy="713232"/>
          </a:xfrm>
          <a:prstGeom prst="rect">
            <a:avLst/>
          </a:prstGeom>
          <a:noFill/>
          <a:ln/>
        </p:spPr>
        <p:txBody>
          <a:bodyPr wrap="square" lIns="0" tIns="0" rIns="0" bIns="0" rtlCol="0" anchor="ctr"/>
          <a:lstStyle/>
          <a:p>
            <a:pPr marL="0" indent="0" algn="ctr">
              <a:buNone/>
            </a:pPr>
            <a:r>
              <a:rPr lang="en-US" sz="1100" dirty="0">
                <a:solidFill>
                  <a:schemeClr val="tx2"/>
                </a:solidFill>
                <a:latin typeface="Consolas" pitchFamily="34" charset="0"/>
                <a:ea typeface="Consolas" pitchFamily="34" charset="-122"/>
                <a:cs typeface="Consolas" pitchFamily="34" charset="-120"/>
              </a:rPr>
              <a:t>h=7</a:t>
            </a:r>
            <a:endParaRPr lang="en-US" sz="1100" dirty="0"/>
          </a:p>
        </p:txBody>
      </p:sp>
      <p:sp>
        <p:nvSpPr>
          <p:cNvPr id="82" name="Shape 80"/>
          <p:cNvSpPr/>
          <p:nvPr/>
        </p:nvSpPr>
        <p:spPr>
          <a:xfrm>
            <a:off x="1682496" y="4901184"/>
            <a:ext cx="713232" cy="713232"/>
          </a:xfrm>
          <a:prstGeom prst="roundRect">
            <a:avLst>
              <a:gd name="adj" fmla="val 8974"/>
            </a:avLst>
          </a:prstGeom>
          <a:solidFill>
            <a:schemeClr val="bg2"/>
          </a:solidFill>
          <a:ln w="12700">
            <a:solidFill>
              <a:schemeClr val="accent5"/>
            </a:solidFill>
            <a:prstDash val="solid"/>
          </a:ln>
        </p:spPr>
      </p:sp>
      <p:sp>
        <p:nvSpPr>
          <p:cNvPr id="83" name="Text 81"/>
          <p:cNvSpPr txBox="1"/>
          <p:nvPr/>
        </p:nvSpPr>
        <p:spPr>
          <a:xfrm>
            <a:off x="1682496" y="4901184"/>
            <a:ext cx="713232" cy="713232"/>
          </a:xfrm>
          <a:prstGeom prst="rect">
            <a:avLst/>
          </a:prstGeom>
          <a:noFill/>
          <a:ln/>
        </p:spPr>
        <p:txBody>
          <a:bodyPr wrap="square" lIns="0" tIns="0" rIns="0" bIns="0" rtlCol="0" anchor="ctr"/>
          <a:lstStyle/>
          <a:p>
            <a:pPr marL="0" indent="0" algn="ctr">
              <a:buNone/>
            </a:pPr>
            <a:r>
              <a:rPr lang="en-US" sz="1100" dirty="0">
                <a:solidFill>
                  <a:schemeClr val="tx2"/>
                </a:solidFill>
                <a:latin typeface="Consolas" pitchFamily="34" charset="0"/>
                <a:ea typeface="Consolas" pitchFamily="34" charset="-122"/>
                <a:cs typeface="Consolas" pitchFamily="34" charset="-120"/>
              </a:rPr>
              <a:t>h=6</a:t>
            </a:r>
            <a:endParaRPr lang="en-US" sz="1100" dirty="0"/>
          </a:p>
        </p:txBody>
      </p:sp>
      <p:sp>
        <p:nvSpPr>
          <p:cNvPr id="84" name="Shape 82"/>
          <p:cNvSpPr/>
          <p:nvPr/>
        </p:nvSpPr>
        <p:spPr>
          <a:xfrm>
            <a:off x="2450592" y="4901184"/>
            <a:ext cx="713232" cy="713232"/>
          </a:xfrm>
          <a:prstGeom prst="roundRect">
            <a:avLst>
              <a:gd name="adj" fmla="val 8974"/>
            </a:avLst>
          </a:prstGeom>
          <a:solidFill>
            <a:schemeClr val="bg2"/>
          </a:solidFill>
          <a:ln w="12700">
            <a:solidFill>
              <a:schemeClr val="accent5"/>
            </a:solidFill>
            <a:prstDash val="solid"/>
          </a:ln>
        </p:spPr>
      </p:sp>
      <p:sp>
        <p:nvSpPr>
          <p:cNvPr id="85" name="Text 83"/>
          <p:cNvSpPr txBox="1"/>
          <p:nvPr/>
        </p:nvSpPr>
        <p:spPr>
          <a:xfrm>
            <a:off x="2450592" y="4901184"/>
            <a:ext cx="713232" cy="713232"/>
          </a:xfrm>
          <a:prstGeom prst="rect">
            <a:avLst/>
          </a:prstGeom>
          <a:noFill/>
          <a:ln/>
        </p:spPr>
        <p:txBody>
          <a:bodyPr wrap="square" lIns="0" tIns="0" rIns="0" bIns="0" rtlCol="0" anchor="ctr"/>
          <a:lstStyle/>
          <a:p>
            <a:pPr marL="0" indent="0" algn="ctr">
              <a:buNone/>
            </a:pPr>
            <a:r>
              <a:rPr lang="en-US" sz="1100" dirty="0">
                <a:solidFill>
                  <a:schemeClr val="tx2"/>
                </a:solidFill>
                <a:latin typeface="Consolas" pitchFamily="34" charset="0"/>
                <a:ea typeface="Consolas" pitchFamily="34" charset="-122"/>
                <a:cs typeface="Consolas" pitchFamily="34" charset="-120"/>
              </a:rPr>
              <a:t>h=5</a:t>
            </a:r>
            <a:endParaRPr lang="en-US" sz="1100" dirty="0"/>
          </a:p>
        </p:txBody>
      </p:sp>
      <p:sp>
        <p:nvSpPr>
          <p:cNvPr id="86" name="Shape 84"/>
          <p:cNvSpPr/>
          <p:nvPr/>
        </p:nvSpPr>
        <p:spPr>
          <a:xfrm>
            <a:off x="3218688" y="4901184"/>
            <a:ext cx="713232" cy="713232"/>
          </a:xfrm>
          <a:prstGeom prst="roundRect">
            <a:avLst>
              <a:gd name="adj" fmla="val 8974"/>
            </a:avLst>
          </a:prstGeom>
          <a:solidFill>
            <a:schemeClr val="bg2"/>
          </a:solidFill>
          <a:ln w="12700">
            <a:solidFill>
              <a:schemeClr val="accent5"/>
            </a:solidFill>
            <a:prstDash val="solid"/>
          </a:ln>
        </p:spPr>
      </p:sp>
      <p:sp>
        <p:nvSpPr>
          <p:cNvPr id="87" name="Text 85"/>
          <p:cNvSpPr txBox="1"/>
          <p:nvPr/>
        </p:nvSpPr>
        <p:spPr>
          <a:xfrm>
            <a:off x="3218688" y="4901184"/>
            <a:ext cx="713232" cy="713232"/>
          </a:xfrm>
          <a:prstGeom prst="rect">
            <a:avLst/>
          </a:prstGeom>
          <a:noFill/>
          <a:ln/>
        </p:spPr>
        <p:txBody>
          <a:bodyPr wrap="square" lIns="0" tIns="0" rIns="0" bIns="0" rtlCol="0" anchor="ctr"/>
          <a:lstStyle/>
          <a:p>
            <a:pPr marL="0" indent="0" algn="ctr">
              <a:buNone/>
            </a:pPr>
            <a:r>
              <a:rPr lang="en-US" sz="1100" dirty="0">
                <a:solidFill>
                  <a:schemeClr val="tx2"/>
                </a:solidFill>
                <a:latin typeface="Consolas" pitchFamily="34" charset="0"/>
                <a:ea typeface="Consolas" pitchFamily="34" charset="-122"/>
                <a:cs typeface="Consolas" pitchFamily="34" charset="-120"/>
              </a:rPr>
              <a:t>h=4</a:t>
            </a:r>
            <a:endParaRPr lang="en-US" sz="1100" dirty="0"/>
          </a:p>
        </p:txBody>
      </p:sp>
      <p:sp>
        <p:nvSpPr>
          <p:cNvPr id="88" name="Shape 86"/>
          <p:cNvSpPr/>
          <p:nvPr/>
        </p:nvSpPr>
        <p:spPr>
          <a:xfrm>
            <a:off x="3986784" y="4901184"/>
            <a:ext cx="713232" cy="713232"/>
          </a:xfrm>
          <a:prstGeom prst="roundRect">
            <a:avLst>
              <a:gd name="adj" fmla="val 8974"/>
            </a:avLst>
          </a:prstGeom>
          <a:solidFill>
            <a:schemeClr val="bg2"/>
          </a:solidFill>
          <a:ln w="12700">
            <a:solidFill>
              <a:schemeClr val="accent5"/>
            </a:solidFill>
            <a:prstDash val="solid"/>
          </a:ln>
        </p:spPr>
      </p:sp>
      <p:sp>
        <p:nvSpPr>
          <p:cNvPr id="89" name="Text 87"/>
          <p:cNvSpPr txBox="1"/>
          <p:nvPr/>
        </p:nvSpPr>
        <p:spPr>
          <a:xfrm>
            <a:off x="3986784" y="4901184"/>
            <a:ext cx="713232" cy="713232"/>
          </a:xfrm>
          <a:prstGeom prst="rect">
            <a:avLst/>
          </a:prstGeom>
          <a:noFill/>
          <a:ln/>
        </p:spPr>
        <p:txBody>
          <a:bodyPr wrap="square" lIns="0" tIns="0" rIns="0" bIns="0" rtlCol="0" anchor="ctr"/>
          <a:lstStyle/>
          <a:p>
            <a:pPr marL="0" indent="0" algn="ctr">
              <a:buNone/>
            </a:pPr>
            <a:r>
              <a:rPr lang="en-US" sz="1100" dirty="0">
                <a:solidFill>
                  <a:schemeClr val="tx2"/>
                </a:solidFill>
                <a:latin typeface="Consolas" pitchFamily="34" charset="0"/>
                <a:ea typeface="Consolas" pitchFamily="34" charset="-122"/>
                <a:cs typeface="Consolas" pitchFamily="34" charset="-120"/>
              </a:rPr>
              <a:t>h=3</a:t>
            </a:r>
            <a:endParaRPr lang="en-US" sz="1100" dirty="0"/>
          </a:p>
        </p:txBody>
      </p:sp>
      <p:sp>
        <p:nvSpPr>
          <p:cNvPr id="90" name="Shape 88"/>
          <p:cNvSpPr/>
          <p:nvPr/>
        </p:nvSpPr>
        <p:spPr>
          <a:xfrm>
            <a:off x="4754880" y="4901184"/>
            <a:ext cx="713232" cy="713232"/>
          </a:xfrm>
          <a:prstGeom prst="roundRect">
            <a:avLst>
              <a:gd name="adj" fmla="val 8974"/>
            </a:avLst>
          </a:prstGeom>
          <a:solidFill>
            <a:schemeClr val="bg2"/>
          </a:solidFill>
          <a:ln w="12700">
            <a:solidFill>
              <a:schemeClr val="accent5"/>
            </a:solidFill>
            <a:prstDash val="solid"/>
          </a:ln>
        </p:spPr>
      </p:sp>
      <p:sp>
        <p:nvSpPr>
          <p:cNvPr id="91" name="Text 89"/>
          <p:cNvSpPr txBox="1"/>
          <p:nvPr/>
        </p:nvSpPr>
        <p:spPr>
          <a:xfrm>
            <a:off x="4754880" y="4901184"/>
            <a:ext cx="713232" cy="713232"/>
          </a:xfrm>
          <a:prstGeom prst="rect">
            <a:avLst/>
          </a:prstGeom>
          <a:noFill/>
          <a:ln/>
        </p:spPr>
        <p:txBody>
          <a:bodyPr wrap="square" lIns="0" tIns="0" rIns="0" bIns="0" rtlCol="0" anchor="ctr"/>
          <a:lstStyle/>
          <a:p>
            <a:pPr marL="0" indent="0" algn="ctr">
              <a:buNone/>
            </a:pPr>
            <a:r>
              <a:rPr lang="en-US" sz="1100" dirty="0">
                <a:solidFill>
                  <a:schemeClr val="tx2"/>
                </a:solidFill>
                <a:latin typeface="Consolas" pitchFamily="34" charset="0"/>
                <a:ea typeface="Consolas" pitchFamily="34" charset="-122"/>
                <a:cs typeface="Consolas" pitchFamily="34" charset="-120"/>
              </a:rPr>
              <a:t>h=2</a:t>
            </a:r>
            <a:endParaRPr lang="en-US" sz="1100" dirty="0"/>
          </a:p>
        </p:txBody>
      </p:sp>
      <p:sp>
        <p:nvSpPr>
          <p:cNvPr id="92" name="Shape 90"/>
          <p:cNvSpPr/>
          <p:nvPr/>
        </p:nvSpPr>
        <p:spPr>
          <a:xfrm>
            <a:off x="914400" y="5925312"/>
            <a:ext cx="182880" cy="182880"/>
          </a:xfrm>
          <a:prstGeom prst="roundRect">
            <a:avLst>
              <a:gd name="adj" fmla="val 20000"/>
            </a:avLst>
          </a:prstGeom>
          <a:solidFill>
            <a:schemeClr val="bg1"/>
          </a:solidFill>
          <a:ln w="19050">
            <a:solidFill>
              <a:schemeClr val="accent1"/>
            </a:solidFill>
            <a:prstDash val="solid"/>
          </a:ln>
        </p:spPr>
      </p:sp>
      <p:sp>
        <p:nvSpPr>
          <p:cNvPr id="93" name="Text 91"/>
          <p:cNvSpPr txBox="1"/>
          <p:nvPr/>
        </p:nvSpPr>
        <p:spPr>
          <a:xfrm>
            <a:off x="1170432" y="5897880"/>
            <a:ext cx="960120" cy="237744"/>
          </a:xfrm>
          <a:prstGeom prst="rect">
            <a:avLst/>
          </a:prstGeom>
          <a:noFill/>
          <a:ln/>
        </p:spPr>
        <p:txBody>
          <a:bodyPr wrap="square" lIns="0" tIns="0" rIns="0" bIns="0" rtlCol="0" anchor="ctr"/>
          <a:lstStyle/>
          <a:p>
            <a:pPr marL="0" indent="0">
              <a:buNone/>
            </a:pPr>
            <a:r>
              <a:rPr lang="en-US" sz="1000" dirty="0">
                <a:solidFill>
                  <a:schemeClr val="tx2"/>
                </a:solidFill>
                <a:latin typeface="Consolas" pitchFamily="34" charset="0"/>
                <a:ea typeface="Consolas" pitchFamily="34" charset="-122"/>
                <a:cs typeface="Consolas" pitchFamily="34" charset="-120"/>
              </a:rPr>
              <a:t>Current</a:t>
            </a:r>
            <a:endParaRPr lang="en-US" sz="1000" dirty="0"/>
          </a:p>
        </p:txBody>
      </p:sp>
      <p:sp>
        <p:nvSpPr>
          <p:cNvPr id="94" name="Shape 92"/>
          <p:cNvSpPr/>
          <p:nvPr/>
        </p:nvSpPr>
        <p:spPr>
          <a:xfrm>
            <a:off x="2148840" y="5925312"/>
            <a:ext cx="182880" cy="182880"/>
          </a:xfrm>
          <a:prstGeom prst="roundRect">
            <a:avLst>
              <a:gd name="adj" fmla="val 20000"/>
            </a:avLst>
          </a:prstGeom>
          <a:solidFill>
            <a:schemeClr val="bg1"/>
          </a:solidFill>
          <a:ln w="19050">
            <a:solidFill>
              <a:schemeClr val="accent2"/>
            </a:solidFill>
            <a:prstDash val="solid"/>
          </a:ln>
        </p:spPr>
      </p:sp>
      <p:sp>
        <p:nvSpPr>
          <p:cNvPr id="95" name="Text 93"/>
          <p:cNvSpPr txBox="1"/>
          <p:nvPr/>
        </p:nvSpPr>
        <p:spPr>
          <a:xfrm>
            <a:off x="2404872" y="5897880"/>
            <a:ext cx="960120" cy="237744"/>
          </a:xfrm>
          <a:prstGeom prst="rect">
            <a:avLst/>
          </a:prstGeom>
          <a:noFill/>
          <a:ln/>
        </p:spPr>
        <p:txBody>
          <a:bodyPr wrap="square" lIns="0" tIns="0" rIns="0" bIns="0" rtlCol="0" anchor="ctr"/>
          <a:lstStyle/>
          <a:p>
            <a:pPr marL="0" indent="0">
              <a:buNone/>
            </a:pPr>
            <a:r>
              <a:rPr lang="en-US" sz="1000" dirty="0">
                <a:solidFill>
                  <a:schemeClr val="tx2"/>
                </a:solidFill>
                <a:latin typeface="Consolas" pitchFamily="34" charset="0"/>
                <a:ea typeface="Consolas" pitchFamily="34" charset="-122"/>
                <a:cs typeface="Consolas" pitchFamily="34" charset="-120"/>
              </a:rPr>
              <a:t>Open list</a:t>
            </a:r>
            <a:endParaRPr lang="en-US" sz="1000" dirty="0"/>
          </a:p>
        </p:txBody>
      </p:sp>
      <p:sp>
        <p:nvSpPr>
          <p:cNvPr id="96" name="Shape 94"/>
          <p:cNvSpPr/>
          <p:nvPr/>
        </p:nvSpPr>
        <p:spPr>
          <a:xfrm>
            <a:off x="3383280" y="5925312"/>
            <a:ext cx="182880" cy="182880"/>
          </a:xfrm>
          <a:prstGeom prst="roundRect">
            <a:avLst>
              <a:gd name="adj" fmla="val 20000"/>
            </a:avLst>
          </a:prstGeom>
          <a:solidFill>
            <a:schemeClr val="bg1"/>
          </a:solidFill>
          <a:ln w="19050">
            <a:solidFill>
              <a:schemeClr val="accent5"/>
            </a:solidFill>
            <a:prstDash val="solid"/>
          </a:ln>
        </p:spPr>
      </p:sp>
      <p:sp>
        <p:nvSpPr>
          <p:cNvPr id="97" name="Text 95"/>
          <p:cNvSpPr txBox="1"/>
          <p:nvPr/>
        </p:nvSpPr>
        <p:spPr>
          <a:xfrm>
            <a:off x="3639312" y="5897880"/>
            <a:ext cx="960120" cy="237744"/>
          </a:xfrm>
          <a:prstGeom prst="rect">
            <a:avLst/>
          </a:prstGeom>
          <a:noFill/>
          <a:ln/>
        </p:spPr>
        <p:txBody>
          <a:bodyPr wrap="square" lIns="0" tIns="0" rIns="0" bIns="0" rtlCol="0" anchor="ctr"/>
          <a:lstStyle/>
          <a:p>
            <a:pPr marL="0" indent="0">
              <a:buNone/>
            </a:pPr>
            <a:r>
              <a:rPr lang="en-US" sz="1000" dirty="0">
                <a:solidFill>
                  <a:schemeClr val="tx2"/>
                </a:solidFill>
                <a:latin typeface="Consolas" pitchFamily="34" charset="0"/>
                <a:ea typeface="Consolas" pitchFamily="34" charset="-122"/>
                <a:cs typeface="Consolas" pitchFamily="34" charset="-120"/>
              </a:rPr>
              <a:t>Expanded</a:t>
            </a:r>
            <a:endParaRPr lang="en-US" sz="1000" dirty="0"/>
          </a:p>
        </p:txBody>
      </p:sp>
      <p:sp>
        <p:nvSpPr>
          <p:cNvPr id="98" name="Shape 96"/>
          <p:cNvSpPr/>
          <p:nvPr/>
        </p:nvSpPr>
        <p:spPr>
          <a:xfrm>
            <a:off x="4617720" y="5925312"/>
            <a:ext cx="182880" cy="182880"/>
          </a:xfrm>
          <a:prstGeom prst="roundRect">
            <a:avLst>
              <a:gd name="adj" fmla="val 20000"/>
            </a:avLst>
          </a:prstGeom>
          <a:solidFill>
            <a:schemeClr val="bg1"/>
          </a:solidFill>
          <a:ln w="19050">
            <a:solidFill>
              <a:schemeClr val="accent3"/>
            </a:solidFill>
            <a:prstDash val="solid"/>
          </a:ln>
        </p:spPr>
      </p:sp>
      <p:sp>
        <p:nvSpPr>
          <p:cNvPr id="99" name="Text 97"/>
          <p:cNvSpPr txBox="1"/>
          <p:nvPr/>
        </p:nvSpPr>
        <p:spPr>
          <a:xfrm>
            <a:off x="4873752" y="5897880"/>
            <a:ext cx="960120" cy="237744"/>
          </a:xfrm>
          <a:prstGeom prst="rect">
            <a:avLst/>
          </a:prstGeom>
          <a:noFill/>
          <a:ln/>
        </p:spPr>
        <p:txBody>
          <a:bodyPr wrap="square" lIns="0" tIns="0" rIns="0" bIns="0" rtlCol="0" anchor="ctr"/>
          <a:lstStyle/>
          <a:p>
            <a:pPr marL="0" indent="0">
              <a:buNone/>
            </a:pPr>
            <a:r>
              <a:rPr lang="en-US" sz="1000" dirty="0">
                <a:solidFill>
                  <a:schemeClr val="tx2"/>
                </a:solidFill>
                <a:latin typeface="Consolas" pitchFamily="34" charset="0"/>
                <a:ea typeface="Consolas" pitchFamily="34" charset="-122"/>
                <a:cs typeface="Consolas" pitchFamily="34" charset="-120"/>
              </a:rPr>
              <a:t>Blocked</a:t>
            </a:r>
            <a:endParaRPr lang="en-US" sz="1000" dirty="0"/>
          </a:p>
        </p:txBody>
      </p:sp>
      <p:sp>
        <p:nvSpPr>
          <p:cNvPr id="100" name="Text 98"/>
          <p:cNvSpPr txBox="1"/>
          <p:nvPr/>
        </p:nvSpPr>
        <p:spPr>
          <a:xfrm>
            <a:off x="914400" y="6172200"/>
            <a:ext cx="5303520" cy="201168"/>
          </a:xfrm>
          <a:prstGeom prst="rect">
            <a:avLst/>
          </a:prstGeom>
          <a:noFill/>
          <a:ln/>
        </p:spPr>
        <p:txBody>
          <a:bodyPr wrap="square" lIns="0" tIns="0" rIns="0" bIns="0" rtlCol="0" anchor="t"/>
          <a:lstStyle/>
          <a:p>
            <a:pPr marL="0" indent="0">
              <a:buNone/>
            </a:pPr>
            <a:r>
              <a:rPr lang="en-US" sz="900" dirty="0">
                <a:solidFill>
                  <a:schemeClr val="tx2"/>
                </a:solidFill>
                <a:latin typeface="Consolas" pitchFamily="34" charset="0"/>
                <a:ea typeface="Consolas" pitchFamily="34" charset="-122"/>
                <a:cs typeface="Consolas" pitchFamily="34" charset="-120"/>
              </a:rPr>
              <a:t>Cell: f = g + h  ·  arrow = move that reached it  ·  grey = h only</a:t>
            </a:r>
            <a:endParaRPr lang="en-US" sz="900" dirty="0"/>
          </a:p>
        </p:txBody>
      </p:sp>
      <p:sp>
        <p:nvSpPr>
          <p:cNvPr id="101" name="Text 99"/>
          <p:cNvSpPr txBox="1"/>
          <p:nvPr/>
        </p:nvSpPr>
        <p:spPr>
          <a:xfrm>
            <a:off x="6355080" y="1481328"/>
            <a:ext cx="2743200" cy="201168"/>
          </a:xfrm>
          <a:prstGeom prst="rect">
            <a:avLst/>
          </a:prstGeom>
          <a:noFill/>
          <a:ln/>
        </p:spPr>
        <p:txBody>
          <a:bodyPr wrap="square" lIns="0" tIns="0" rIns="0" bIns="0" rtlCol="0" anchor="t"/>
          <a:lstStyle/>
          <a:p>
            <a:pPr marL="0" indent="0">
              <a:buNone/>
            </a:pPr>
            <a:r>
              <a:rPr lang="en-US" sz="1000" b="1" dirty="0">
                <a:solidFill>
                  <a:schemeClr val="accent1"/>
                </a:solidFill>
                <a:latin typeface="Consolas" pitchFamily="34" charset="0"/>
                <a:ea typeface="Consolas" pitchFamily="34" charset="-122"/>
                <a:cs typeface="Consolas" pitchFamily="34" charset="-120"/>
              </a:rPr>
              <a:t>A* STEPS 1–2 OF 6</a:t>
            </a:r>
            <a:endParaRPr lang="en-US" sz="1000" dirty="0"/>
          </a:p>
        </p:txBody>
      </p:sp>
      <p:sp>
        <p:nvSpPr>
          <p:cNvPr id="102" name="Text 100"/>
          <p:cNvSpPr txBox="1"/>
          <p:nvPr/>
        </p:nvSpPr>
        <p:spPr>
          <a:xfrm>
            <a:off x="6355080" y="1737360"/>
            <a:ext cx="5285232" cy="457200"/>
          </a:xfrm>
          <a:prstGeom prst="rect">
            <a:avLst/>
          </a:prstGeom>
          <a:noFill/>
          <a:ln/>
        </p:spPr>
        <p:txBody>
          <a:bodyPr wrap="square" lIns="0" tIns="0" rIns="0" bIns="0" rtlCol="0" anchor="t"/>
          <a:lstStyle/>
          <a:p>
            <a:pPr marL="0" indent="0">
              <a:buNone/>
            </a:pPr>
            <a:r>
              <a:rPr lang="en-US" sz="2400" b="1" dirty="0">
                <a:solidFill>
                  <a:schemeClr val="tx1"/>
                </a:solidFill>
              </a:rPr>
              <a:t>Start at S and evaluate the neighbours</a:t>
            </a:r>
            <a:endParaRPr lang="en-US" sz="2400" dirty="0"/>
          </a:p>
        </p:txBody>
      </p:sp>
      <p:sp>
        <p:nvSpPr>
          <p:cNvPr id="103" name="Text 101"/>
          <p:cNvSpPr txBox="1"/>
          <p:nvPr/>
        </p:nvSpPr>
        <p:spPr>
          <a:xfrm>
            <a:off x="6355080" y="2286000"/>
            <a:ext cx="5285232" cy="868680"/>
          </a:xfrm>
          <a:prstGeom prst="rect">
            <a:avLst/>
          </a:prstGeom>
          <a:noFill/>
          <a:ln/>
        </p:spPr>
        <p:txBody>
          <a:bodyPr wrap="square" lIns="0" tIns="0" rIns="0" bIns="0" rtlCol="0" anchor="t"/>
          <a:lstStyle/>
          <a:p>
            <a:pPr marL="0" indent="0">
              <a:buNone/>
            </a:pPr>
            <a:r>
              <a:rPr lang="en-US" sz="1400" dirty="0">
                <a:solidFill>
                  <a:schemeClr val="tx2"/>
                </a:solidFill>
              </a:rPr>
              <a:t>The drone starts at A3 and every free cell shows its estimate h(n) to F3. From A3 it can move to B3, A2 or A4; each move costs 1, so g = 1 for all three.</a:t>
            </a:r>
            <a:endParaRPr lang="en-US" sz="1400" dirty="0"/>
          </a:p>
        </p:txBody>
      </p:sp>
      <p:sp>
        <p:nvSpPr>
          <p:cNvPr id="104" name="Text 102"/>
          <p:cNvSpPr txBox="1"/>
          <p:nvPr/>
        </p:nvSpPr>
        <p:spPr>
          <a:xfrm>
            <a:off x="6355080" y="3246120"/>
            <a:ext cx="5285232" cy="182880"/>
          </a:xfrm>
          <a:prstGeom prst="rect">
            <a:avLst/>
          </a:prstGeom>
          <a:noFill/>
          <a:ln/>
        </p:spPr>
        <p:txBody>
          <a:bodyPr wrap="square" lIns="0" tIns="0" rIns="0" bIns="0" rtlCol="0" anchor="t"/>
          <a:lstStyle/>
          <a:p>
            <a:pPr marL="0" indent="0">
              <a:buNone/>
            </a:pPr>
            <a:r>
              <a:rPr lang="en-US" sz="900" b="1" dirty="0">
                <a:solidFill>
                  <a:schemeClr val="tx2"/>
                </a:solidFill>
                <a:latin typeface="Consolas" pitchFamily="34" charset="0"/>
                <a:ea typeface="Consolas" pitchFamily="34" charset="-122"/>
                <a:cs typeface="Consolas" pitchFamily="34" charset="-120"/>
              </a:rPr>
              <a:t>OPEN LIST · A* EXPANDS THE LOWEST f NEXT</a:t>
            </a:r>
            <a:endParaRPr lang="en-US" sz="900" dirty="0"/>
          </a:p>
        </p:txBody>
      </p:sp>
      <p:graphicFrame>
        <p:nvGraphicFramePr>
          <p:cNvPr id="105" name="Table 0"/>
          <p:cNvGraphicFramePr>
            <a:graphicFrameLocks noGrp="1"/>
          </p:cNvGraphicFramePr>
          <p:nvPr>
            <p:extLst>
              <p:ext uri="{D42A27DB-BD31-4B8C-83A1-F6EECF244321}">
                <p14:modId xmlns:p14="http://schemas.microsoft.com/office/powerpoint/2010/main" val="1579011935"/>
              </p:ext>
            </p:extLst>
          </p:nvPr>
        </p:nvGraphicFramePr>
        <p:xfrm>
          <a:off x="6355080" y="3474720"/>
          <a:ext cx="5285232" cy="1463040"/>
        </p:xfrm>
        <a:graphic>
          <a:graphicData uri="http://schemas.openxmlformats.org/drawingml/2006/table">
            <a:tbl>
              <a:tblPr/>
              <a:tblGrid>
                <a:gridCol w="868680">
                  <a:extLst>
                    <a:ext uri="{9D8B030D-6E8A-4147-A177-3AD203B41FA5}">
                      <a16:colId xmlns:a16="http://schemas.microsoft.com/office/drawing/2014/main" val="20000"/>
                    </a:ext>
                  </a:extLst>
                </a:gridCol>
                <a:gridCol w="594360">
                  <a:extLst>
                    <a:ext uri="{9D8B030D-6E8A-4147-A177-3AD203B41FA5}">
                      <a16:colId xmlns:a16="http://schemas.microsoft.com/office/drawing/2014/main" val="20001"/>
                    </a:ext>
                  </a:extLst>
                </a:gridCol>
                <a:gridCol w="594360">
                  <a:extLst>
                    <a:ext uri="{9D8B030D-6E8A-4147-A177-3AD203B41FA5}">
                      <a16:colId xmlns:a16="http://schemas.microsoft.com/office/drawing/2014/main" val="20002"/>
                    </a:ext>
                  </a:extLst>
                </a:gridCol>
                <a:gridCol w="1325880">
                  <a:extLst>
                    <a:ext uri="{9D8B030D-6E8A-4147-A177-3AD203B41FA5}">
                      <a16:colId xmlns:a16="http://schemas.microsoft.com/office/drawing/2014/main" val="20003"/>
                    </a:ext>
                  </a:extLst>
                </a:gridCol>
                <a:gridCol w="1901952">
                  <a:extLst>
                    <a:ext uri="{9D8B030D-6E8A-4147-A177-3AD203B41FA5}">
                      <a16:colId xmlns:a16="http://schemas.microsoft.com/office/drawing/2014/main" val="20004"/>
                    </a:ext>
                  </a:extLst>
                </a:gridCol>
              </a:tblGrid>
              <a:tr h="365760">
                <a:tc>
                  <a:txBody>
                    <a:bodyPr/>
                    <a:lstStyle/>
                    <a:p>
                      <a:pPr marL="0" indent="0">
                        <a:buNone/>
                      </a:pPr>
                      <a:r>
                        <a:rPr lang="en-US" sz="1000" b="1" dirty="0">
                          <a:solidFill>
                            <a:srgbClr val="94A3B8"/>
                          </a:solidFill>
                          <a:latin typeface="Consolas" pitchFamily="34" charset="0"/>
                          <a:ea typeface="Consolas" pitchFamily="34" charset="-122"/>
                          <a:cs typeface="Consolas" pitchFamily="34" charset="-120"/>
                        </a:rPr>
                        <a:t>NODE</a:t>
                      </a:r>
                      <a:endParaRPr lang="en-US" sz="1000" dirty="0">
                        <a:latin typeface="Consolas" charset="0"/>
                        <a:ea typeface="Consolas" charset="0"/>
                        <a:cs typeface="Consolas" charset="0"/>
                      </a:endParaRPr>
                    </a:p>
                  </a:txBody>
                  <a:tcPr marT="0" marB="0" anchor="ctr">
                    <a:lnL w="9525" cap="flat" cmpd="sng" algn="ctr">
                      <a:solidFill>
                        <a:srgbClr val="24324D"/>
                      </a:solidFill>
                      <a:prstDash val="solid"/>
                      <a:round/>
                      <a:headEnd type="none" w="med" len="med"/>
                      <a:tailEnd type="none" w="med" len="med"/>
                    </a:lnL>
                    <a:lnR w="9525" cap="flat" cmpd="sng" algn="ctr">
                      <a:solidFill>
                        <a:srgbClr val="24324D"/>
                      </a:solidFill>
                      <a:prstDash val="solid"/>
                      <a:round/>
                      <a:headEnd type="none" w="med" len="med"/>
                      <a:tailEnd type="none" w="med" len="med"/>
                    </a:lnR>
                    <a:lnT w="9525" cap="flat" cmpd="sng" algn="ctr">
                      <a:solidFill>
                        <a:srgbClr val="24324D"/>
                      </a:solidFill>
                      <a:prstDash val="solid"/>
                      <a:round/>
                      <a:headEnd type="none" w="med" len="med"/>
                      <a:tailEnd type="none" w="med" len="med"/>
                    </a:lnT>
                    <a:lnB w="9525" cap="flat" cmpd="sng" algn="ctr">
                      <a:solidFill>
                        <a:srgbClr val="24324D"/>
                      </a:solidFill>
                      <a:prstDash val="solid"/>
                      <a:round/>
                      <a:headEnd type="none" w="med" len="med"/>
                      <a:tailEnd type="none" w="med" len="med"/>
                    </a:lnB>
                  </a:tcPr>
                </a:tc>
                <a:tc>
                  <a:txBody>
                    <a:bodyPr/>
                    <a:lstStyle/>
                    <a:p>
                      <a:pPr marL="0" indent="0">
                        <a:buNone/>
                      </a:pPr>
                      <a:r>
                        <a:rPr lang="en-US" sz="1000" b="1" dirty="0">
                          <a:solidFill>
                            <a:srgbClr val="94A3B8"/>
                          </a:solidFill>
                          <a:latin typeface="Consolas" pitchFamily="34" charset="0"/>
                          <a:ea typeface="Consolas" pitchFamily="34" charset="-122"/>
                          <a:cs typeface="Consolas" pitchFamily="34" charset="-120"/>
                        </a:rPr>
                        <a:t>g</a:t>
                      </a:r>
                      <a:endParaRPr lang="en-US" sz="1000" dirty="0">
                        <a:latin typeface="Consolas" charset="0"/>
                        <a:ea typeface="Consolas" charset="0"/>
                        <a:cs typeface="Consolas" charset="0"/>
                      </a:endParaRPr>
                    </a:p>
                  </a:txBody>
                  <a:tcPr marT="0" marB="0" anchor="ctr">
                    <a:lnL w="9525" cap="flat" cmpd="sng" algn="ctr">
                      <a:solidFill>
                        <a:srgbClr val="24324D"/>
                      </a:solidFill>
                      <a:prstDash val="solid"/>
                      <a:round/>
                      <a:headEnd type="none" w="med" len="med"/>
                      <a:tailEnd type="none" w="med" len="med"/>
                    </a:lnL>
                    <a:lnR w="9525" cap="flat" cmpd="sng" algn="ctr">
                      <a:solidFill>
                        <a:srgbClr val="24324D"/>
                      </a:solidFill>
                      <a:prstDash val="solid"/>
                      <a:round/>
                      <a:headEnd type="none" w="med" len="med"/>
                      <a:tailEnd type="none" w="med" len="med"/>
                    </a:lnR>
                    <a:lnT w="9525" cap="flat" cmpd="sng" algn="ctr">
                      <a:solidFill>
                        <a:srgbClr val="24324D"/>
                      </a:solidFill>
                      <a:prstDash val="solid"/>
                      <a:round/>
                      <a:headEnd type="none" w="med" len="med"/>
                      <a:tailEnd type="none" w="med" len="med"/>
                    </a:lnT>
                    <a:lnB w="9525" cap="flat" cmpd="sng" algn="ctr">
                      <a:solidFill>
                        <a:srgbClr val="24324D"/>
                      </a:solidFill>
                      <a:prstDash val="solid"/>
                      <a:round/>
                      <a:headEnd type="none" w="med" len="med"/>
                      <a:tailEnd type="none" w="med" len="med"/>
                    </a:lnB>
                  </a:tcPr>
                </a:tc>
                <a:tc>
                  <a:txBody>
                    <a:bodyPr/>
                    <a:lstStyle/>
                    <a:p>
                      <a:pPr marL="0" indent="0">
                        <a:buNone/>
                      </a:pPr>
                      <a:r>
                        <a:rPr lang="en-US" sz="1000" b="1" dirty="0">
                          <a:solidFill>
                            <a:srgbClr val="94A3B8"/>
                          </a:solidFill>
                          <a:latin typeface="Consolas" pitchFamily="34" charset="0"/>
                          <a:ea typeface="Consolas" pitchFamily="34" charset="-122"/>
                          <a:cs typeface="Consolas" pitchFamily="34" charset="-120"/>
                        </a:rPr>
                        <a:t>h</a:t>
                      </a:r>
                      <a:endParaRPr lang="en-US" sz="1000" dirty="0">
                        <a:latin typeface="Consolas" charset="0"/>
                        <a:ea typeface="Consolas" charset="0"/>
                        <a:cs typeface="Consolas" charset="0"/>
                      </a:endParaRPr>
                    </a:p>
                  </a:txBody>
                  <a:tcPr marT="0" marB="0" anchor="ctr">
                    <a:lnL w="9525" cap="flat" cmpd="sng" algn="ctr">
                      <a:solidFill>
                        <a:srgbClr val="24324D"/>
                      </a:solidFill>
                      <a:prstDash val="solid"/>
                      <a:round/>
                      <a:headEnd type="none" w="med" len="med"/>
                      <a:tailEnd type="none" w="med" len="med"/>
                    </a:lnL>
                    <a:lnR w="9525" cap="flat" cmpd="sng" algn="ctr">
                      <a:solidFill>
                        <a:srgbClr val="24324D"/>
                      </a:solidFill>
                      <a:prstDash val="solid"/>
                      <a:round/>
                      <a:headEnd type="none" w="med" len="med"/>
                      <a:tailEnd type="none" w="med" len="med"/>
                    </a:lnR>
                    <a:lnT w="9525" cap="flat" cmpd="sng" algn="ctr">
                      <a:solidFill>
                        <a:srgbClr val="24324D"/>
                      </a:solidFill>
                      <a:prstDash val="solid"/>
                      <a:round/>
                      <a:headEnd type="none" w="med" len="med"/>
                      <a:tailEnd type="none" w="med" len="med"/>
                    </a:lnT>
                    <a:lnB w="9525" cap="flat" cmpd="sng" algn="ctr">
                      <a:solidFill>
                        <a:srgbClr val="24324D"/>
                      </a:solidFill>
                      <a:prstDash val="solid"/>
                      <a:round/>
                      <a:headEnd type="none" w="med" len="med"/>
                      <a:tailEnd type="none" w="med" len="med"/>
                    </a:lnB>
                  </a:tcPr>
                </a:tc>
                <a:tc>
                  <a:txBody>
                    <a:bodyPr/>
                    <a:lstStyle/>
                    <a:p>
                      <a:pPr marL="0" indent="0">
                        <a:buNone/>
                      </a:pPr>
                      <a:r>
                        <a:rPr lang="en-US" sz="1000" b="1" dirty="0">
                          <a:solidFill>
                            <a:srgbClr val="94A3B8"/>
                          </a:solidFill>
                          <a:latin typeface="Consolas" pitchFamily="34" charset="0"/>
                          <a:ea typeface="Consolas" pitchFamily="34" charset="-122"/>
                          <a:cs typeface="Consolas" pitchFamily="34" charset="-120"/>
                        </a:rPr>
                        <a:t>f = g + h</a:t>
                      </a:r>
                      <a:endParaRPr lang="en-US" sz="1000" dirty="0">
                        <a:latin typeface="Consolas" charset="0"/>
                        <a:ea typeface="Consolas" charset="0"/>
                        <a:cs typeface="Consolas" charset="0"/>
                      </a:endParaRPr>
                    </a:p>
                  </a:txBody>
                  <a:tcPr marT="0" marB="0" anchor="ctr">
                    <a:lnL w="9525" cap="flat" cmpd="sng" algn="ctr">
                      <a:solidFill>
                        <a:srgbClr val="24324D"/>
                      </a:solidFill>
                      <a:prstDash val="solid"/>
                      <a:round/>
                      <a:headEnd type="none" w="med" len="med"/>
                      <a:tailEnd type="none" w="med" len="med"/>
                    </a:lnL>
                    <a:lnR w="9525" cap="flat" cmpd="sng" algn="ctr">
                      <a:solidFill>
                        <a:srgbClr val="24324D"/>
                      </a:solidFill>
                      <a:prstDash val="solid"/>
                      <a:round/>
                      <a:headEnd type="none" w="med" len="med"/>
                      <a:tailEnd type="none" w="med" len="med"/>
                    </a:lnR>
                    <a:lnT w="9525" cap="flat" cmpd="sng" algn="ctr">
                      <a:solidFill>
                        <a:srgbClr val="24324D"/>
                      </a:solidFill>
                      <a:prstDash val="solid"/>
                      <a:round/>
                      <a:headEnd type="none" w="med" len="med"/>
                      <a:tailEnd type="none" w="med" len="med"/>
                    </a:lnT>
                    <a:lnB w="9525" cap="flat" cmpd="sng" algn="ctr">
                      <a:solidFill>
                        <a:srgbClr val="24324D"/>
                      </a:solidFill>
                      <a:prstDash val="solid"/>
                      <a:round/>
                      <a:headEnd type="none" w="med" len="med"/>
                      <a:tailEnd type="none" w="med" len="med"/>
                    </a:lnB>
                  </a:tcPr>
                </a:tc>
                <a:tc>
                  <a:txBody>
                    <a:bodyPr/>
                    <a:lstStyle/>
                    <a:p>
                      <a:pPr marL="0" indent="0">
                        <a:buNone/>
                      </a:pPr>
                      <a:r>
                        <a:rPr lang="en-US" sz="1000" b="1" dirty="0">
                          <a:solidFill>
                            <a:srgbClr val="94A3B8"/>
                          </a:solidFill>
                          <a:latin typeface="Consolas" pitchFamily="34" charset="0"/>
                          <a:ea typeface="Consolas" pitchFamily="34" charset="-122"/>
                          <a:cs typeface="Consolas" pitchFamily="34" charset="-120"/>
                        </a:rPr>
                        <a:t>RESULT</a:t>
                      </a:r>
                      <a:endParaRPr lang="en-US" sz="1000" dirty="0">
                        <a:latin typeface="Consolas" charset="0"/>
                        <a:ea typeface="Consolas" charset="0"/>
                        <a:cs typeface="Consolas" charset="0"/>
                      </a:endParaRPr>
                    </a:p>
                  </a:txBody>
                  <a:tcPr marT="0" marB="0" anchor="ctr">
                    <a:lnL w="9525" cap="flat" cmpd="sng" algn="ctr">
                      <a:solidFill>
                        <a:srgbClr val="24324D"/>
                      </a:solidFill>
                      <a:prstDash val="solid"/>
                      <a:round/>
                      <a:headEnd type="none" w="med" len="med"/>
                      <a:tailEnd type="none" w="med" len="med"/>
                    </a:lnL>
                    <a:lnR w="9525" cap="flat" cmpd="sng" algn="ctr">
                      <a:solidFill>
                        <a:srgbClr val="24324D"/>
                      </a:solidFill>
                      <a:prstDash val="solid"/>
                      <a:round/>
                      <a:headEnd type="none" w="med" len="med"/>
                      <a:tailEnd type="none" w="med" len="med"/>
                    </a:lnR>
                    <a:lnT w="9525" cap="flat" cmpd="sng" algn="ctr">
                      <a:solidFill>
                        <a:srgbClr val="24324D"/>
                      </a:solidFill>
                      <a:prstDash val="solid"/>
                      <a:round/>
                      <a:headEnd type="none" w="med" len="med"/>
                      <a:tailEnd type="none" w="med" len="med"/>
                    </a:lnT>
                    <a:lnB w="9525" cap="flat" cmpd="sng" algn="ctr">
                      <a:solidFill>
                        <a:srgbClr val="24324D"/>
                      </a:solidFill>
                      <a:prstDash val="solid"/>
                      <a:round/>
                      <a:headEnd type="none" w="med" len="med"/>
                      <a:tailEnd type="none" w="med" len="med"/>
                    </a:lnB>
                  </a:tcPr>
                </a:tc>
                <a:extLst>
                  <a:ext uri="{0D108BD9-81ED-4DB2-BD59-A6C34878D82A}">
                    <a16:rowId xmlns:a16="http://schemas.microsoft.com/office/drawing/2014/main" val="10000"/>
                  </a:ext>
                </a:extLst>
              </a:tr>
              <a:tr h="365760">
                <a:tc>
                  <a:txBody>
                    <a:bodyPr/>
                    <a:lstStyle/>
                    <a:p>
                      <a:pPr marL="0" indent="0">
                        <a:buNone/>
                      </a:pPr>
                      <a:r>
                        <a:rPr lang="en-US" sz="1300" b="1" dirty="0">
                          <a:solidFill>
                            <a:srgbClr val="F1F5F9"/>
                          </a:solidFill>
                          <a:latin typeface="Consolas" pitchFamily="34" charset="0"/>
                          <a:ea typeface="Consolas" pitchFamily="34" charset="-122"/>
                          <a:cs typeface="Consolas" pitchFamily="34" charset="-120"/>
                        </a:rPr>
                        <a:t>B3</a:t>
                      </a:r>
                      <a:endParaRPr lang="en-US" sz="1300" dirty="0">
                        <a:latin typeface="Consolas" charset="0"/>
                        <a:ea typeface="Consolas" charset="0"/>
                        <a:cs typeface="Consolas" charset="0"/>
                      </a:endParaRPr>
                    </a:p>
                  </a:txBody>
                  <a:tcPr marT="0" marB="0" anchor="ctr">
                    <a:lnL w="9525" cap="flat" cmpd="sng" algn="ctr">
                      <a:solidFill>
                        <a:srgbClr val="24324D"/>
                      </a:solidFill>
                      <a:prstDash val="solid"/>
                      <a:round/>
                      <a:headEnd type="none" w="med" len="med"/>
                      <a:tailEnd type="none" w="med" len="med"/>
                    </a:lnL>
                    <a:lnR w="9525" cap="flat" cmpd="sng" algn="ctr">
                      <a:solidFill>
                        <a:srgbClr val="24324D"/>
                      </a:solidFill>
                      <a:prstDash val="solid"/>
                      <a:round/>
                      <a:headEnd type="none" w="med" len="med"/>
                      <a:tailEnd type="none" w="med" len="med"/>
                    </a:lnR>
                    <a:lnT w="9525" cap="flat" cmpd="sng" algn="ctr">
                      <a:solidFill>
                        <a:srgbClr val="24324D"/>
                      </a:solidFill>
                      <a:prstDash val="solid"/>
                      <a:round/>
                      <a:headEnd type="none" w="med" len="med"/>
                      <a:tailEnd type="none" w="med" len="med"/>
                    </a:lnT>
                    <a:lnB w="9525" cap="flat" cmpd="sng" algn="ctr">
                      <a:solidFill>
                        <a:srgbClr val="24324D"/>
                      </a:solidFill>
                      <a:prstDash val="solid"/>
                      <a:round/>
                      <a:headEnd type="none" w="med" len="med"/>
                      <a:tailEnd type="none" w="med" len="med"/>
                    </a:lnB>
                    <a:solidFill>
                      <a:srgbClr val="0E3B47"/>
                    </a:solidFill>
                  </a:tcPr>
                </a:tc>
                <a:tc>
                  <a:txBody>
                    <a:bodyPr/>
                    <a:lstStyle/>
                    <a:p>
                      <a:pPr marL="0" indent="0">
                        <a:buNone/>
                      </a:pPr>
                      <a:r>
                        <a:rPr lang="en-US" sz="1300" dirty="0">
                          <a:solidFill>
                            <a:srgbClr val="CBD5E1"/>
                          </a:solidFill>
                          <a:latin typeface="Consolas" pitchFamily="34" charset="0"/>
                          <a:ea typeface="Consolas" pitchFamily="34" charset="-122"/>
                          <a:cs typeface="Consolas" pitchFamily="34" charset="-120"/>
                        </a:rPr>
                        <a:t>1</a:t>
                      </a:r>
                      <a:endParaRPr lang="en-US" sz="1300" dirty="0">
                        <a:latin typeface="Consolas" charset="0"/>
                        <a:ea typeface="Consolas" charset="0"/>
                        <a:cs typeface="Consolas" charset="0"/>
                      </a:endParaRPr>
                    </a:p>
                  </a:txBody>
                  <a:tcPr marT="0" marB="0" anchor="ctr">
                    <a:lnL w="9525" cap="flat" cmpd="sng" algn="ctr">
                      <a:solidFill>
                        <a:srgbClr val="24324D"/>
                      </a:solidFill>
                      <a:prstDash val="solid"/>
                      <a:round/>
                      <a:headEnd type="none" w="med" len="med"/>
                      <a:tailEnd type="none" w="med" len="med"/>
                    </a:lnL>
                    <a:lnR w="9525" cap="flat" cmpd="sng" algn="ctr">
                      <a:solidFill>
                        <a:srgbClr val="24324D"/>
                      </a:solidFill>
                      <a:prstDash val="solid"/>
                      <a:round/>
                      <a:headEnd type="none" w="med" len="med"/>
                      <a:tailEnd type="none" w="med" len="med"/>
                    </a:lnR>
                    <a:lnT w="9525" cap="flat" cmpd="sng" algn="ctr">
                      <a:solidFill>
                        <a:srgbClr val="24324D"/>
                      </a:solidFill>
                      <a:prstDash val="solid"/>
                      <a:round/>
                      <a:headEnd type="none" w="med" len="med"/>
                      <a:tailEnd type="none" w="med" len="med"/>
                    </a:lnT>
                    <a:lnB w="9525" cap="flat" cmpd="sng" algn="ctr">
                      <a:solidFill>
                        <a:srgbClr val="24324D"/>
                      </a:solidFill>
                      <a:prstDash val="solid"/>
                      <a:round/>
                      <a:headEnd type="none" w="med" len="med"/>
                      <a:tailEnd type="none" w="med" len="med"/>
                    </a:lnB>
                    <a:solidFill>
                      <a:srgbClr val="0E3B47"/>
                    </a:solidFill>
                  </a:tcPr>
                </a:tc>
                <a:tc>
                  <a:txBody>
                    <a:bodyPr/>
                    <a:lstStyle/>
                    <a:p>
                      <a:pPr marL="0" indent="0">
                        <a:buNone/>
                      </a:pPr>
                      <a:r>
                        <a:rPr lang="en-US" sz="1300" dirty="0">
                          <a:solidFill>
                            <a:srgbClr val="CBD5E1"/>
                          </a:solidFill>
                          <a:latin typeface="Consolas" pitchFamily="34" charset="0"/>
                          <a:ea typeface="Consolas" pitchFamily="34" charset="-122"/>
                          <a:cs typeface="Consolas" pitchFamily="34" charset="-120"/>
                        </a:rPr>
                        <a:t>4</a:t>
                      </a:r>
                      <a:endParaRPr lang="en-US" sz="1300" dirty="0">
                        <a:latin typeface="Consolas" charset="0"/>
                        <a:ea typeface="Consolas" charset="0"/>
                        <a:cs typeface="Consolas" charset="0"/>
                      </a:endParaRPr>
                    </a:p>
                  </a:txBody>
                  <a:tcPr marT="0" marB="0" anchor="ctr">
                    <a:lnL w="9525" cap="flat" cmpd="sng" algn="ctr">
                      <a:solidFill>
                        <a:srgbClr val="24324D"/>
                      </a:solidFill>
                      <a:prstDash val="solid"/>
                      <a:round/>
                      <a:headEnd type="none" w="med" len="med"/>
                      <a:tailEnd type="none" w="med" len="med"/>
                    </a:lnL>
                    <a:lnR w="9525" cap="flat" cmpd="sng" algn="ctr">
                      <a:solidFill>
                        <a:srgbClr val="24324D"/>
                      </a:solidFill>
                      <a:prstDash val="solid"/>
                      <a:round/>
                      <a:headEnd type="none" w="med" len="med"/>
                      <a:tailEnd type="none" w="med" len="med"/>
                    </a:lnR>
                    <a:lnT w="9525" cap="flat" cmpd="sng" algn="ctr">
                      <a:solidFill>
                        <a:srgbClr val="24324D"/>
                      </a:solidFill>
                      <a:prstDash val="solid"/>
                      <a:round/>
                      <a:headEnd type="none" w="med" len="med"/>
                      <a:tailEnd type="none" w="med" len="med"/>
                    </a:lnT>
                    <a:lnB w="9525" cap="flat" cmpd="sng" algn="ctr">
                      <a:solidFill>
                        <a:srgbClr val="24324D"/>
                      </a:solidFill>
                      <a:prstDash val="solid"/>
                      <a:round/>
                      <a:headEnd type="none" w="med" len="med"/>
                      <a:tailEnd type="none" w="med" len="med"/>
                    </a:lnB>
                    <a:solidFill>
                      <a:srgbClr val="0E3B47"/>
                    </a:solidFill>
                  </a:tcPr>
                </a:tc>
                <a:tc>
                  <a:txBody>
                    <a:bodyPr/>
                    <a:lstStyle/>
                    <a:p>
                      <a:pPr marL="0" indent="0">
                        <a:buNone/>
                      </a:pPr>
                      <a:r>
                        <a:rPr lang="en-US" sz="1300" dirty="0">
                          <a:solidFill>
                            <a:srgbClr val="CBD5E1"/>
                          </a:solidFill>
                          <a:latin typeface="Consolas" pitchFamily="34" charset="0"/>
                          <a:ea typeface="Consolas" pitchFamily="34" charset="-122"/>
                          <a:cs typeface="Consolas" pitchFamily="34" charset="-120"/>
                        </a:rPr>
                        <a:t>1+4 = 5</a:t>
                      </a:r>
                      <a:endParaRPr lang="en-US" sz="1300" dirty="0">
                        <a:latin typeface="Consolas" charset="0"/>
                        <a:ea typeface="Consolas" charset="0"/>
                        <a:cs typeface="Consolas" charset="0"/>
                      </a:endParaRPr>
                    </a:p>
                  </a:txBody>
                  <a:tcPr marT="0" marB="0" anchor="ctr">
                    <a:lnL w="9525" cap="flat" cmpd="sng" algn="ctr">
                      <a:solidFill>
                        <a:srgbClr val="24324D"/>
                      </a:solidFill>
                      <a:prstDash val="solid"/>
                      <a:round/>
                      <a:headEnd type="none" w="med" len="med"/>
                      <a:tailEnd type="none" w="med" len="med"/>
                    </a:lnL>
                    <a:lnR w="9525" cap="flat" cmpd="sng" algn="ctr">
                      <a:solidFill>
                        <a:srgbClr val="24324D"/>
                      </a:solidFill>
                      <a:prstDash val="solid"/>
                      <a:round/>
                      <a:headEnd type="none" w="med" len="med"/>
                      <a:tailEnd type="none" w="med" len="med"/>
                    </a:lnR>
                    <a:lnT w="9525" cap="flat" cmpd="sng" algn="ctr">
                      <a:solidFill>
                        <a:srgbClr val="24324D"/>
                      </a:solidFill>
                      <a:prstDash val="solid"/>
                      <a:round/>
                      <a:headEnd type="none" w="med" len="med"/>
                      <a:tailEnd type="none" w="med" len="med"/>
                    </a:lnT>
                    <a:lnB w="9525" cap="flat" cmpd="sng" algn="ctr">
                      <a:solidFill>
                        <a:srgbClr val="24324D"/>
                      </a:solidFill>
                      <a:prstDash val="solid"/>
                      <a:round/>
                      <a:headEnd type="none" w="med" len="med"/>
                      <a:tailEnd type="none" w="med" len="med"/>
                    </a:lnB>
                    <a:solidFill>
                      <a:srgbClr val="0E3B47"/>
                    </a:solidFill>
                  </a:tcPr>
                </a:tc>
                <a:tc>
                  <a:txBody>
                    <a:bodyPr/>
                    <a:lstStyle/>
                    <a:p>
                      <a:pPr marL="0" indent="0">
                        <a:buNone/>
                      </a:pPr>
                      <a:r>
                        <a:rPr lang="en-US" sz="1300" b="1" dirty="0">
                          <a:solidFill>
                            <a:srgbClr val="22D3EE"/>
                          </a:solidFill>
                          <a:latin typeface="Consolas" pitchFamily="34" charset="0"/>
                          <a:ea typeface="Consolas" pitchFamily="34" charset="-122"/>
                          <a:cs typeface="Consolas" pitchFamily="34" charset="-120"/>
                        </a:rPr>
                        <a:t>◀ next</a:t>
                      </a:r>
                      <a:endParaRPr lang="en-US" sz="1300" dirty="0">
                        <a:latin typeface="Consolas" charset="0"/>
                        <a:ea typeface="Consolas" charset="0"/>
                        <a:cs typeface="Consolas" charset="0"/>
                      </a:endParaRPr>
                    </a:p>
                  </a:txBody>
                  <a:tcPr marT="0" marB="0" anchor="ctr">
                    <a:lnL w="9525" cap="flat" cmpd="sng" algn="ctr">
                      <a:solidFill>
                        <a:srgbClr val="24324D"/>
                      </a:solidFill>
                      <a:prstDash val="solid"/>
                      <a:round/>
                      <a:headEnd type="none" w="med" len="med"/>
                      <a:tailEnd type="none" w="med" len="med"/>
                    </a:lnL>
                    <a:lnR w="9525" cap="flat" cmpd="sng" algn="ctr">
                      <a:solidFill>
                        <a:srgbClr val="24324D"/>
                      </a:solidFill>
                      <a:prstDash val="solid"/>
                      <a:round/>
                      <a:headEnd type="none" w="med" len="med"/>
                      <a:tailEnd type="none" w="med" len="med"/>
                    </a:lnR>
                    <a:lnT w="9525" cap="flat" cmpd="sng" algn="ctr">
                      <a:solidFill>
                        <a:srgbClr val="24324D"/>
                      </a:solidFill>
                      <a:prstDash val="solid"/>
                      <a:round/>
                      <a:headEnd type="none" w="med" len="med"/>
                      <a:tailEnd type="none" w="med" len="med"/>
                    </a:lnT>
                    <a:lnB w="9525" cap="flat" cmpd="sng" algn="ctr">
                      <a:solidFill>
                        <a:srgbClr val="24324D"/>
                      </a:solidFill>
                      <a:prstDash val="solid"/>
                      <a:round/>
                      <a:headEnd type="none" w="med" len="med"/>
                      <a:tailEnd type="none" w="med" len="med"/>
                    </a:lnB>
                    <a:solidFill>
                      <a:srgbClr val="0E3B47"/>
                    </a:solidFill>
                  </a:tcPr>
                </a:tc>
                <a:extLst>
                  <a:ext uri="{0D108BD9-81ED-4DB2-BD59-A6C34878D82A}">
                    <a16:rowId xmlns:a16="http://schemas.microsoft.com/office/drawing/2014/main" val="10001"/>
                  </a:ext>
                </a:extLst>
              </a:tr>
              <a:tr h="365760">
                <a:tc>
                  <a:txBody>
                    <a:bodyPr/>
                    <a:lstStyle/>
                    <a:p>
                      <a:pPr marL="0" indent="0">
                        <a:buNone/>
                      </a:pPr>
                      <a:r>
                        <a:rPr lang="en-US" sz="1300" b="1" dirty="0">
                          <a:solidFill>
                            <a:srgbClr val="F1F5F9"/>
                          </a:solidFill>
                          <a:latin typeface="Consolas" pitchFamily="34" charset="0"/>
                          <a:ea typeface="Consolas" pitchFamily="34" charset="-122"/>
                          <a:cs typeface="Consolas" pitchFamily="34" charset="-120"/>
                        </a:rPr>
                        <a:t>A2</a:t>
                      </a:r>
                      <a:endParaRPr lang="en-US" sz="1300" dirty="0">
                        <a:latin typeface="Consolas" charset="0"/>
                        <a:ea typeface="Consolas" charset="0"/>
                        <a:cs typeface="Consolas" charset="0"/>
                      </a:endParaRPr>
                    </a:p>
                  </a:txBody>
                  <a:tcPr marT="0" marB="0" anchor="ctr">
                    <a:lnL w="9525" cap="flat" cmpd="sng" algn="ctr">
                      <a:solidFill>
                        <a:srgbClr val="24324D"/>
                      </a:solidFill>
                      <a:prstDash val="solid"/>
                      <a:round/>
                      <a:headEnd type="none" w="med" len="med"/>
                      <a:tailEnd type="none" w="med" len="med"/>
                    </a:lnL>
                    <a:lnR w="9525" cap="flat" cmpd="sng" algn="ctr">
                      <a:solidFill>
                        <a:srgbClr val="24324D"/>
                      </a:solidFill>
                      <a:prstDash val="solid"/>
                      <a:round/>
                      <a:headEnd type="none" w="med" len="med"/>
                      <a:tailEnd type="none" w="med" len="med"/>
                    </a:lnR>
                    <a:lnT w="9525" cap="flat" cmpd="sng" algn="ctr">
                      <a:solidFill>
                        <a:srgbClr val="24324D"/>
                      </a:solidFill>
                      <a:prstDash val="solid"/>
                      <a:round/>
                      <a:headEnd type="none" w="med" len="med"/>
                      <a:tailEnd type="none" w="med" len="med"/>
                    </a:lnT>
                    <a:lnB w="9525" cap="flat" cmpd="sng" algn="ctr">
                      <a:solidFill>
                        <a:srgbClr val="24324D"/>
                      </a:solidFill>
                      <a:prstDash val="solid"/>
                      <a:round/>
                      <a:headEnd type="none" w="med" len="med"/>
                      <a:tailEnd type="none" w="med" len="med"/>
                    </a:lnB>
                    <a:solidFill>
                      <a:srgbClr val="111B2E"/>
                    </a:solidFill>
                  </a:tcPr>
                </a:tc>
                <a:tc>
                  <a:txBody>
                    <a:bodyPr/>
                    <a:lstStyle/>
                    <a:p>
                      <a:pPr marL="0" indent="0">
                        <a:buNone/>
                      </a:pPr>
                      <a:r>
                        <a:rPr lang="en-US" sz="1300" dirty="0">
                          <a:solidFill>
                            <a:srgbClr val="CBD5E1"/>
                          </a:solidFill>
                          <a:latin typeface="Consolas" pitchFamily="34" charset="0"/>
                          <a:ea typeface="Consolas" pitchFamily="34" charset="-122"/>
                          <a:cs typeface="Consolas" pitchFamily="34" charset="-120"/>
                        </a:rPr>
                        <a:t>1</a:t>
                      </a:r>
                      <a:endParaRPr lang="en-US" sz="1300" dirty="0">
                        <a:latin typeface="Consolas" charset="0"/>
                        <a:ea typeface="Consolas" charset="0"/>
                        <a:cs typeface="Consolas" charset="0"/>
                      </a:endParaRPr>
                    </a:p>
                  </a:txBody>
                  <a:tcPr marT="0" marB="0" anchor="ctr">
                    <a:lnL w="9525" cap="flat" cmpd="sng" algn="ctr">
                      <a:solidFill>
                        <a:srgbClr val="24324D"/>
                      </a:solidFill>
                      <a:prstDash val="solid"/>
                      <a:round/>
                      <a:headEnd type="none" w="med" len="med"/>
                      <a:tailEnd type="none" w="med" len="med"/>
                    </a:lnL>
                    <a:lnR w="9525" cap="flat" cmpd="sng" algn="ctr">
                      <a:solidFill>
                        <a:srgbClr val="24324D"/>
                      </a:solidFill>
                      <a:prstDash val="solid"/>
                      <a:round/>
                      <a:headEnd type="none" w="med" len="med"/>
                      <a:tailEnd type="none" w="med" len="med"/>
                    </a:lnR>
                    <a:lnT w="9525" cap="flat" cmpd="sng" algn="ctr">
                      <a:solidFill>
                        <a:srgbClr val="24324D"/>
                      </a:solidFill>
                      <a:prstDash val="solid"/>
                      <a:round/>
                      <a:headEnd type="none" w="med" len="med"/>
                      <a:tailEnd type="none" w="med" len="med"/>
                    </a:lnT>
                    <a:lnB w="9525" cap="flat" cmpd="sng" algn="ctr">
                      <a:solidFill>
                        <a:srgbClr val="24324D"/>
                      </a:solidFill>
                      <a:prstDash val="solid"/>
                      <a:round/>
                      <a:headEnd type="none" w="med" len="med"/>
                      <a:tailEnd type="none" w="med" len="med"/>
                    </a:lnB>
                    <a:solidFill>
                      <a:srgbClr val="111B2E"/>
                    </a:solidFill>
                  </a:tcPr>
                </a:tc>
                <a:tc>
                  <a:txBody>
                    <a:bodyPr/>
                    <a:lstStyle/>
                    <a:p>
                      <a:pPr marL="0" indent="0">
                        <a:buNone/>
                      </a:pPr>
                      <a:r>
                        <a:rPr lang="en-US" sz="1300" dirty="0">
                          <a:solidFill>
                            <a:srgbClr val="CBD5E1"/>
                          </a:solidFill>
                          <a:latin typeface="Consolas" pitchFamily="34" charset="0"/>
                          <a:ea typeface="Consolas" pitchFamily="34" charset="-122"/>
                          <a:cs typeface="Consolas" pitchFamily="34" charset="-120"/>
                        </a:rPr>
                        <a:t>6</a:t>
                      </a:r>
                      <a:endParaRPr lang="en-US" sz="1300" dirty="0">
                        <a:latin typeface="Consolas" charset="0"/>
                        <a:ea typeface="Consolas" charset="0"/>
                        <a:cs typeface="Consolas" charset="0"/>
                      </a:endParaRPr>
                    </a:p>
                  </a:txBody>
                  <a:tcPr marT="0" marB="0" anchor="ctr">
                    <a:lnL w="9525" cap="flat" cmpd="sng" algn="ctr">
                      <a:solidFill>
                        <a:srgbClr val="24324D"/>
                      </a:solidFill>
                      <a:prstDash val="solid"/>
                      <a:round/>
                      <a:headEnd type="none" w="med" len="med"/>
                      <a:tailEnd type="none" w="med" len="med"/>
                    </a:lnL>
                    <a:lnR w="9525" cap="flat" cmpd="sng" algn="ctr">
                      <a:solidFill>
                        <a:srgbClr val="24324D"/>
                      </a:solidFill>
                      <a:prstDash val="solid"/>
                      <a:round/>
                      <a:headEnd type="none" w="med" len="med"/>
                      <a:tailEnd type="none" w="med" len="med"/>
                    </a:lnR>
                    <a:lnT w="9525" cap="flat" cmpd="sng" algn="ctr">
                      <a:solidFill>
                        <a:srgbClr val="24324D"/>
                      </a:solidFill>
                      <a:prstDash val="solid"/>
                      <a:round/>
                      <a:headEnd type="none" w="med" len="med"/>
                      <a:tailEnd type="none" w="med" len="med"/>
                    </a:lnT>
                    <a:lnB w="9525" cap="flat" cmpd="sng" algn="ctr">
                      <a:solidFill>
                        <a:srgbClr val="24324D"/>
                      </a:solidFill>
                      <a:prstDash val="solid"/>
                      <a:round/>
                      <a:headEnd type="none" w="med" len="med"/>
                      <a:tailEnd type="none" w="med" len="med"/>
                    </a:lnB>
                    <a:solidFill>
                      <a:srgbClr val="111B2E"/>
                    </a:solidFill>
                  </a:tcPr>
                </a:tc>
                <a:tc>
                  <a:txBody>
                    <a:bodyPr/>
                    <a:lstStyle/>
                    <a:p>
                      <a:pPr marL="0" indent="0">
                        <a:buNone/>
                      </a:pPr>
                      <a:r>
                        <a:rPr lang="en-US" sz="1300" dirty="0">
                          <a:solidFill>
                            <a:srgbClr val="CBD5E1"/>
                          </a:solidFill>
                          <a:latin typeface="Consolas" pitchFamily="34" charset="0"/>
                          <a:ea typeface="Consolas" pitchFamily="34" charset="-122"/>
                          <a:cs typeface="Consolas" pitchFamily="34" charset="-120"/>
                        </a:rPr>
                        <a:t>1+6 = 7</a:t>
                      </a:r>
                      <a:endParaRPr lang="en-US" sz="1300" dirty="0">
                        <a:latin typeface="Consolas" charset="0"/>
                        <a:ea typeface="Consolas" charset="0"/>
                        <a:cs typeface="Consolas" charset="0"/>
                      </a:endParaRPr>
                    </a:p>
                  </a:txBody>
                  <a:tcPr marT="0" marB="0" anchor="ctr">
                    <a:lnL w="9525" cap="flat" cmpd="sng" algn="ctr">
                      <a:solidFill>
                        <a:srgbClr val="24324D"/>
                      </a:solidFill>
                      <a:prstDash val="solid"/>
                      <a:round/>
                      <a:headEnd type="none" w="med" len="med"/>
                      <a:tailEnd type="none" w="med" len="med"/>
                    </a:lnL>
                    <a:lnR w="9525" cap="flat" cmpd="sng" algn="ctr">
                      <a:solidFill>
                        <a:srgbClr val="24324D"/>
                      </a:solidFill>
                      <a:prstDash val="solid"/>
                      <a:round/>
                      <a:headEnd type="none" w="med" len="med"/>
                      <a:tailEnd type="none" w="med" len="med"/>
                    </a:lnR>
                    <a:lnT w="9525" cap="flat" cmpd="sng" algn="ctr">
                      <a:solidFill>
                        <a:srgbClr val="24324D"/>
                      </a:solidFill>
                      <a:prstDash val="solid"/>
                      <a:round/>
                      <a:headEnd type="none" w="med" len="med"/>
                      <a:tailEnd type="none" w="med" len="med"/>
                    </a:lnT>
                    <a:lnB w="9525" cap="flat" cmpd="sng" algn="ctr">
                      <a:solidFill>
                        <a:srgbClr val="24324D"/>
                      </a:solidFill>
                      <a:prstDash val="solid"/>
                      <a:round/>
                      <a:headEnd type="none" w="med" len="med"/>
                      <a:tailEnd type="none" w="med" len="med"/>
                    </a:lnB>
                    <a:solidFill>
                      <a:srgbClr val="111B2E"/>
                    </a:solidFill>
                  </a:tcPr>
                </a:tc>
                <a:tc>
                  <a:txBody>
                    <a:bodyPr/>
                    <a:lstStyle/>
                    <a:p>
                      <a:pPr marL="0" indent="0">
                        <a:buNone/>
                      </a:pPr>
                      <a:r>
                        <a:rPr lang="en-US" sz="1300" b="1" dirty="0">
                          <a:solidFill>
                            <a:srgbClr val="94A3B8"/>
                          </a:solidFill>
                          <a:latin typeface="Consolas" pitchFamily="34" charset="0"/>
                          <a:ea typeface="Consolas" pitchFamily="34" charset="-122"/>
                          <a:cs typeface="Consolas" pitchFamily="34" charset="-120"/>
                        </a:rPr>
                        <a:t>waits</a:t>
                      </a:r>
                      <a:endParaRPr lang="en-US" sz="1300" dirty="0">
                        <a:latin typeface="Consolas" charset="0"/>
                        <a:ea typeface="Consolas" charset="0"/>
                        <a:cs typeface="Consolas" charset="0"/>
                      </a:endParaRPr>
                    </a:p>
                  </a:txBody>
                  <a:tcPr marT="0" marB="0" anchor="ctr">
                    <a:lnL w="9525" cap="flat" cmpd="sng" algn="ctr">
                      <a:solidFill>
                        <a:srgbClr val="24324D"/>
                      </a:solidFill>
                      <a:prstDash val="solid"/>
                      <a:round/>
                      <a:headEnd type="none" w="med" len="med"/>
                      <a:tailEnd type="none" w="med" len="med"/>
                    </a:lnL>
                    <a:lnR w="9525" cap="flat" cmpd="sng" algn="ctr">
                      <a:solidFill>
                        <a:srgbClr val="24324D"/>
                      </a:solidFill>
                      <a:prstDash val="solid"/>
                      <a:round/>
                      <a:headEnd type="none" w="med" len="med"/>
                      <a:tailEnd type="none" w="med" len="med"/>
                    </a:lnR>
                    <a:lnT w="9525" cap="flat" cmpd="sng" algn="ctr">
                      <a:solidFill>
                        <a:srgbClr val="24324D"/>
                      </a:solidFill>
                      <a:prstDash val="solid"/>
                      <a:round/>
                      <a:headEnd type="none" w="med" len="med"/>
                      <a:tailEnd type="none" w="med" len="med"/>
                    </a:lnT>
                    <a:lnB w="9525" cap="flat" cmpd="sng" algn="ctr">
                      <a:solidFill>
                        <a:srgbClr val="24324D"/>
                      </a:solidFill>
                      <a:prstDash val="solid"/>
                      <a:round/>
                      <a:headEnd type="none" w="med" len="med"/>
                      <a:tailEnd type="none" w="med" len="med"/>
                    </a:lnB>
                    <a:solidFill>
                      <a:srgbClr val="111B2E"/>
                    </a:solidFill>
                  </a:tcPr>
                </a:tc>
                <a:extLst>
                  <a:ext uri="{0D108BD9-81ED-4DB2-BD59-A6C34878D82A}">
                    <a16:rowId xmlns:a16="http://schemas.microsoft.com/office/drawing/2014/main" val="10002"/>
                  </a:ext>
                </a:extLst>
              </a:tr>
              <a:tr h="365760">
                <a:tc>
                  <a:txBody>
                    <a:bodyPr/>
                    <a:lstStyle/>
                    <a:p>
                      <a:pPr marL="0" indent="0">
                        <a:buNone/>
                      </a:pPr>
                      <a:r>
                        <a:rPr lang="en-US" sz="1300" b="1" dirty="0">
                          <a:solidFill>
                            <a:srgbClr val="F1F5F9"/>
                          </a:solidFill>
                          <a:latin typeface="Consolas" pitchFamily="34" charset="0"/>
                          <a:ea typeface="Consolas" pitchFamily="34" charset="-122"/>
                          <a:cs typeface="Consolas" pitchFamily="34" charset="-120"/>
                        </a:rPr>
                        <a:t>A4</a:t>
                      </a:r>
                      <a:endParaRPr lang="en-US" sz="1300" dirty="0">
                        <a:latin typeface="Consolas" charset="0"/>
                        <a:ea typeface="Consolas" charset="0"/>
                        <a:cs typeface="Consolas" charset="0"/>
                      </a:endParaRPr>
                    </a:p>
                  </a:txBody>
                  <a:tcPr marT="0" marB="0" anchor="ctr">
                    <a:lnL w="9525" cap="flat" cmpd="sng" algn="ctr">
                      <a:solidFill>
                        <a:srgbClr val="24324D"/>
                      </a:solidFill>
                      <a:prstDash val="solid"/>
                      <a:round/>
                      <a:headEnd type="none" w="med" len="med"/>
                      <a:tailEnd type="none" w="med" len="med"/>
                    </a:lnL>
                    <a:lnR w="9525" cap="flat" cmpd="sng" algn="ctr">
                      <a:solidFill>
                        <a:srgbClr val="24324D"/>
                      </a:solidFill>
                      <a:prstDash val="solid"/>
                      <a:round/>
                      <a:headEnd type="none" w="med" len="med"/>
                      <a:tailEnd type="none" w="med" len="med"/>
                    </a:lnR>
                    <a:lnT w="9525" cap="flat" cmpd="sng" algn="ctr">
                      <a:solidFill>
                        <a:srgbClr val="24324D"/>
                      </a:solidFill>
                      <a:prstDash val="solid"/>
                      <a:round/>
                      <a:headEnd type="none" w="med" len="med"/>
                      <a:tailEnd type="none" w="med" len="med"/>
                    </a:lnT>
                    <a:lnB w="9525" cap="flat" cmpd="sng" algn="ctr">
                      <a:solidFill>
                        <a:srgbClr val="24324D"/>
                      </a:solidFill>
                      <a:prstDash val="solid"/>
                      <a:round/>
                      <a:headEnd type="none" w="med" len="med"/>
                      <a:tailEnd type="none" w="med" len="med"/>
                    </a:lnB>
                    <a:solidFill>
                      <a:srgbClr val="111B2E"/>
                    </a:solidFill>
                  </a:tcPr>
                </a:tc>
                <a:tc>
                  <a:txBody>
                    <a:bodyPr/>
                    <a:lstStyle/>
                    <a:p>
                      <a:pPr marL="0" indent="0">
                        <a:buNone/>
                      </a:pPr>
                      <a:r>
                        <a:rPr lang="en-US" sz="1300" dirty="0">
                          <a:solidFill>
                            <a:srgbClr val="CBD5E1"/>
                          </a:solidFill>
                          <a:latin typeface="Consolas" pitchFamily="34" charset="0"/>
                          <a:ea typeface="Consolas" pitchFamily="34" charset="-122"/>
                          <a:cs typeface="Consolas" pitchFamily="34" charset="-120"/>
                        </a:rPr>
                        <a:t>1</a:t>
                      </a:r>
                      <a:endParaRPr lang="en-US" sz="1300" dirty="0">
                        <a:latin typeface="Consolas" charset="0"/>
                        <a:ea typeface="Consolas" charset="0"/>
                        <a:cs typeface="Consolas" charset="0"/>
                      </a:endParaRPr>
                    </a:p>
                  </a:txBody>
                  <a:tcPr marT="0" marB="0" anchor="ctr">
                    <a:lnL w="9525" cap="flat" cmpd="sng" algn="ctr">
                      <a:solidFill>
                        <a:srgbClr val="24324D"/>
                      </a:solidFill>
                      <a:prstDash val="solid"/>
                      <a:round/>
                      <a:headEnd type="none" w="med" len="med"/>
                      <a:tailEnd type="none" w="med" len="med"/>
                    </a:lnL>
                    <a:lnR w="9525" cap="flat" cmpd="sng" algn="ctr">
                      <a:solidFill>
                        <a:srgbClr val="24324D"/>
                      </a:solidFill>
                      <a:prstDash val="solid"/>
                      <a:round/>
                      <a:headEnd type="none" w="med" len="med"/>
                      <a:tailEnd type="none" w="med" len="med"/>
                    </a:lnR>
                    <a:lnT w="9525" cap="flat" cmpd="sng" algn="ctr">
                      <a:solidFill>
                        <a:srgbClr val="24324D"/>
                      </a:solidFill>
                      <a:prstDash val="solid"/>
                      <a:round/>
                      <a:headEnd type="none" w="med" len="med"/>
                      <a:tailEnd type="none" w="med" len="med"/>
                    </a:lnT>
                    <a:lnB w="9525" cap="flat" cmpd="sng" algn="ctr">
                      <a:solidFill>
                        <a:srgbClr val="24324D"/>
                      </a:solidFill>
                      <a:prstDash val="solid"/>
                      <a:round/>
                      <a:headEnd type="none" w="med" len="med"/>
                      <a:tailEnd type="none" w="med" len="med"/>
                    </a:lnB>
                    <a:solidFill>
                      <a:srgbClr val="111B2E"/>
                    </a:solidFill>
                  </a:tcPr>
                </a:tc>
                <a:tc>
                  <a:txBody>
                    <a:bodyPr/>
                    <a:lstStyle/>
                    <a:p>
                      <a:pPr marL="0" indent="0">
                        <a:buNone/>
                      </a:pPr>
                      <a:r>
                        <a:rPr lang="en-US" sz="1300" dirty="0">
                          <a:solidFill>
                            <a:srgbClr val="CBD5E1"/>
                          </a:solidFill>
                          <a:latin typeface="Consolas" pitchFamily="34" charset="0"/>
                          <a:ea typeface="Consolas" pitchFamily="34" charset="-122"/>
                          <a:cs typeface="Consolas" pitchFamily="34" charset="-120"/>
                        </a:rPr>
                        <a:t>6</a:t>
                      </a:r>
                      <a:endParaRPr lang="en-US" sz="1300" dirty="0">
                        <a:latin typeface="Consolas" charset="0"/>
                        <a:ea typeface="Consolas" charset="0"/>
                        <a:cs typeface="Consolas" charset="0"/>
                      </a:endParaRPr>
                    </a:p>
                  </a:txBody>
                  <a:tcPr marT="0" marB="0" anchor="ctr">
                    <a:lnL w="9525" cap="flat" cmpd="sng" algn="ctr">
                      <a:solidFill>
                        <a:srgbClr val="24324D"/>
                      </a:solidFill>
                      <a:prstDash val="solid"/>
                      <a:round/>
                      <a:headEnd type="none" w="med" len="med"/>
                      <a:tailEnd type="none" w="med" len="med"/>
                    </a:lnL>
                    <a:lnR w="9525" cap="flat" cmpd="sng" algn="ctr">
                      <a:solidFill>
                        <a:srgbClr val="24324D"/>
                      </a:solidFill>
                      <a:prstDash val="solid"/>
                      <a:round/>
                      <a:headEnd type="none" w="med" len="med"/>
                      <a:tailEnd type="none" w="med" len="med"/>
                    </a:lnR>
                    <a:lnT w="9525" cap="flat" cmpd="sng" algn="ctr">
                      <a:solidFill>
                        <a:srgbClr val="24324D"/>
                      </a:solidFill>
                      <a:prstDash val="solid"/>
                      <a:round/>
                      <a:headEnd type="none" w="med" len="med"/>
                      <a:tailEnd type="none" w="med" len="med"/>
                    </a:lnT>
                    <a:lnB w="9525" cap="flat" cmpd="sng" algn="ctr">
                      <a:solidFill>
                        <a:srgbClr val="24324D"/>
                      </a:solidFill>
                      <a:prstDash val="solid"/>
                      <a:round/>
                      <a:headEnd type="none" w="med" len="med"/>
                      <a:tailEnd type="none" w="med" len="med"/>
                    </a:lnB>
                    <a:solidFill>
                      <a:srgbClr val="111B2E"/>
                    </a:solidFill>
                  </a:tcPr>
                </a:tc>
                <a:tc>
                  <a:txBody>
                    <a:bodyPr/>
                    <a:lstStyle/>
                    <a:p>
                      <a:pPr marL="0" indent="0">
                        <a:buNone/>
                      </a:pPr>
                      <a:r>
                        <a:rPr lang="en-US" sz="1300" dirty="0">
                          <a:solidFill>
                            <a:srgbClr val="CBD5E1"/>
                          </a:solidFill>
                          <a:latin typeface="Consolas" pitchFamily="34" charset="0"/>
                          <a:ea typeface="Consolas" pitchFamily="34" charset="-122"/>
                          <a:cs typeface="Consolas" pitchFamily="34" charset="-120"/>
                        </a:rPr>
                        <a:t>1+6 = 7</a:t>
                      </a:r>
                      <a:endParaRPr lang="en-US" sz="1300" dirty="0">
                        <a:latin typeface="Consolas" charset="0"/>
                        <a:ea typeface="Consolas" charset="0"/>
                        <a:cs typeface="Consolas" charset="0"/>
                      </a:endParaRPr>
                    </a:p>
                  </a:txBody>
                  <a:tcPr marT="0" marB="0" anchor="ctr">
                    <a:lnL w="9525" cap="flat" cmpd="sng" algn="ctr">
                      <a:solidFill>
                        <a:srgbClr val="24324D"/>
                      </a:solidFill>
                      <a:prstDash val="solid"/>
                      <a:round/>
                      <a:headEnd type="none" w="med" len="med"/>
                      <a:tailEnd type="none" w="med" len="med"/>
                    </a:lnL>
                    <a:lnR w="9525" cap="flat" cmpd="sng" algn="ctr">
                      <a:solidFill>
                        <a:srgbClr val="24324D"/>
                      </a:solidFill>
                      <a:prstDash val="solid"/>
                      <a:round/>
                      <a:headEnd type="none" w="med" len="med"/>
                      <a:tailEnd type="none" w="med" len="med"/>
                    </a:lnR>
                    <a:lnT w="9525" cap="flat" cmpd="sng" algn="ctr">
                      <a:solidFill>
                        <a:srgbClr val="24324D"/>
                      </a:solidFill>
                      <a:prstDash val="solid"/>
                      <a:round/>
                      <a:headEnd type="none" w="med" len="med"/>
                      <a:tailEnd type="none" w="med" len="med"/>
                    </a:lnT>
                    <a:lnB w="9525" cap="flat" cmpd="sng" algn="ctr">
                      <a:solidFill>
                        <a:srgbClr val="24324D"/>
                      </a:solidFill>
                      <a:prstDash val="solid"/>
                      <a:round/>
                      <a:headEnd type="none" w="med" len="med"/>
                      <a:tailEnd type="none" w="med" len="med"/>
                    </a:lnB>
                    <a:solidFill>
                      <a:srgbClr val="111B2E"/>
                    </a:solidFill>
                  </a:tcPr>
                </a:tc>
                <a:tc>
                  <a:txBody>
                    <a:bodyPr/>
                    <a:lstStyle/>
                    <a:p>
                      <a:pPr marL="0" indent="0">
                        <a:buNone/>
                      </a:pPr>
                      <a:r>
                        <a:rPr lang="en-US" sz="1300" b="1" dirty="0">
                          <a:solidFill>
                            <a:srgbClr val="94A3B8"/>
                          </a:solidFill>
                          <a:latin typeface="Consolas" pitchFamily="34" charset="0"/>
                          <a:ea typeface="Consolas" pitchFamily="34" charset="-122"/>
                          <a:cs typeface="Consolas" pitchFamily="34" charset="-120"/>
                        </a:rPr>
                        <a:t>waits</a:t>
                      </a:r>
                      <a:endParaRPr lang="en-US" sz="1300" dirty="0">
                        <a:latin typeface="Consolas" charset="0"/>
                        <a:ea typeface="Consolas" charset="0"/>
                        <a:cs typeface="Consolas" charset="0"/>
                      </a:endParaRPr>
                    </a:p>
                  </a:txBody>
                  <a:tcPr marT="0" marB="0" anchor="ctr">
                    <a:lnL w="9525" cap="flat" cmpd="sng" algn="ctr">
                      <a:solidFill>
                        <a:srgbClr val="24324D"/>
                      </a:solidFill>
                      <a:prstDash val="solid"/>
                      <a:round/>
                      <a:headEnd type="none" w="med" len="med"/>
                      <a:tailEnd type="none" w="med" len="med"/>
                    </a:lnL>
                    <a:lnR w="9525" cap="flat" cmpd="sng" algn="ctr">
                      <a:solidFill>
                        <a:srgbClr val="24324D"/>
                      </a:solidFill>
                      <a:prstDash val="solid"/>
                      <a:round/>
                      <a:headEnd type="none" w="med" len="med"/>
                      <a:tailEnd type="none" w="med" len="med"/>
                    </a:lnR>
                    <a:lnT w="9525" cap="flat" cmpd="sng" algn="ctr">
                      <a:solidFill>
                        <a:srgbClr val="24324D"/>
                      </a:solidFill>
                      <a:prstDash val="solid"/>
                      <a:round/>
                      <a:headEnd type="none" w="med" len="med"/>
                      <a:tailEnd type="none" w="med" len="med"/>
                    </a:lnT>
                    <a:lnB w="9525" cap="flat" cmpd="sng" algn="ctr">
                      <a:solidFill>
                        <a:srgbClr val="24324D"/>
                      </a:solidFill>
                      <a:prstDash val="solid"/>
                      <a:round/>
                      <a:headEnd type="none" w="med" len="med"/>
                      <a:tailEnd type="none" w="med" len="med"/>
                    </a:lnB>
                    <a:solidFill>
                      <a:srgbClr val="111B2E"/>
                    </a:solidFill>
                  </a:tcPr>
                </a:tc>
                <a:extLst>
                  <a:ext uri="{0D108BD9-81ED-4DB2-BD59-A6C34878D82A}">
                    <a16:rowId xmlns:a16="http://schemas.microsoft.com/office/drawing/2014/main" val="10003"/>
                  </a:ext>
                </a:extLst>
              </a:tr>
            </a:tbl>
          </a:graphicData>
        </a:graphic>
      </p:graphicFrame>
      <p:sp>
        <p:nvSpPr>
          <p:cNvPr id="106" name="Shape 103"/>
          <p:cNvSpPr/>
          <p:nvPr/>
        </p:nvSpPr>
        <p:spPr>
          <a:xfrm>
            <a:off x="6355080" y="5029200"/>
            <a:ext cx="5285232" cy="713232"/>
          </a:xfrm>
          <a:prstGeom prst="roundRect">
            <a:avLst>
              <a:gd name="adj" fmla="val 10256"/>
            </a:avLst>
          </a:prstGeom>
          <a:solidFill>
            <a:schemeClr val="bg2"/>
          </a:solidFill>
          <a:ln w="12700">
            <a:solidFill>
              <a:schemeClr val="accent5"/>
            </a:solidFill>
            <a:prstDash val="solid"/>
          </a:ln>
        </p:spPr>
      </p:sp>
      <p:sp>
        <p:nvSpPr>
          <p:cNvPr id="107" name="Text 104"/>
          <p:cNvSpPr txBox="1"/>
          <p:nvPr/>
        </p:nvSpPr>
        <p:spPr>
          <a:xfrm>
            <a:off x="6519672" y="5029200"/>
            <a:ext cx="5010912" cy="713232"/>
          </a:xfrm>
          <a:prstGeom prst="rect">
            <a:avLst/>
          </a:prstGeom>
          <a:noFill/>
          <a:ln/>
        </p:spPr>
        <p:txBody>
          <a:bodyPr wrap="square" lIns="0" tIns="0" rIns="0" bIns="0" rtlCol="0" anchor="ctr"/>
          <a:lstStyle/>
          <a:p>
            <a:pPr marL="0" indent="0">
              <a:buNone/>
            </a:pPr>
            <a:r>
              <a:rPr lang="en-US" sz="1200" dirty="0">
                <a:solidFill>
                  <a:schemeClr val="accent2"/>
                </a:solidFill>
                <a:latin typeface="Consolas" pitchFamily="34" charset="0"/>
                <a:ea typeface="Consolas" pitchFamily="34" charset="-122"/>
                <a:cs typeface="Consolas" pitchFamily="34" charset="-120"/>
              </a:rPr>
              <a:t>h(B3) = |col B→F| + |row 3→3| = 4 + 0 = 4</a:t>
            </a:r>
            <a:endParaRPr lang="en-US" sz="1200" dirty="0"/>
          </a:p>
          <a:p>
            <a:pPr marL="0" indent="0">
              <a:buNone/>
            </a:pPr>
            <a:r>
              <a:rPr lang="en-US" sz="1200" dirty="0">
                <a:solidFill>
                  <a:schemeClr val="accent2"/>
                </a:solidFill>
                <a:latin typeface="Consolas" pitchFamily="34" charset="0"/>
                <a:ea typeface="Consolas" pitchFamily="34" charset="-122"/>
                <a:cs typeface="Consolas" pitchFamily="34" charset="-120"/>
              </a:rPr>
              <a:t>g(B3) = 1   →   f(B3) = 1 + 4 = 5</a:t>
            </a:r>
            <a:endParaRPr lang="en-US" sz="1200" dirty="0"/>
          </a:p>
        </p:txBody>
      </p:sp>
      <p:sp>
        <p:nvSpPr>
          <p:cNvPr id="108" name="Text 105"/>
          <p:cNvSpPr txBox="1"/>
          <p:nvPr/>
        </p:nvSpPr>
        <p:spPr>
          <a:xfrm>
            <a:off x="6355080" y="5852160"/>
            <a:ext cx="5285232" cy="457200"/>
          </a:xfrm>
          <a:prstGeom prst="rect">
            <a:avLst/>
          </a:prstGeom>
          <a:noFill/>
          <a:ln/>
        </p:spPr>
        <p:txBody>
          <a:bodyPr wrap="square" lIns="0" tIns="0" rIns="0" bIns="0" rtlCol="0" anchor="t"/>
          <a:lstStyle/>
          <a:p>
            <a:pPr marL="0" indent="0">
              <a:buNone/>
            </a:pPr>
            <a:r>
              <a:rPr lang="en-US" sz="1400" b="1" dirty="0">
                <a:solidFill>
                  <a:schemeClr val="accent4"/>
                </a:solidFill>
              </a:rPr>
              <a:t>Lowest f wins: 5 &lt; 7, so B3 is expanded first. Notice h ignores the wall at C2–C4.</a:t>
            </a:r>
            <a:endParaRPr lang="en-US" sz="1400" dirty="0"/>
          </a:p>
        </p:txBody>
      </p:sp>
      <p:sp>
        <p:nvSpPr>
          <p:cNvPr id="109" name="Text 106"/>
          <p:cNvSpPr txBox="1"/>
          <p:nvPr/>
        </p:nvSpPr>
        <p:spPr>
          <a:xfrm>
            <a:off x="5852160" y="6473952"/>
            <a:ext cx="5212080" cy="228600"/>
          </a:xfrm>
          <a:prstGeom prst="rect">
            <a:avLst/>
          </a:prstGeom>
          <a:noFill/>
          <a:ln/>
        </p:spPr>
        <p:txBody>
          <a:bodyPr wrap="square" lIns="0" tIns="0" rIns="0" bIns="0" rtlCol="0" anchor="ctr"/>
          <a:lstStyle/>
          <a:p>
            <a:pPr marL="0" indent="0" algn="r">
              <a:buNone/>
            </a:pPr>
            <a:r>
              <a:rPr lang="en-US" sz="900" b="1" dirty="0">
                <a:solidFill>
                  <a:schemeClr val="accent2"/>
                </a:solidFill>
                <a:latin typeface="Consolas" pitchFamily="34" charset="0"/>
                <a:ea typeface="Consolas" pitchFamily="34" charset="-122"/>
                <a:cs typeface="Consolas" pitchFamily="34" charset="-120"/>
              </a:rPr>
              <a:t>RUBRIC · A* APPLICATION · 5 MARKS</a:t>
            </a:r>
            <a:endParaRPr lang="en-US" sz="900" dirty="0"/>
          </a:p>
        </p:txBody>
      </p:sp>
      <p:sp>
        <p:nvSpPr>
          <p:cNvPr id="110" name="Slide Number Placeholder 0"/>
          <p:cNvSpPr>
            <a:spLocks noGrp="1"/>
          </p:cNvSpPr>
          <p:nvPr>
            <p:ph type="sldNum" sz="quarter" idx="4294967295"/>
          </p:nvPr>
        </p:nvSpPr>
        <p:spPr>
          <a:xfrm>
            <a:off x="11183112" y="6473952"/>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tx2"/>
                </a:solidFill>
                <a:latin typeface="Consolas"/>
                <a:ea typeface="Consolas"/>
                <a:cs typeface="Consolas"/>
              </a:defRPr>
            </a:lvl1pPr>
          </a:lstStyle>
          <a:p>
            <a:pPr algn="r"/>
            <a:fld id="{F7021451-1387-4CA6-816F-3879F97B5CBC}" type="slidenum">
              <a:rPr lang="en-US" b="0"/>
              <a:t>7</a:t>
            </a:fld>
            <a:endParaRPr lang="en-US"/>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74320"/>
            <a:ext cx="7315200" cy="201168"/>
          </a:xfrm>
          <a:prstGeom prst="rect">
            <a:avLst/>
          </a:prstGeom>
          <a:noFill/>
          <a:ln/>
        </p:spPr>
        <p:txBody>
          <a:bodyPr wrap="square" lIns="0" tIns="0" rIns="0" bIns="0" rtlCol="0" anchor="t"/>
          <a:lstStyle/>
          <a:p>
            <a:pPr marL="0" indent="0">
              <a:buNone/>
            </a:pPr>
            <a:r>
              <a:rPr lang="en-US" sz="1000" b="1" dirty="0">
                <a:solidFill>
                  <a:schemeClr val="accent1"/>
                </a:solidFill>
                <a:latin typeface="Consolas" pitchFamily="34" charset="0"/>
                <a:ea typeface="Consolas" pitchFamily="34" charset="-122"/>
                <a:cs typeface="Consolas" pitchFamily="34" charset="-120"/>
              </a:rPr>
              <a:t>PHASE 05 · A* IN ACTION · 2 / 2</a:t>
            </a:r>
            <a:endParaRPr lang="en-US" sz="1000" dirty="0"/>
          </a:p>
        </p:txBody>
      </p:sp>
      <p:sp>
        <p:nvSpPr>
          <p:cNvPr id="3" name="Shape 1"/>
          <p:cNvSpPr/>
          <p:nvPr/>
        </p:nvSpPr>
        <p:spPr>
          <a:xfrm>
            <a:off x="10314432" y="301752"/>
            <a:ext cx="109728" cy="109728"/>
          </a:xfrm>
          <a:prstGeom prst="rect">
            <a:avLst/>
          </a:prstGeom>
          <a:solidFill>
            <a:schemeClr val="accent1"/>
          </a:solidFill>
          <a:ln w="12700">
            <a:solidFill>
              <a:schemeClr val="accent1"/>
            </a:solidFill>
            <a:prstDash val="solid"/>
          </a:ln>
        </p:spPr>
      </p:sp>
      <p:sp>
        <p:nvSpPr>
          <p:cNvPr id="4" name="Shape 2"/>
          <p:cNvSpPr/>
          <p:nvPr/>
        </p:nvSpPr>
        <p:spPr>
          <a:xfrm>
            <a:off x="10488168" y="301752"/>
            <a:ext cx="109728" cy="109728"/>
          </a:xfrm>
          <a:prstGeom prst="rect">
            <a:avLst/>
          </a:prstGeom>
          <a:solidFill>
            <a:schemeClr val="accent1"/>
          </a:solidFill>
          <a:ln w="12700">
            <a:solidFill>
              <a:schemeClr val="accent1"/>
            </a:solidFill>
            <a:prstDash val="solid"/>
          </a:ln>
        </p:spPr>
      </p:sp>
      <p:sp>
        <p:nvSpPr>
          <p:cNvPr id="5" name="Shape 3"/>
          <p:cNvSpPr/>
          <p:nvPr/>
        </p:nvSpPr>
        <p:spPr>
          <a:xfrm>
            <a:off x="10661904" y="301752"/>
            <a:ext cx="109728" cy="109728"/>
          </a:xfrm>
          <a:prstGeom prst="rect">
            <a:avLst/>
          </a:prstGeom>
          <a:solidFill>
            <a:schemeClr val="accent1"/>
          </a:solidFill>
          <a:ln w="12700">
            <a:solidFill>
              <a:schemeClr val="accent1"/>
            </a:solidFill>
            <a:prstDash val="solid"/>
          </a:ln>
        </p:spPr>
      </p:sp>
      <p:sp>
        <p:nvSpPr>
          <p:cNvPr id="6" name="Shape 4"/>
          <p:cNvSpPr/>
          <p:nvPr/>
        </p:nvSpPr>
        <p:spPr>
          <a:xfrm>
            <a:off x="10835640" y="301752"/>
            <a:ext cx="109728" cy="109728"/>
          </a:xfrm>
          <a:prstGeom prst="rect">
            <a:avLst/>
          </a:prstGeom>
          <a:solidFill>
            <a:schemeClr val="accent1"/>
          </a:solidFill>
          <a:ln w="12700">
            <a:solidFill>
              <a:schemeClr val="accent1"/>
            </a:solidFill>
            <a:prstDash val="solid"/>
          </a:ln>
        </p:spPr>
      </p:sp>
      <p:sp>
        <p:nvSpPr>
          <p:cNvPr id="7" name="Shape 5"/>
          <p:cNvSpPr/>
          <p:nvPr/>
        </p:nvSpPr>
        <p:spPr>
          <a:xfrm>
            <a:off x="11009376" y="301752"/>
            <a:ext cx="109728" cy="109728"/>
          </a:xfrm>
          <a:prstGeom prst="rect">
            <a:avLst/>
          </a:prstGeom>
          <a:solidFill>
            <a:schemeClr val="accent1"/>
          </a:solidFill>
          <a:ln w="12700">
            <a:solidFill>
              <a:schemeClr val="accent1"/>
            </a:solidFill>
            <a:prstDash val="solid"/>
          </a:ln>
        </p:spPr>
      </p:sp>
      <p:sp>
        <p:nvSpPr>
          <p:cNvPr id="8" name="Shape 6"/>
          <p:cNvSpPr/>
          <p:nvPr/>
        </p:nvSpPr>
        <p:spPr>
          <a:xfrm>
            <a:off x="11183112" y="301752"/>
            <a:ext cx="109728" cy="109728"/>
          </a:xfrm>
          <a:prstGeom prst="rect">
            <a:avLst/>
          </a:prstGeom>
          <a:solidFill>
            <a:schemeClr val="accent5"/>
          </a:solidFill>
          <a:ln w="12700">
            <a:solidFill>
              <a:schemeClr val="accent5"/>
            </a:solidFill>
            <a:prstDash val="solid"/>
          </a:ln>
        </p:spPr>
      </p:sp>
      <p:sp>
        <p:nvSpPr>
          <p:cNvPr id="9" name="Shape 7"/>
          <p:cNvSpPr/>
          <p:nvPr/>
        </p:nvSpPr>
        <p:spPr>
          <a:xfrm>
            <a:off x="11356848" y="301752"/>
            <a:ext cx="109728" cy="109728"/>
          </a:xfrm>
          <a:prstGeom prst="rect">
            <a:avLst/>
          </a:prstGeom>
          <a:solidFill>
            <a:schemeClr val="accent5"/>
          </a:solidFill>
          <a:ln w="12700">
            <a:solidFill>
              <a:schemeClr val="accent5"/>
            </a:solidFill>
            <a:prstDash val="solid"/>
          </a:ln>
        </p:spPr>
      </p:sp>
      <p:sp>
        <p:nvSpPr>
          <p:cNvPr id="10" name="Shape 8"/>
          <p:cNvSpPr/>
          <p:nvPr/>
        </p:nvSpPr>
        <p:spPr>
          <a:xfrm>
            <a:off x="11530584" y="301752"/>
            <a:ext cx="109728" cy="109728"/>
          </a:xfrm>
          <a:prstGeom prst="rect">
            <a:avLst/>
          </a:prstGeom>
          <a:solidFill>
            <a:schemeClr val="accent5"/>
          </a:solidFill>
          <a:ln w="12700">
            <a:solidFill>
              <a:schemeClr val="accent5"/>
            </a:solidFill>
            <a:prstDash val="solid"/>
          </a:ln>
        </p:spPr>
      </p:sp>
      <p:sp>
        <p:nvSpPr>
          <p:cNvPr id="11" name="Text 0"/>
          <p:cNvSpPr>
            <a:spLocks noGrp="1"/>
          </p:cNvSpPr>
          <p:nvPr>
            <p:ph type="title" idx="100" hasCustomPrompt="1"/>
          </p:nvPr>
        </p:nvSpPr>
        <p:spPr>
          <a:xfrm>
            <a:off x="548640" y="530352"/>
            <a:ext cx="11091672" cy="640080"/>
          </a:xfrm>
          <a:prstGeom prst="rect">
            <a:avLst/>
          </a:prstGeom>
          <a:noFill/>
          <a:ln/>
        </p:spPr>
        <p:txBody>
          <a:bodyPr wrap="square" lIns="0" tIns="0" rIns="0" bIns="0" rtlCol="0" anchor="ctr"/>
          <a:lstStyle/>
          <a:p>
            <a:pPr marL="0" indent="0" algn="l">
              <a:buNone/>
            </a:pPr>
            <a:r>
              <a:rPr lang="en-US" sz="3200" b="1" dirty="0">
                <a:solidFill>
                  <a:schemeClr val="tx1"/>
                </a:solidFill>
              </a:rPr>
              <a:t>A* in action: the dead end, then the finish</a:t>
            </a:r>
            <a:endParaRPr lang="en-US" sz="3200" dirty="0"/>
          </a:p>
        </p:txBody>
      </p:sp>
      <p:sp>
        <p:nvSpPr>
          <p:cNvPr id="12" name="Text 10"/>
          <p:cNvSpPr txBox="1"/>
          <p:nvPr/>
        </p:nvSpPr>
        <p:spPr>
          <a:xfrm>
            <a:off x="914400" y="1554480"/>
            <a:ext cx="713232" cy="219456"/>
          </a:xfrm>
          <a:prstGeom prst="rect">
            <a:avLst/>
          </a:prstGeom>
          <a:noFill/>
          <a:ln/>
        </p:spPr>
        <p:txBody>
          <a:bodyPr wrap="square" lIns="0" tIns="0" rIns="0" bIns="0" rtlCol="0" anchor="t"/>
          <a:lstStyle/>
          <a:p>
            <a:pPr marL="0" indent="0" algn="ctr">
              <a:buNone/>
            </a:pPr>
            <a:r>
              <a:rPr lang="en-US" sz="1000" dirty="0">
                <a:solidFill>
                  <a:schemeClr val="tx2"/>
                </a:solidFill>
                <a:latin typeface="Consolas" pitchFamily="34" charset="0"/>
                <a:ea typeface="Consolas" pitchFamily="34" charset="-122"/>
                <a:cs typeface="Consolas" pitchFamily="34" charset="-120"/>
              </a:rPr>
              <a:t>A</a:t>
            </a:r>
            <a:endParaRPr lang="en-US" sz="1000" dirty="0"/>
          </a:p>
        </p:txBody>
      </p:sp>
      <p:sp>
        <p:nvSpPr>
          <p:cNvPr id="13" name="Text 11"/>
          <p:cNvSpPr txBox="1"/>
          <p:nvPr/>
        </p:nvSpPr>
        <p:spPr>
          <a:xfrm>
            <a:off x="1682496" y="1554480"/>
            <a:ext cx="713232" cy="219456"/>
          </a:xfrm>
          <a:prstGeom prst="rect">
            <a:avLst/>
          </a:prstGeom>
          <a:noFill/>
          <a:ln/>
        </p:spPr>
        <p:txBody>
          <a:bodyPr wrap="square" lIns="0" tIns="0" rIns="0" bIns="0" rtlCol="0" anchor="t"/>
          <a:lstStyle/>
          <a:p>
            <a:pPr marL="0" indent="0" algn="ctr">
              <a:buNone/>
            </a:pPr>
            <a:r>
              <a:rPr lang="en-US" sz="1000" dirty="0">
                <a:solidFill>
                  <a:schemeClr val="tx2"/>
                </a:solidFill>
                <a:latin typeface="Consolas" pitchFamily="34" charset="0"/>
                <a:ea typeface="Consolas" pitchFamily="34" charset="-122"/>
                <a:cs typeface="Consolas" pitchFamily="34" charset="-120"/>
              </a:rPr>
              <a:t>B</a:t>
            </a:r>
            <a:endParaRPr lang="en-US" sz="1000" dirty="0"/>
          </a:p>
        </p:txBody>
      </p:sp>
      <p:sp>
        <p:nvSpPr>
          <p:cNvPr id="14" name="Text 12"/>
          <p:cNvSpPr txBox="1"/>
          <p:nvPr/>
        </p:nvSpPr>
        <p:spPr>
          <a:xfrm>
            <a:off x="2450592" y="1554480"/>
            <a:ext cx="713232" cy="219456"/>
          </a:xfrm>
          <a:prstGeom prst="rect">
            <a:avLst/>
          </a:prstGeom>
          <a:noFill/>
          <a:ln/>
        </p:spPr>
        <p:txBody>
          <a:bodyPr wrap="square" lIns="0" tIns="0" rIns="0" bIns="0" rtlCol="0" anchor="t"/>
          <a:lstStyle/>
          <a:p>
            <a:pPr marL="0" indent="0" algn="ctr">
              <a:buNone/>
            </a:pPr>
            <a:r>
              <a:rPr lang="en-US" sz="1000" dirty="0">
                <a:solidFill>
                  <a:schemeClr val="tx2"/>
                </a:solidFill>
                <a:latin typeface="Consolas" pitchFamily="34" charset="0"/>
                <a:ea typeface="Consolas" pitchFamily="34" charset="-122"/>
                <a:cs typeface="Consolas" pitchFamily="34" charset="-120"/>
              </a:rPr>
              <a:t>C</a:t>
            </a:r>
            <a:endParaRPr lang="en-US" sz="1000" dirty="0"/>
          </a:p>
        </p:txBody>
      </p:sp>
      <p:sp>
        <p:nvSpPr>
          <p:cNvPr id="15" name="Text 13"/>
          <p:cNvSpPr txBox="1"/>
          <p:nvPr/>
        </p:nvSpPr>
        <p:spPr>
          <a:xfrm>
            <a:off x="3218688" y="1554480"/>
            <a:ext cx="713232" cy="219456"/>
          </a:xfrm>
          <a:prstGeom prst="rect">
            <a:avLst/>
          </a:prstGeom>
          <a:noFill/>
          <a:ln/>
        </p:spPr>
        <p:txBody>
          <a:bodyPr wrap="square" lIns="0" tIns="0" rIns="0" bIns="0" rtlCol="0" anchor="t"/>
          <a:lstStyle/>
          <a:p>
            <a:pPr marL="0" indent="0" algn="ctr">
              <a:buNone/>
            </a:pPr>
            <a:r>
              <a:rPr lang="en-US" sz="1000" dirty="0">
                <a:solidFill>
                  <a:schemeClr val="tx2"/>
                </a:solidFill>
                <a:latin typeface="Consolas" pitchFamily="34" charset="0"/>
                <a:ea typeface="Consolas" pitchFamily="34" charset="-122"/>
                <a:cs typeface="Consolas" pitchFamily="34" charset="-120"/>
              </a:rPr>
              <a:t>D</a:t>
            </a:r>
            <a:endParaRPr lang="en-US" sz="1000" dirty="0"/>
          </a:p>
        </p:txBody>
      </p:sp>
      <p:sp>
        <p:nvSpPr>
          <p:cNvPr id="16" name="Text 14"/>
          <p:cNvSpPr txBox="1"/>
          <p:nvPr/>
        </p:nvSpPr>
        <p:spPr>
          <a:xfrm>
            <a:off x="3986784" y="1554480"/>
            <a:ext cx="713232" cy="219456"/>
          </a:xfrm>
          <a:prstGeom prst="rect">
            <a:avLst/>
          </a:prstGeom>
          <a:noFill/>
          <a:ln/>
        </p:spPr>
        <p:txBody>
          <a:bodyPr wrap="square" lIns="0" tIns="0" rIns="0" bIns="0" rtlCol="0" anchor="t"/>
          <a:lstStyle/>
          <a:p>
            <a:pPr marL="0" indent="0" algn="ctr">
              <a:buNone/>
            </a:pPr>
            <a:r>
              <a:rPr lang="en-US" sz="1000" dirty="0">
                <a:solidFill>
                  <a:schemeClr val="tx2"/>
                </a:solidFill>
                <a:latin typeface="Consolas" pitchFamily="34" charset="0"/>
                <a:ea typeface="Consolas" pitchFamily="34" charset="-122"/>
                <a:cs typeface="Consolas" pitchFamily="34" charset="-120"/>
              </a:rPr>
              <a:t>E</a:t>
            </a:r>
            <a:endParaRPr lang="en-US" sz="1000" dirty="0"/>
          </a:p>
        </p:txBody>
      </p:sp>
      <p:sp>
        <p:nvSpPr>
          <p:cNvPr id="17" name="Text 15"/>
          <p:cNvSpPr txBox="1"/>
          <p:nvPr/>
        </p:nvSpPr>
        <p:spPr>
          <a:xfrm>
            <a:off x="4754880" y="1554480"/>
            <a:ext cx="713232" cy="219456"/>
          </a:xfrm>
          <a:prstGeom prst="rect">
            <a:avLst/>
          </a:prstGeom>
          <a:noFill/>
          <a:ln/>
        </p:spPr>
        <p:txBody>
          <a:bodyPr wrap="square" lIns="0" tIns="0" rIns="0" bIns="0" rtlCol="0" anchor="t"/>
          <a:lstStyle/>
          <a:p>
            <a:pPr marL="0" indent="0" algn="ctr">
              <a:buNone/>
            </a:pPr>
            <a:r>
              <a:rPr lang="en-US" sz="1000" dirty="0">
                <a:solidFill>
                  <a:schemeClr val="tx2"/>
                </a:solidFill>
                <a:latin typeface="Consolas" pitchFamily="34" charset="0"/>
                <a:ea typeface="Consolas" pitchFamily="34" charset="-122"/>
                <a:cs typeface="Consolas" pitchFamily="34" charset="-120"/>
              </a:rPr>
              <a:t>F</a:t>
            </a:r>
            <a:endParaRPr lang="en-US" sz="1000" dirty="0"/>
          </a:p>
        </p:txBody>
      </p:sp>
      <p:sp>
        <p:nvSpPr>
          <p:cNvPr id="18" name="Text 16"/>
          <p:cNvSpPr txBox="1"/>
          <p:nvPr/>
        </p:nvSpPr>
        <p:spPr>
          <a:xfrm>
            <a:off x="585216" y="1828800"/>
            <a:ext cx="219456" cy="713232"/>
          </a:xfrm>
          <a:prstGeom prst="rect">
            <a:avLst/>
          </a:prstGeom>
          <a:noFill/>
          <a:ln/>
        </p:spPr>
        <p:txBody>
          <a:bodyPr wrap="square" lIns="0" tIns="0" rIns="0" bIns="0" rtlCol="0" anchor="ctr"/>
          <a:lstStyle/>
          <a:p>
            <a:pPr marL="0" indent="0" algn="ctr">
              <a:buNone/>
            </a:pPr>
            <a:r>
              <a:rPr lang="en-US" sz="1000" dirty="0">
                <a:solidFill>
                  <a:schemeClr val="tx2"/>
                </a:solidFill>
                <a:latin typeface="Consolas" pitchFamily="34" charset="0"/>
                <a:ea typeface="Consolas" pitchFamily="34" charset="-122"/>
                <a:cs typeface="Consolas" pitchFamily="34" charset="-120"/>
              </a:rPr>
              <a:t>1</a:t>
            </a:r>
            <a:endParaRPr lang="en-US" sz="1000" dirty="0"/>
          </a:p>
        </p:txBody>
      </p:sp>
      <p:sp>
        <p:nvSpPr>
          <p:cNvPr id="19" name="Text 17"/>
          <p:cNvSpPr txBox="1"/>
          <p:nvPr/>
        </p:nvSpPr>
        <p:spPr>
          <a:xfrm>
            <a:off x="585216" y="2596896"/>
            <a:ext cx="219456" cy="713232"/>
          </a:xfrm>
          <a:prstGeom prst="rect">
            <a:avLst/>
          </a:prstGeom>
          <a:noFill/>
          <a:ln/>
        </p:spPr>
        <p:txBody>
          <a:bodyPr wrap="square" lIns="0" tIns="0" rIns="0" bIns="0" rtlCol="0" anchor="ctr"/>
          <a:lstStyle/>
          <a:p>
            <a:pPr marL="0" indent="0" algn="ctr">
              <a:buNone/>
            </a:pPr>
            <a:r>
              <a:rPr lang="en-US" sz="1000" dirty="0">
                <a:solidFill>
                  <a:schemeClr val="tx2"/>
                </a:solidFill>
                <a:latin typeface="Consolas" pitchFamily="34" charset="0"/>
                <a:ea typeface="Consolas" pitchFamily="34" charset="-122"/>
                <a:cs typeface="Consolas" pitchFamily="34" charset="-120"/>
              </a:rPr>
              <a:t>2</a:t>
            </a:r>
            <a:endParaRPr lang="en-US" sz="1000" dirty="0"/>
          </a:p>
        </p:txBody>
      </p:sp>
      <p:sp>
        <p:nvSpPr>
          <p:cNvPr id="20" name="Text 18"/>
          <p:cNvSpPr txBox="1"/>
          <p:nvPr/>
        </p:nvSpPr>
        <p:spPr>
          <a:xfrm>
            <a:off x="585216" y="3364992"/>
            <a:ext cx="219456" cy="713232"/>
          </a:xfrm>
          <a:prstGeom prst="rect">
            <a:avLst/>
          </a:prstGeom>
          <a:noFill/>
          <a:ln/>
        </p:spPr>
        <p:txBody>
          <a:bodyPr wrap="square" lIns="0" tIns="0" rIns="0" bIns="0" rtlCol="0" anchor="ctr"/>
          <a:lstStyle/>
          <a:p>
            <a:pPr marL="0" indent="0" algn="ctr">
              <a:buNone/>
            </a:pPr>
            <a:r>
              <a:rPr lang="en-US" sz="1000" dirty="0">
                <a:solidFill>
                  <a:schemeClr val="tx2"/>
                </a:solidFill>
                <a:latin typeface="Consolas" pitchFamily="34" charset="0"/>
                <a:ea typeface="Consolas" pitchFamily="34" charset="-122"/>
                <a:cs typeface="Consolas" pitchFamily="34" charset="-120"/>
              </a:rPr>
              <a:t>3</a:t>
            </a:r>
            <a:endParaRPr lang="en-US" sz="1000" dirty="0"/>
          </a:p>
        </p:txBody>
      </p:sp>
      <p:sp>
        <p:nvSpPr>
          <p:cNvPr id="21" name="Text 19"/>
          <p:cNvSpPr txBox="1"/>
          <p:nvPr/>
        </p:nvSpPr>
        <p:spPr>
          <a:xfrm>
            <a:off x="585216" y="4133088"/>
            <a:ext cx="219456" cy="713232"/>
          </a:xfrm>
          <a:prstGeom prst="rect">
            <a:avLst/>
          </a:prstGeom>
          <a:noFill/>
          <a:ln/>
        </p:spPr>
        <p:txBody>
          <a:bodyPr wrap="square" lIns="0" tIns="0" rIns="0" bIns="0" rtlCol="0" anchor="ctr"/>
          <a:lstStyle/>
          <a:p>
            <a:pPr marL="0" indent="0" algn="ctr">
              <a:buNone/>
            </a:pPr>
            <a:r>
              <a:rPr lang="en-US" sz="1000" dirty="0">
                <a:solidFill>
                  <a:schemeClr val="tx2"/>
                </a:solidFill>
                <a:latin typeface="Consolas" pitchFamily="34" charset="0"/>
                <a:ea typeface="Consolas" pitchFamily="34" charset="-122"/>
                <a:cs typeface="Consolas" pitchFamily="34" charset="-120"/>
              </a:rPr>
              <a:t>4</a:t>
            </a:r>
            <a:endParaRPr lang="en-US" sz="1000" dirty="0"/>
          </a:p>
        </p:txBody>
      </p:sp>
      <p:sp>
        <p:nvSpPr>
          <p:cNvPr id="22" name="Text 20"/>
          <p:cNvSpPr txBox="1"/>
          <p:nvPr/>
        </p:nvSpPr>
        <p:spPr>
          <a:xfrm>
            <a:off x="585216" y="4901184"/>
            <a:ext cx="219456" cy="713232"/>
          </a:xfrm>
          <a:prstGeom prst="rect">
            <a:avLst/>
          </a:prstGeom>
          <a:noFill/>
          <a:ln/>
        </p:spPr>
        <p:txBody>
          <a:bodyPr wrap="square" lIns="0" tIns="0" rIns="0" bIns="0" rtlCol="0" anchor="ctr"/>
          <a:lstStyle/>
          <a:p>
            <a:pPr marL="0" indent="0" algn="ctr">
              <a:buNone/>
            </a:pPr>
            <a:r>
              <a:rPr lang="en-US" sz="1000" dirty="0">
                <a:solidFill>
                  <a:schemeClr val="tx2"/>
                </a:solidFill>
                <a:latin typeface="Consolas" pitchFamily="34" charset="0"/>
                <a:ea typeface="Consolas" pitchFamily="34" charset="-122"/>
                <a:cs typeface="Consolas" pitchFamily="34" charset="-120"/>
              </a:rPr>
              <a:t>5</a:t>
            </a:r>
            <a:endParaRPr lang="en-US" sz="1000" dirty="0"/>
          </a:p>
        </p:txBody>
      </p:sp>
      <p:sp>
        <p:nvSpPr>
          <p:cNvPr id="23" name="Shape 21"/>
          <p:cNvSpPr/>
          <p:nvPr/>
        </p:nvSpPr>
        <p:spPr>
          <a:xfrm>
            <a:off x="914400" y="1828800"/>
            <a:ext cx="713232" cy="713232"/>
          </a:xfrm>
          <a:prstGeom prst="roundRect">
            <a:avLst>
              <a:gd name="adj" fmla="val 8974"/>
            </a:avLst>
          </a:prstGeom>
          <a:solidFill>
            <a:schemeClr val="accent2">
              <a:alpha val="12000"/>
            </a:schemeClr>
          </a:solidFill>
          <a:ln w="19050">
            <a:solidFill>
              <a:schemeClr val="accent2"/>
            </a:solidFill>
            <a:prstDash val="solid"/>
          </a:ln>
        </p:spPr>
      </p:sp>
      <p:sp>
        <p:nvSpPr>
          <p:cNvPr id="24" name="Text 22"/>
          <p:cNvSpPr txBox="1"/>
          <p:nvPr/>
        </p:nvSpPr>
        <p:spPr>
          <a:xfrm>
            <a:off x="914400" y="1828800"/>
            <a:ext cx="713232" cy="713232"/>
          </a:xfrm>
          <a:prstGeom prst="rect">
            <a:avLst/>
          </a:prstGeom>
          <a:noFill/>
          <a:ln/>
        </p:spPr>
        <p:txBody>
          <a:bodyPr wrap="square" lIns="0" tIns="0" rIns="0" bIns="0" rtlCol="0" anchor="ctr"/>
          <a:lstStyle/>
          <a:p>
            <a:pPr marL="0" indent="0" algn="ctr">
              <a:buNone/>
            </a:pPr>
            <a:r>
              <a:rPr lang="en-US" sz="2000" b="1" dirty="0">
                <a:solidFill>
                  <a:schemeClr val="accent2"/>
                </a:solidFill>
              </a:rPr>
              <a:t>9</a:t>
            </a:r>
            <a:endParaRPr lang="en-US" sz="2000" dirty="0"/>
          </a:p>
          <a:p>
            <a:pPr marL="0" indent="0" algn="ctr">
              <a:buNone/>
            </a:pPr>
            <a:r>
              <a:rPr lang="en-US" sz="900" dirty="0">
                <a:solidFill>
                  <a:schemeClr val="accent2"/>
                </a:solidFill>
                <a:latin typeface="Consolas" pitchFamily="34" charset="0"/>
                <a:ea typeface="Consolas" pitchFamily="34" charset="-122"/>
                <a:cs typeface="Consolas" pitchFamily="34" charset="-120"/>
              </a:rPr>
              <a:t>2+7</a:t>
            </a:r>
            <a:endParaRPr lang="en-US" sz="2000" dirty="0"/>
          </a:p>
        </p:txBody>
      </p:sp>
      <p:sp>
        <p:nvSpPr>
          <p:cNvPr id="25" name="Text 23"/>
          <p:cNvSpPr txBox="1"/>
          <p:nvPr/>
        </p:nvSpPr>
        <p:spPr>
          <a:xfrm>
            <a:off x="1408176" y="2340864"/>
            <a:ext cx="182880" cy="182880"/>
          </a:xfrm>
          <a:prstGeom prst="rect">
            <a:avLst/>
          </a:prstGeom>
          <a:noFill/>
          <a:ln/>
        </p:spPr>
        <p:txBody>
          <a:bodyPr wrap="square" lIns="0" tIns="0" rIns="0" bIns="0" rtlCol="0" anchor="t"/>
          <a:lstStyle/>
          <a:p>
            <a:pPr marL="0" indent="0" algn="r">
              <a:buNone/>
            </a:pPr>
            <a:r>
              <a:rPr lang="en-US" sz="1000" dirty="0">
                <a:solidFill>
                  <a:schemeClr val="tx2"/>
                </a:solidFill>
                <a:latin typeface="Consolas" pitchFamily="34" charset="0"/>
                <a:ea typeface="Consolas" pitchFamily="34" charset="-122"/>
                <a:cs typeface="Consolas" pitchFamily="34" charset="-120"/>
              </a:rPr>
              <a:t>↑</a:t>
            </a:r>
            <a:endParaRPr lang="en-US" sz="1000" dirty="0"/>
          </a:p>
        </p:txBody>
      </p:sp>
      <p:sp>
        <p:nvSpPr>
          <p:cNvPr id="26" name="Shape 24"/>
          <p:cNvSpPr/>
          <p:nvPr/>
        </p:nvSpPr>
        <p:spPr>
          <a:xfrm>
            <a:off x="1682496" y="1828800"/>
            <a:ext cx="713232" cy="713232"/>
          </a:xfrm>
          <a:prstGeom prst="roundRect">
            <a:avLst>
              <a:gd name="adj" fmla="val 8974"/>
            </a:avLst>
          </a:prstGeom>
          <a:solidFill>
            <a:schemeClr val="accent6"/>
          </a:solidFill>
          <a:ln w="12700">
            <a:solidFill>
              <a:schemeClr val="accent5"/>
            </a:solidFill>
            <a:prstDash val="solid"/>
          </a:ln>
        </p:spPr>
      </p:sp>
      <p:sp>
        <p:nvSpPr>
          <p:cNvPr id="27" name="Text 25"/>
          <p:cNvSpPr txBox="1"/>
          <p:nvPr/>
        </p:nvSpPr>
        <p:spPr>
          <a:xfrm>
            <a:off x="1682496" y="1828800"/>
            <a:ext cx="713232" cy="713232"/>
          </a:xfrm>
          <a:prstGeom prst="rect">
            <a:avLst/>
          </a:prstGeom>
          <a:noFill/>
          <a:ln/>
        </p:spPr>
        <p:txBody>
          <a:bodyPr wrap="square" lIns="0" tIns="0" rIns="0" bIns="0" rtlCol="0" anchor="ctr"/>
          <a:lstStyle/>
          <a:p>
            <a:pPr marL="0" indent="0" algn="ctr">
              <a:buNone/>
            </a:pPr>
            <a:r>
              <a:rPr lang="en-US" sz="2000" b="1" dirty="0">
                <a:solidFill>
                  <a:schemeClr val="tx1"/>
                </a:solidFill>
              </a:rPr>
              <a:t>9</a:t>
            </a:r>
            <a:endParaRPr lang="en-US" sz="2000" dirty="0"/>
          </a:p>
          <a:p>
            <a:pPr marL="0" indent="0" algn="ctr">
              <a:buNone/>
            </a:pPr>
            <a:r>
              <a:rPr lang="en-US" sz="900" dirty="0">
                <a:solidFill>
                  <a:schemeClr val="tx2"/>
                </a:solidFill>
                <a:latin typeface="Consolas" pitchFamily="34" charset="0"/>
                <a:ea typeface="Consolas" pitchFamily="34" charset="-122"/>
                <a:cs typeface="Consolas" pitchFamily="34" charset="-120"/>
              </a:rPr>
              <a:t>3+6</a:t>
            </a:r>
            <a:endParaRPr lang="en-US" sz="2000" dirty="0"/>
          </a:p>
        </p:txBody>
      </p:sp>
      <p:sp>
        <p:nvSpPr>
          <p:cNvPr id="28" name="Text 26"/>
          <p:cNvSpPr txBox="1"/>
          <p:nvPr/>
        </p:nvSpPr>
        <p:spPr>
          <a:xfrm>
            <a:off x="2176272" y="2340864"/>
            <a:ext cx="182880" cy="182880"/>
          </a:xfrm>
          <a:prstGeom prst="rect">
            <a:avLst/>
          </a:prstGeom>
          <a:noFill/>
          <a:ln/>
        </p:spPr>
        <p:txBody>
          <a:bodyPr wrap="square" lIns="0" tIns="0" rIns="0" bIns="0" rtlCol="0" anchor="t"/>
          <a:lstStyle/>
          <a:p>
            <a:pPr marL="0" indent="0" algn="r">
              <a:buNone/>
            </a:pPr>
            <a:r>
              <a:rPr lang="en-US" sz="1000" dirty="0">
                <a:solidFill>
                  <a:schemeClr val="tx2"/>
                </a:solidFill>
                <a:latin typeface="Consolas" pitchFamily="34" charset="0"/>
                <a:ea typeface="Consolas" pitchFamily="34" charset="-122"/>
                <a:cs typeface="Consolas" pitchFamily="34" charset="-120"/>
              </a:rPr>
              <a:t>↑</a:t>
            </a:r>
            <a:endParaRPr lang="en-US" sz="1000" dirty="0"/>
          </a:p>
        </p:txBody>
      </p:sp>
      <p:sp>
        <p:nvSpPr>
          <p:cNvPr id="29" name="Shape 27"/>
          <p:cNvSpPr/>
          <p:nvPr/>
        </p:nvSpPr>
        <p:spPr>
          <a:xfrm>
            <a:off x="2450592" y="1828800"/>
            <a:ext cx="713232" cy="713232"/>
          </a:xfrm>
          <a:prstGeom prst="roundRect">
            <a:avLst>
              <a:gd name="adj" fmla="val 8974"/>
            </a:avLst>
          </a:prstGeom>
          <a:solidFill>
            <a:schemeClr val="accent6"/>
          </a:solidFill>
          <a:ln w="12700">
            <a:solidFill>
              <a:schemeClr val="accent5"/>
            </a:solidFill>
            <a:prstDash val="solid"/>
          </a:ln>
        </p:spPr>
      </p:sp>
      <p:sp>
        <p:nvSpPr>
          <p:cNvPr id="30" name="Text 28"/>
          <p:cNvSpPr txBox="1"/>
          <p:nvPr/>
        </p:nvSpPr>
        <p:spPr>
          <a:xfrm>
            <a:off x="2450592" y="1828800"/>
            <a:ext cx="713232" cy="713232"/>
          </a:xfrm>
          <a:prstGeom prst="rect">
            <a:avLst/>
          </a:prstGeom>
          <a:noFill/>
          <a:ln/>
        </p:spPr>
        <p:txBody>
          <a:bodyPr wrap="square" lIns="0" tIns="0" rIns="0" bIns="0" rtlCol="0" anchor="ctr"/>
          <a:lstStyle/>
          <a:p>
            <a:pPr marL="0" indent="0" algn="ctr">
              <a:buNone/>
            </a:pPr>
            <a:r>
              <a:rPr lang="en-US" sz="2000" b="1" dirty="0">
                <a:solidFill>
                  <a:schemeClr val="tx1"/>
                </a:solidFill>
              </a:rPr>
              <a:t>9</a:t>
            </a:r>
            <a:endParaRPr lang="en-US" sz="2000" dirty="0"/>
          </a:p>
          <a:p>
            <a:pPr marL="0" indent="0" algn="ctr">
              <a:buNone/>
            </a:pPr>
            <a:r>
              <a:rPr lang="en-US" sz="900" dirty="0">
                <a:solidFill>
                  <a:schemeClr val="tx2"/>
                </a:solidFill>
                <a:latin typeface="Consolas" pitchFamily="34" charset="0"/>
                <a:ea typeface="Consolas" pitchFamily="34" charset="-122"/>
                <a:cs typeface="Consolas" pitchFamily="34" charset="-120"/>
              </a:rPr>
              <a:t>4+5</a:t>
            </a:r>
            <a:endParaRPr lang="en-US" sz="2000" dirty="0"/>
          </a:p>
        </p:txBody>
      </p:sp>
      <p:sp>
        <p:nvSpPr>
          <p:cNvPr id="31" name="Text 29"/>
          <p:cNvSpPr txBox="1"/>
          <p:nvPr/>
        </p:nvSpPr>
        <p:spPr>
          <a:xfrm>
            <a:off x="2944368" y="2340864"/>
            <a:ext cx="182880" cy="182880"/>
          </a:xfrm>
          <a:prstGeom prst="rect">
            <a:avLst/>
          </a:prstGeom>
          <a:noFill/>
          <a:ln/>
        </p:spPr>
        <p:txBody>
          <a:bodyPr wrap="square" lIns="0" tIns="0" rIns="0" bIns="0" rtlCol="0" anchor="t"/>
          <a:lstStyle/>
          <a:p>
            <a:pPr marL="0" indent="0" algn="r">
              <a:buNone/>
            </a:pPr>
            <a:r>
              <a:rPr lang="en-US" sz="1000" dirty="0">
                <a:solidFill>
                  <a:schemeClr val="tx2"/>
                </a:solidFill>
                <a:latin typeface="Consolas" pitchFamily="34" charset="0"/>
                <a:ea typeface="Consolas" pitchFamily="34" charset="-122"/>
                <a:cs typeface="Consolas" pitchFamily="34" charset="-120"/>
              </a:rPr>
              <a:t>→</a:t>
            </a:r>
            <a:endParaRPr lang="en-US" sz="1000" dirty="0"/>
          </a:p>
        </p:txBody>
      </p:sp>
      <p:sp>
        <p:nvSpPr>
          <p:cNvPr id="32" name="Text 30"/>
          <p:cNvSpPr txBox="1"/>
          <p:nvPr/>
        </p:nvSpPr>
        <p:spPr>
          <a:xfrm>
            <a:off x="2496312" y="1856232"/>
            <a:ext cx="228600" cy="228600"/>
          </a:xfrm>
          <a:prstGeom prst="rect">
            <a:avLst/>
          </a:prstGeom>
          <a:noFill/>
          <a:ln/>
        </p:spPr>
        <p:txBody>
          <a:bodyPr wrap="square" lIns="0" tIns="0" rIns="0" bIns="0" rtlCol="0" anchor="t"/>
          <a:lstStyle/>
          <a:p>
            <a:pPr marL="0" indent="0">
              <a:buNone/>
            </a:pPr>
            <a:r>
              <a:rPr lang="en-US" sz="1100" b="1" dirty="0">
                <a:solidFill>
                  <a:schemeClr val="accent3"/>
                </a:solidFill>
                <a:latin typeface="Consolas" pitchFamily="34" charset="0"/>
                <a:ea typeface="Consolas" pitchFamily="34" charset="-122"/>
                <a:cs typeface="Consolas" pitchFamily="34" charset="-120"/>
              </a:rPr>
              <a:t>✖</a:t>
            </a:r>
            <a:endParaRPr lang="en-US" sz="1100" dirty="0"/>
          </a:p>
        </p:txBody>
      </p:sp>
      <p:sp>
        <p:nvSpPr>
          <p:cNvPr id="33" name="Shape 31"/>
          <p:cNvSpPr/>
          <p:nvPr/>
        </p:nvSpPr>
        <p:spPr>
          <a:xfrm>
            <a:off x="3218688" y="1828800"/>
            <a:ext cx="713232" cy="713232"/>
          </a:xfrm>
          <a:prstGeom prst="roundRect">
            <a:avLst>
              <a:gd name="adj" fmla="val 8974"/>
            </a:avLst>
          </a:prstGeom>
          <a:solidFill>
            <a:schemeClr val="accent3">
              <a:alpha val="14000"/>
            </a:schemeClr>
          </a:solidFill>
          <a:ln w="19050">
            <a:solidFill>
              <a:schemeClr val="accent3"/>
            </a:solidFill>
            <a:prstDash val="solid"/>
          </a:ln>
        </p:spPr>
      </p:sp>
      <p:sp>
        <p:nvSpPr>
          <p:cNvPr id="34" name="Shape 32"/>
          <p:cNvSpPr/>
          <p:nvPr/>
        </p:nvSpPr>
        <p:spPr>
          <a:xfrm>
            <a:off x="3374136" y="1984248"/>
            <a:ext cx="402336" cy="402336"/>
          </a:xfrm>
          <a:prstGeom prst="line">
            <a:avLst/>
          </a:prstGeom>
          <a:noFill/>
          <a:ln w="19050">
            <a:solidFill>
              <a:schemeClr val="accent3"/>
            </a:solidFill>
            <a:prstDash val="solid"/>
          </a:ln>
        </p:spPr>
      </p:sp>
      <p:sp>
        <p:nvSpPr>
          <p:cNvPr id="35" name="Shape 33"/>
          <p:cNvSpPr/>
          <p:nvPr/>
        </p:nvSpPr>
        <p:spPr>
          <a:xfrm flipV="1">
            <a:off x="3374136" y="1984248"/>
            <a:ext cx="402336" cy="402336"/>
          </a:xfrm>
          <a:prstGeom prst="line">
            <a:avLst/>
          </a:prstGeom>
          <a:noFill/>
          <a:ln w="19050">
            <a:solidFill>
              <a:schemeClr val="accent3"/>
            </a:solidFill>
            <a:prstDash val="solid"/>
          </a:ln>
        </p:spPr>
      </p:sp>
      <p:sp>
        <p:nvSpPr>
          <p:cNvPr id="36" name="Shape 34"/>
          <p:cNvSpPr/>
          <p:nvPr/>
        </p:nvSpPr>
        <p:spPr>
          <a:xfrm>
            <a:off x="3986784" y="1828800"/>
            <a:ext cx="713232" cy="713232"/>
          </a:xfrm>
          <a:prstGeom prst="roundRect">
            <a:avLst>
              <a:gd name="adj" fmla="val 8974"/>
            </a:avLst>
          </a:prstGeom>
          <a:solidFill>
            <a:schemeClr val="bg2"/>
          </a:solidFill>
          <a:ln w="12700">
            <a:solidFill>
              <a:schemeClr val="accent5"/>
            </a:solidFill>
            <a:prstDash val="solid"/>
          </a:ln>
        </p:spPr>
      </p:sp>
      <p:sp>
        <p:nvSpPr>
          <p:cNvPr id="37" name="Shape 35"/>
          <p:cNvSpPr/>
          <p:nvPr/>
        </p:nvSpPr>
        <p:spPr>
          <a:xfrm>
            <a:off x="4754880" y="1828800"/>
            <a:ext cx="713232" cy="713232"/>
          </a:xfrm>
          <a:prstGeom prst="roundRect">
            <a:avLst>
              <a:gd name="adj" fmla="val 8974"/>
            </a:avLst>
          </a:prstGeom>
          <a:solidFill>
            <a:schemeClr val="bg2"/>
          </a:solidFill>
          <a:ln w="12700">
            <a:solidFill>
              <a:schemeClr val="accent5"/>
            </a:solidFill>
            <a:prstDash val="solid"/>
          </a:ln>
        </p:spPr>
      </p:sp>
      <p:sp>
        <p:nvSpPr>
          <p:cNvPr id="38" name="Shape 36"/>
          <p:cNvSpPr/>
          <p:nvPr/>
        </p:nvSpPr>
        <p:spPr>
          <a:xfrm>
            <a:off x="914400" y="2596896"/>
            <a:ext cx="713232" cy="713232"/>
          </a:xfrm>
          <a:prstGeom prst="roundRect">
            <a:avLst>
              <a:gd name="adj" fmla="val 8974"/>
            </a:avLst>
          </a:prstGeom>
          <a:solidFill>
            <a:schemeClr val="accent6"/>
          </a:solidFill>
          <a:ln w="12700">
            <a:solidFill>
              <a:schemeClr val="accent5"/>
            </a:solidFill>
            <a:prstDash val="solid"/>
          </a:ln>
        </p:spPr>
      </p:sp>
      <p:sp>
        <p:nvSpPr>
          <p:cNvPr id="39" name="Text 37"/>
          <p:cNvSpPr txBox="1"/>
          <p:nvPr/>
        </p:nvSpPr>
        <p:spPr>
          <a:xfrm>
            <a:off x="914400" y="2596896"/>
            <a:ext cx="713232" cy="713232"/>
          </a:xfrm>
          <a:prstGeom prst="rect">
            <a:avLst/>
          </a:prstGeom>
          <a:noFill/>
          <a:ln/>
        </p:spPr>
        <p:txBody>
          <a:bodyPr wrap="square" lIns="0" tIns="0" rIns="0" bIns="0" rtlCol="0" anchor="ctr"/>
          <a:lstStyle/>
          <a:p>
            <a:pPr marL="0" indent="0" algn="ctr">
              <a:buNone/>
            </a:pPr>
            <a:r>
              <a:rPr lang="en-US" sz="2000" b="1" dirty="0">
                <a:solidFill>
                  <a:schemeClr val="tx1"/>
                </a:solidFill>
              </a:rPr>
              <a:t>7</a:t>
            </a:r>
            <a:endParaRPr lang="en-US" sz="2000" dirty="0"/>
          </a:p>
          <a:p>
            <a:pPr marL="0" indent="0" algn="ctr">
              <a:buNone/>
            </a:pPr>
            <a:r>
              <a:rPr lang="en-US" sz="900" dirty="0">
                <a:solidFill>
                  <a:schemeClr val="tx2"/>
                </a:solidFill>
                <a:latin typeface="Consolas" pitchFamily="34" charset="0"/>
                <a:ea typeface="Consolas" pitchFamily="34" charset="-122"/>
                <a:cs typeface="Consolas" pitchFamily="34" charset="-120"/>
              </a:rPr>
              <a:t>1+6</a:t>
            </a:r>
            <a:endParaRPr lang="en-US" sz="2000" dirty="0"/>
          </a:p>
        </p:txBody>
      </p:sp>
      <p:sp>
        <p:nvSpPr>
          <p:cNvPr id="40" name="Text 38"/>
          <p:cNvSpPr txBox="1"/>
          <p:nvPr/>
        </p:nvSpPr>
        <p:spPr>
          <a:xfrm>
            <a:off x="1408176" y="3108960"/>
            <a:ext cx="182880" cy="182880"/>
          </a:xfrm>
          <a:prstGeom prst="rect">
            <a:avLst/>
          </a:prstGeom>
          <a:noFill/>
          <a:ln/>
        </p:spPr>
        <p:txBody>
          <a:bodyPr wrap="square" lIns="0" tIns="0" rIns="0" bIns="0" rtlCol="0" anchor="t"/>
          <a:lstStyle/>
          <a:p>
            <a:pPr marL="0" indent="0" algn="r">
              <a:buNone/>
            </a:pPr>
            <a:r>
              <a:rPr lang="en-US" sz="1000" dirty="0">
                <a:solidFill>
                  <a:schemeClr val="tx2"/>
                </a:solidFill>
                <a:latin typeface="Consolas" pitchFamily="34" charset="0"/>
                <a:ea typeface="Consolas" pitchFamily="34" charset="-122"/>
                <a:cs typeface="Consolas" pitchFamily="34" charset="-120"/>
              </a:rPr>
              <a:t>↑</a:t>
            </a:r>
            <a:endParaRPr lang="en-US" sz="1000" dirty="0"/>
          </a:p>
        </p:txBody>
      </p:sp>
      <p:sp>
        <p:nvSpPr>
          <p:cNvPr id="41" name="Shape 39"/>
          <p:cNvSpPr/>
          <p:nvPr/>
        </p:nvSpPr>
        <p:spPr>
          <a:xfrm>
            <a:off x="1682496" y="2596896"/>
            <a:ext cx="713232" cy="713232"/>
          </a:xfrm>
          <a:prstGeom prst="roundRect">
            <a:avLst>
              <a:gd name="adj" fmla="val 8974"/>
            </a:avLst>
          </a:prstGeom>
          <a:solidFill>
            <a:schemeClr val="accent6"/>
          </a:solidFill>
          <a:ln w="12700">
            <a:solidFill>
              <a:schemeClr val="accent5"/>
            </a:solidFill>
            <a:prstDash val="solid"/>
          </a:ln>
        </p:spPr>
      </p:sp>
      <p:sp>
        <p:nvSpPr>
          <p:cNvPr id="42" name="Text 40"/>
          <p:cNvSpPr txBox="1"/>
          <p:nvPr/>
        </p:nvSpPr>
        <p:spPr>
          <a:xfrm>
            <a:off x="1682496" y="2596896"/>
            <a:ext cx="713232" cy="713232"/>
          </a:xfrm>
          <a:prstGeom prst="rect">
            <a:avLst/>
          </a:prstGeom>
          <a:noFill/>
          <a:ln/>
        </p:spPr>
        <p:txBody>
          <a:bodyPr wrap="square" lIns="0" tIns="0" rIns="0" bIns="0" rtlCol="0" anchor="ctr"/>
          <a:lstStyle/>
          <a:p>
            <a:pPr marL="0" indent="0" algn="ctr">
              <a:buNone/>
            </a:pPr>
            <a:r>
              <a:rPr lang="en-US" sz="2000" b="1" dirty="0">
                <a:solidFill>
                  <a:schemeClr val="tx1"/>
                </a:solidFill>
              </a:rPr>
              <a:t>7</a:t>
            </a:r>
            <a:endParaRPr lang="en-US" sz="2000" dirty="0"/>
          </a:p>
          <a:p>
            <a:pPr marL="0" indent="0" algn="ctr">
              <a:buNone/>
            </a:pPr>
            <a:r>
              <a:rPr lang="en-US" sz="900" dirty="0">
                <a:solidFill>
                  <a:schemeClr val="tx2"/>
                </a:solidFill>
                <a:latin typeface="Consolas" pitchFamily="34" charset="0"/>
                <a:ea typeface="Consolas" pitchFamily="34" charset="-122"/>
                <a:cs typeface="Consolas" pitchFamily="34" charset="-120"/>
              </a:rPr>
              <a:t>2+5</a:t>
            </a:r>
            <a:endParaRPr lang="en-US" sz="2000" dirty="0"/>
          </a:p>
        </p:txBody>
      </p:sp>
      <p:sp>
        <p:nvSpPr>
          <p:cNvPr id="43" name="Text 41"/>
          <p:cNvSpPr txBox="1"/>
          <p:nvPr/>
        </p:nvSpPr>
        <p:spPr>
          <a:xfrm>
            <a:off x="2176272" y="3108960"/>
            <a:ext cx="182880" cy="182880"/>
          </a:xfrm>
          <a:prstGeom prst="rect">
            <a:avLst/>
          </a:prstGeom>
          <a:noFill/>
          <a:ln/>
        </p:spPr>
        <p:txBody>
          <a:bodyPr wrap="square" lIns="0" tIns="0" rIns="0" bIns="0" rtlCol="0" anchor="t"/>
          <a:lstStyle/>
          <a:p>
            <a:pPr marL="0" indent="0" algn="r">
              <a:buNone/>
            </a:pPr>
            <a:r>
              <a:rPr lang="en-US" sz="1000" dirty="0">
                <a:solidFill>
                  <a:schemeClr val="tx2"/>
                </a:solidFill>
                <a:latin typeface="Consolas" pitchFamily="34" charset="0"/>
                <a:ea typeface="Consolas" pitchFamily="34" charset="-122"/>
                <a:cs typeface="Consolas" pitchFamily="34" charset="-120"/>
              </a:rPr>
              <a:t>↑</a:t>
            </a:r>
            <a:endParaRPr lang="en-US" sz="1000" dirty="0"/>
          </a:p>
        </p:txBody>
      </p:sp>
      <p:sp>
        <p:nvSpPr>
          <p:cNvPr id="44" name="Shape 42"/>
          <p:cNvSpPr/>
          <p:nvPr/>
        </p:nvSpPr>
        <p:spPr>
          <a:xfrm>
            <a:off x="2450592" y="2596896"/>
            <a:ext cx="713232" cy="713232"/>
          </a:xfrm>
          <a:prstGeom prst="roundRect">
            <a:avLst>
              <a:gd name="adj" fmla="val 8974"/>
            </a:avLst>
          </a:prstGeom>
          <a:solidFill>
            <a:schemeClr val="accent3">
              <a:alpha val="14000"/>
            </a:schemeClr>
          </a:solidFill>
          <a:ln w="19050">
            <a:solidFill>
              <a:schemeClr val="accent3"/>
            </a:solidFill>
            <a:prstDash val="solid"/>
          </a:ln>
        </p:spPr>
      </p:sp>
      <p:sp>
        <p:nvSpPr>
          <p:cNvPr id="45" name="Shape 43"/>
          <p:cNvSpPr/>
          <p:nvPr/>
        </p:nvSpPr>
        <p:spPr>
          <a:xfrm>
            <a:off x="2606040" y="2752344"/>
            <a:ext cx="402336" cy="402336"/>
          </a:xfrm>
          <a:prstGeom prst="line">
            <a:avLst/>
          </a:prstGeom>
          <a:noFill/>
          <a:ln w="19050">
            <a:solidFill>
              <a:schemeClr val="accent3"/>
            </a:solidFill>
            <a:prstDash val="solid"/>
          </a:ln>
        </p:spPr>
      </p:sp>
      <p:sp>
        <p:nvSpPr>
          <p:cNvPr id="46" name="Shape 44"/>
          <p:cNvSpPr/>
          <p:nvPr/>
        </p:nvSpPr>
        <p:spPr>
          <a:xfrm flipV="1">
            <a:off x="2606040" y="2752344"/>
            <a:ext cx="402336" cy="402336"/>
          </a:xfrm>
          <a:prstGeom prst="line">
            <a:avLst/>
          </a:prstGeom>
          <a:noFill/>
          <a:ln w="19050">
            <a:solidFill>
              <a:schemeClr val="accent3"/>
            </a:solidFill>
            <a:prstDash val="solid"/>
          </a:ln>
        </p:spPr>
      </p:sp>
      <p:sp>
        <p:nvSpPr>
          <p:cNvPr id="47" name="Shape 45"/>
          <p:cNvSpPr/>
          <p:nvPr/>
        </p:nvSpPr>
        <p:spPr>
          <a:xfrm>
            <a:off x="3218688" y="2596896"/>
            <a:ext cx="713232" cy="713232"/>
          </a:xfrm>
          <a:prstGeom prst="roundRect">
            <a:avLst>
              <a:gd name="adj" fmla="val 8974"/>
            </a:avLst>
          </a:prstGeom>
          <a:solidFill>
            <a:schemeClr val="accent2">
              <a:alpha val="12000"/>
            </a:schemeClr>
          </a:solidFill>
          <a:ln w="19050">
            <a:solidFill>
              <a:schemeClr val="accent2"/>
            </a:solidFill>
            <a:prstDash val="solid"/>
          </a:ln>
        </p:spPr>
      </p:sp>
      <p:sp>
        <p:nvSpPr>
          <p:cNvPr id="48" name="Text 46"/>
          <p:cNvSpPr txBox="1"/>
          <p:nvPr/>
        </p:nvSpPr>
        <p:spPr>
          <a:xfrm>
            <a:off x="3218688" y="2596896"/>
            <a:ext cx="713232" cy="713232"/>
          </a:xfrm>
          <a:prstGeom prst="rect">
            <a:avLst/>
          </a:prstGeom>
          <a:noFill/>
          <a:ln/>
        </p:spPr>
        <p:txBody>
          <a:bodyPr wrap="square" lIns="0" tIns="0" rIns="0" bIns="0" rtlCol="0" anchor="ctr"/>
          <a:lstStyle/>
          <a:p>
            <a:pPr marL="0" indent="0" algn="ctr">
              <a:buNone/>
            </a:pPr>
            <a:r>
              <a:rPr lang="en-US" sz="2000" b="1" dirty="0">
                <a:solidFill>
                  <a:schemeClr val="accent2"/>
                </a:solidFill>
              </a:rPr>
              <a:t>11</a:t>
            </a:r>
            <a:endParaRPr lang="en-US" sz="2000" dirty="0"/>
          </a:p>
          <a:p>
            <a:pPr marL="0" indent="0" algn="ctr">
              <a:buNone/>
            </a:pPr>
            <a:r>
              <a:rPr lang="en-US" sz="900" dirty="0">
                <a:solidFill>
                  <a:schemeClr val="accent2"/>
                </a:solidFill>
                <a:latin typeface="Consolas" pitchFamily="34" charset="0"/>
                <a:ea typeface="Consolas" pitchFamily="34" charset="-122"/>
                <a:cs typeface="Consolas" pitchFamily="34" charset="-120"/>
              </a:rPr>
              <a:t>8+3</a:t>
            </a:r>
            <a:endParaRPr lang="en-US" sz="2000" dirty="0"/>
          </a:p>
        </p:txBody>
      </p:sp>
      <p:sp>
        <p:nvSpPr>
          <p:cNvPr id="49" name="Text 47"/>
          <p:cNvSpPr txBox="1"/>
          <p:nvPr/>
        </p:nvSpPr>
        <p:spPr>
          <a:xfrm>
            <a:off x="3712464" y="3108960"/>
            <a:ext cx="182880" cy="182880"/>
          </a:xfrm>
          <a:prstGeom prst="rect">
            <a:avLst/>
          </a:prstGeom>
          <a:noFill/>
          <a:ln/>
        </p:spPr>
        <p:txBody>
          <a:bodyPr wrap="square" lIns="0" tIns="0" rIns="0" bIns="0" rtlCol="0" anchor="t"/>
          <a:lstStyle/>
          <a:p>
            <a:pPr marL="0" indent="0" algn="r">
              <a:buNone/>
            </a:pPr>
            <a:r>
              <a:rPr lang="en-US" sz="1000" dirty="0">
                <a:solidFill>
                  <a:schemeClr val="tx2"/>
                </a:solidFill>
                <a:latin typeface="Consolas" pitchFamily="34" charset="0"/>
                <a:ea typeface="Consolas" pitchFamily="34" charset="-122"/>
                <a:cs typeface="Consolas" pitchFamily="34" charset="-120"/>
              </a:rPr>
              <a:t>↑</a:t>
            </a:r>
            <a:endParaRPr lang="en-US" sz="1000" dirty="0"/>
          </a:p>
        </p:txBody>
      </p:sp>
      <p:sp>
        <p:nvSpPr>
          <p:cNvPr id="50" name="Shape 48"/>
          <p:cNvSpPr/>
          <p:nvPr/>
        </p:nvSpPr>
        <p:spPr>
          <a:xfrm>
            <a:off x="3986784" y="2596896"/>
            <a:ext cx="713232" cy="713232"/>
          </a:xfrm>
          <a:prstGeom prst="roundRect">
            <a:avLst>
              <a:gd name="adj" fmla="val 8974"/>
            </a:avLst>
          </a:prstGeom>
          <a:solidFill>
            <a:schemeClr val="accent2">
              <a:alpha val="12000"/>
            </a:schemeClr>
          </a:solidFill>
          <a:ln w="19050">
            <a:solidFill>
              <a:schemeClr val="accent2"/>
            </a:solidFill>
            <a:prstDash val="solid"/>
          </a:ln>
        </p:spPr>
      </p:sp>
      <p:sp>
        <p:nvSpPr>
          <p:cNvPr id="51" name="Text 49"/>
          <p:cNvSpPr txBox="1"/>
          <p:nvPr/>
        </p:nvSpPr>
        <p:spPr>
          <a:xfrm>
            <a:off x="3986784" y="2596896"/>
            <a:ext cx="713232" cy="713232"/>
          </a:xfrm>
          <a:prstGeom prst="rect">
            <a:avLst/>
          </a:prstGeom>
          <a:noFill/>
          <a:ln/>
        </p:spPr>
        <p:txBody>
          <a:bodyPr wrap="square" lIns="0" tIns="0" rIns="0" bIns="0" rtlCol="0" anchor="ctr"/>
          <a:lstStyle/>
          <a:p>
            <a:pPr marL="0" indent="0" algn="ctr">
              <a:buNone/>
            </a:pPr>
            <a:r>
              <a:rPr lang="en-US" sz="2000" b="1" dirty="0">
                <a:solidFill>
                  <a:schemeClr val="accent2"/>
                </a:solidFill>
              </a:rPr>
              <a:t>11</a:t>
            </a:r>
            <a:endParaRPr lang="en-US" sz="2000" dirty="0"/>
          </a:p>
          <a:p>
            <a:pPr marL="0" indent="0" algn="ctr">
              <a:buNone/>
            </a:pPr>
            <a:r>
              <a:rPr lang="en-US" sz="900" dirty="0">
                <a:solidFill>
                  <a:schemeClr val="accent2"/>
                </a:solidFill>
                <a:latin typeface="Consolas" pitchFamily="34" charset="0"/>
                <a:ea typeface="Consolas" pitchFamily="34" charset="-122"/>
                <a:cs typeface="Consolas" pitchFamily="34" charset="-120"/>
              </a:rPr>
              <a:t>9+2</a:t>
            </a:r>
            <a:endParaRPr lang="en-US" sz="2000" dirty="0"/>
          </a:p>
        </p:txBody>
      </p:sp>
      <p:sp>
        <p:nvSpPr>
          <p:cNvPr id="52" name="Text 50"/>
          <p:cNvSpPr txBox="1"/>
          <p:nvPr/>
        </p:nvSpPr>
        <p:spPr>
          <a:xfrm>
            <a:off x="4480560" y="3108960"/>
            <a:ext cx="182880" cy="182880"/>
          </a:xfrm>
          <a:prstGeom prst="rect">
            <a:avLst/>
          </a:prstGeom>
          <a:noFill/>
          <a:ln/>
        </p:spPr>
        <p:txBody>
          <a:bodyPr wrap="square" lIns="0" tIns="0" rIns="0" bIns="0" rtlCol="0" anchor="t"/>
          <a:lstStyle/>
          <a:p>
            <a:pPr marL="0" indent="0" algn="r">
              <a:buNone/>
            </a:pPr>
            <a:r>
              <a:rPr lang="en-US" sz="1000" dirty="0">
                <a:solidFill>
                  <a:schemeClr val="tx2"/>
                </a:solidFill>
                <a:latin typeface="Consolas" pitchFamily="34" charset="0"/>
                <a:ea typeface="Consolas" pitchFamily="34" charset="-122"/>
                <a:cs typeface="Consolas" pitchFamily="34" charset="-120"/>
              </a:rPr>
              <a:t>↑</a:t>
            </a:r>
            <a:endParaRPr lang="en-US" sz="1000" dirty="0"/>
          </a:p>
        </p:txBody>
      </p:sp>
      <p:sp>
        <p:nvSpPr>
          <p:cNvPr id="53" name="Shape 51"/>
          <p:cNvSpPr/>
          <p:nvPr/>
        </p:nvSpPr>
        <p:spPr>
          <a:xfrm>
            <a:off x="4754880" y="2596896"/>
            <a:ext cx="713232" cy="713232"/>
          </a:xfrm>
          <a:prstGeom prst="roundRect">
            <a:avLst>
              <a:gd name="adj" fmla="val 8974"/>
            </a:avLst>
          </a:prstGeom>
          <a:solidFill>
            <a:schemeClr val="bg2"/>
          </a:solidFill>
          <a:ln w="12700">
            <a:solidFill>
              <a:schemeClr val="accent5"/>
            </a:solidFill>
            <a:prstDash val="solid"/>
          </a:ln>
        </p:spPr>
      </p:sp>
      <p:sp>
        <p:nvSpPr>
          <p:cNvPr id="54" name="Shape 52"/>
          <p:cNvSpPr/>
          <p:nvPr/>
        </p:nvSpPr>
        <p:spPr>
          <a:xfrm>
            <a:off x="914400" y="3364992"/>
            <a:ext cx="713232" cy="713232"/>
          </a:xfrm>
          <a:prstGeom prst="roundRect">
            <a:avLst>
              <a:gd name="adj" fmla="val 8974"/>
            </a:avLst>
          </a:prstGeom>
          <a:solidFill>
            <a:schemeClr val="accent4">
              <a:alpha val="22000"/>
            </a:schemeClr>
          </a:solidFill>
          <a:ln w="19050">
            <a:solidFill>
              <a:schemeClr val="accent4"/>
            </a:solidFill>
            <a:prstDash val="solid"/>
          </a:ln>
        </p:spPr>
      </p:sp>
      <p:sp>
        <p:nvSpPr>
          <p:cNvPr id="55" name="Text 53"/>
          <p:cNvSpPr txBox="1"/>
          <p:nvPr/>
        </p:nvSpPr>
        <p:spPr>
          <a:xfrm>
            <a:off x="914400" y="3364992"/>
            <a:ext cx="713232" cy="713232"/>
          </a:xfrm>
          <a:prstGeom prst="rect">
            <a:avLst/>
          </a:prstGeom>
          <a:noFill/>
          <a:ln/>
        </p:spPr>
        <p:txBody>
          <a:bodyPr wrap="square" lIns="0" tIns="0" rIns="0" bIns="0" rtlCol="0" anchor="ctr"/>
          <a:lstStyle/>
          <a:p>
            <a:pPr marL="0" indent="0" algn="ctr">
              <a:buNone/>
            </a:pPr>
            <a:r>
              <a:rPr lang="en-US" sz="2000" b="1" dirty="0">
                <a:solidFill>
                  <a:schemeClr val="accent4"/>
                </a:solidFill>
              </a:rPr>
              <a:t>5</a:t>
            </a:r>
            <a:endParaRPr lang="en-US" sz="2000" dirty="0"/>
          </a:p>
          <a:p>
            <a:pPr marL="0" indent="0" algn="ctr">
              <a:buNone/>
            </a:pPr>
            <a:r>
              <a:rPr lang="en-US" sz="900" dirty="0">
                <a:solidFill>
                  <a:schemeClr val="accent4"/>
                </a:solidFill>
                <a:latin typeface="Consolas" pitchFamily="34" charset="0"/>
                <a:ea typeface="Consolas" pitchFamily="34" charset="-122"/>
                <a:cs typeface="Consolas" pitchFamily="34" charset="-120"/>
              </a:rPr>
              <a:t>0+5</a:t>
            </a:r>
            <a:endParaRPr lang="en-US" sz="2000" dirty="0"/>
          </a:p>
        </p:txBody>
      </p:sp>
      <p:sp>
        <p:nvSpPr>
          <p:cNvPr id="56" name="Text 54"/>
          <p:cNvSpPr txBox="1"/>
          <p:nvPr/>
        </p:nvSpPr>
        <p:spPr>
          <a:xfrm>
            <a:off x="969264" y="3401568"/>
            <a:ext cx="182880" cy="182880"/>
          </a:xfrm>
          <a:prstGeom prst="rect">
            <a:avLst/>
          </a:prstGeom>
          <a:noFill/>
          <a:ln/>
        </p:spPr>
        <p:txBody>
          <a:bodyPr wrap="square" lIns="0" tIns="0" rIns="0" bIns="0" rtlCol="0" anchor="t"/>
          <a:lstStyle/>
          <a:p>
            <a:pPr marL="0" indent="0">
              <a:buNone/>
            </a:pPr>
            <a:r>
              <a:rPr lang="en-US" sz="1000" b="1" dirty="0">
                <a:solidFill>
                  <a:schemeClr val="accent1"/>
                </a:solidFill>
                <a:latin typeface="Consolas" pitchFamily="34" charset="0"/>
                <a:ea typeface="Consolas" pitchFamily="34" charset="-122"/>
                <a:cs typeface="Consolas" pitchFamily="34" charset="-120"/>
              </a:rPr>
              <a:t>S</a:t>
            </a:r>
            <a:endParaRPr lang="en-US" sz="1000" dirty="0"/>
          </a:p>
        </p:txBody>
      </p:sp>
      <p:sp>
        <p:nvSpPr>
          <p:cNvPr id="57" name="Shape 55"/>
          <p:cNvSpPr/>
          <p:nvPr/>
        </p:nvSpPr>
        <p:spPr>
          <a:xfrm>
            <a:off x="1682496" y="3364992"/>
            <a:ext cx="713232" cy="713232"/>
          </a:xfrm>
          <a:prstGeom prst="roundRect">
            <a:avLst>
              <a:gd name="adj" fmla="val 8974"/>
            </a:avLst>
          </a:prstGeom>
          <a:solidFill>
            <a:schemeClr val="accent4">
              <a:alpha val="22000"/>
            </a:schemeClr>
          </a:solidFill>
          <a:ln w="19050">
            <a:solidFill>
              <a:schemeClr val="accent4"/>
            </a:solidFill>
            <a:prstDash val="solid"/>
          </a:ln>
        </p:spPr>
      </p:sp>
      <p:sp>
        <p:nvSpPr>
          <p:cNvPr id="58" name="Text 56"/>
          <p:cNvSpPr txBox="1"/>
          <p:nvPr/>
        </p:nvSpPr>
        <p:spPr>
          <a:xfrm>
            <a:off x="1682496" y="3364992"/>
            <a:ext cx="713232" cy="713232"/>
          </a:xfrm>
          <a:prstGeom prst="rect">
            <a:avLst/>
          </a:prstGeom>
          <a:noFill/>
          <a:ln/>
        </p:spPr>
        <p:txBody>
          <a:bodyPr wrap="square" lIns="0" tIns="0" rIns="0" bIns="0" rtlCol="0" anchor="ctr"/>
          <a:lstStyle/>
          <a:p>
            <a:pPr marL="0" indent="0" algn="ctr">
              <a:buNone/>
            </a:pPr>
            <a:r>
              <a:rPr lang="en-US" sz="2000" b="1" dirty="0">
                <a:solidFill>
                  <a:schemeClr val="accent4"/>
                </a:solidFill>
              </a:rPr>
              <a:t>5</a:t>
            </a:r>
            <a:endParaRPr lang="en-US" sz="2000" dirty="0"/>
          </a:p>
          <a:p>
            <a:pPr marL="0" indent="0" algn="ctr">
              <a:buNone/>
            </a:pPr>
            <a:r>
              <a:rPr lang="en-US" sz="900" dirty="0">
                <a:solidFill>
                  <a:schemeClr val="accent4"/>
                </a:solidFill>
                <a:latin typeface="Consolas" pitchFamily="34" charset="0"/>
                <a:ea typeface="Consolas" pitchFamily="34" charset="-122"/>
                <a:cs typeface="Consolas" pitchFamily="34" charset="-120"/>
              </a:rPr>
              <a:t>1+4</a:t>
            </a:r>
            <a:endParaRPr lang="en-US" sz="2000" dirty="0"/>
          </a:p>
        </p:txBody>
      </p:sp>
      <p:sp>
        <p:nvSpPr>
          <p:cNvPr id="59" name="Text 57"/>
          <p:cNvSpPr txBox="1"/>
          <p:nvPr/>
        </p:nvSpPr>
        <p:spPr>
          <a:xfrm>
            <a:off x="2176272" y="3877056"/>
            <a:ext cx="182880" cy="182880"/>
          </a:xfrm>
          <a:prstGeom prst="rect">
            <a:avLst/>
          </a:prstGeom>
          <a:noFill/>
          <a:ln/>
        </p:spPr>
        <p:txBody>
          <a:bodyPr wrap="square" lIns="0" tIns="0" rIns="0" bIns="0" rtlCol="0" anchor="t"/>
          <a:lstStyle/>
          <a:p>
            <a:pPr marL="0" indent="0" algn="r">
              <a:buNone/>
            </a:pPr>
            <a:r>
              <a:rPr lang="en-US" sz="1000" dirty="0">
                <a:solidFill>
                  <a:schemeClr val="tx2"/>
                </a:solidFill>
                <a:latin typeface="Consolas" pitchFamily="34" charset="0"/>
                <a:ea typeface="Consolas" pitchFamily="34" charset="-122"/>
                <a:cs typeface="Consolas" pitchFamily="34" charset="-120"/>
              </a:rPr>
              <a:t>→</a:t>
            </a:r>
            <a:endParaRPr lang="en-US" sz="1000" dirty="0"/>
          </a:p>
        </p:txBody>
      </p:sp>
      <p:sp>
        <p:nvSpPr>
          <p:cNvPr id="60" name="Shape 58"/>
          <p:cNvSpPr/>
          <p:nvPr/>
        </p:nvSpPr>
        <p:spPr>
          <a:xfrm>
            <a:off x="2450592" y="3364992"/>
            <a:ext cx="713232" cy="713232"/>
          </a:xfrm>
          <a:prstGeom prst="roundRect">
            <a:avLst>
              <a:gd name="adj" fmla="val 8974"/>
            </a:avLst>
          </a:prstGeom>
          <a:solidFill>
            <a:schemeClr val="accent3">
              <a:alpha val="14000"/>
            </a:schemeClr>
          </a:solidFill>
          <a:ln w="19050">
            <a:solidFill>
              <a:schemeClr val="accent3"/>
            </a:solidFill>
            <a:prstDash val="solid"/>
          </a:ln>
        </p:spPr>
      </p:sp>
      <p:sp>
        <p:nvSpPr>
          <p:cNvPr id="61" name="Shape 59"/>
          <p:cNvSpPr/>
          <p:nvPr/>
        </p:nvSpPr>
        <p:spPr>
          <a:xfrm>
            <a:off x="2606040" y="3520440"/>
            <a:ext cx="402336" cy="402336"/>
          </a:xfrm>
          <a:prstGeom prst="line">
            <a:avLst/>
          </a:prstGeom>
          <a:noFill/>
          <a:ln w="19050">
            <a:solidFill>
              <a:schemeClr val="accent3"/>
            </a:solidFill>
            <a:prstDash val="solid"/>
          </a:ln>
        </p:spPr>
      </p:sp>
      <p:sp>
        <p:nvSpPr>
          <p:cNvPr id="62" name="Shape 60"/>
          <p:cNvSpPr/>
          <p:nvPr/>
        </p:nvSpPr>
        <p:spPr>
          <a:xfrm flipV="1">
            <a:off x="2606040" y="3520440"/>
            <a:ext cx="402336" cy="402336"/>
          </a:xfrm>
          <a:prstGeom prst="line">
            <a:avLst/>
          </a:prstGeom>
          <a:noFill/>
          <a:ln w="19050">
            <a:solidFill>
              <a:schemeClr val="accent3"/>
            </a:solidFill>
            <a:prstDash val="solid"/>
          </a:ln>
        </p:spPr>
      </p:sp>
      <p:sp>
        <p:nvSpPr>
          <p:cNvPr id="63" name="Shape 61"/>
          <p:cNvSpPr/>
          <p:nvPr/>
        </p:nvSpPr>
        <p:spPr>
          <a:xfrm>
            <a:off x="3218688" y="3364992"/>
            <a:ext cx="713232" cy="713232"/>
          </a:xfrm>
          <a:prstGeom prst="roundRect">
            <a:avLst>
              <a:gd name="adj" fmla="val 8974"/>
            </a:avLst>
          </a:prstGeom>
          <a:solidFill>
            <a:schemeClr val="accent4">
              <a:alpha val="22000"/>
            </a:schemeClr>
          </a:solidFill>
          <a:ln w="19050">
            <a:solidFill>
              <a:schemeClr val="accent4"/>
            </a:solidFill>
            <a:prstDash val="solid"/>
          </a:ln>
        </p:spPr>
      </p:sp>
      <p:sp>
        <p:nvSpPr>
          <p:cNvPr id="64" name="Text 62"/>
          <p:cNvSpPr txBox="1"/>
          <p:nvPr/>
        </p:nvSpPr>
        <p:spPr>
          <a:xfrm>
            <a:off x="3218688" y="3364992"/>
            <a:ext cx="713232" cy="713232"/>
          </a:xfrm>
          <a:prstGeom prst="rect">
            <a:avLst/>
          </a:prstGeom>
          <a:noFill/>
          <a:ln/>
        </p:spPr>
        <p:txBody>
          <a:bodyPr wrap="square" lIns="0" tIns="0" rIns="0" bIns="0" rtlCol="0" anchor="ctr"/>
          <a:lstStyle/>
          <a:p>
            <a:pPr marL="0" indent="0" algn="ctr">
              <a:buNone/>
            </a:pPr>
            <a:r>
              <a:rPr lang="en-US" sz="2000" b="1" dirty="0">
                <a:solidFill>
                  <a:schemeClr val="accent4"/>
                </a:solidFill>
              </a:rPr>
              <a:t>9</a:t>
            </a:r>
            <a:endParaRPr lang="en-US" sz="2000" dirty="0"/>
          </a:p>
          <a:p>
            <a:pPr marL="0" indent="0" algn="ctr">
              <a:buNone/>
            </a:pPr>
            <a:r>
              <a:rPr lang="en-US" sz="900" dirty="0">
                <a:solidFill>
                  <a:schemeClr val="accent4"/>
                </a:solidFill>
                <a:latin typeface="Consolas" pitchFamily="34" charset="0"/>
                <a:ea typeface="Consolas" pitchFamily="34" charset="-122"/>
                <a:cs typeface="Consolas" pitchFamily="34" charset="-120"/>
              </a:rPr>
              <a:t>7+2</a:t>
            </a:r>
            <a:endParaRPr lang="en-US" sz="2000" dirty="0"/>
          </a:p>
        </p:txBody>
      </p:sp>
      <p:sp>
        <p:nvSpPr>
          <p:cNvPr id="65" name="Text 63"/>
          <p:cNvSpPr txBox="1"/>
          <p:nvPr/>
        </p:nvSpPr>
        <p:spPr>
          <a:xfrm>
            <a:off x="3712464" y="3877056"/>
            <a:ext cx="182880" cy="182880"/>
          </a:xfrm>
          <a:prstGeom prst="rect">
            <a:avLst/>
          </a:prstGeom>
          <a:noFill/>
          <a:ln/>
        </p:spPr>
        <p:txBody>
          <a:bodyPr wrap="square" lIns="0" tIns="0" rIns="0" bIns="0" rtlCol="0" anchor="t"/>
          <a:lstStyle/>
          <a:p>
            <a:pPr marL="0" indent="0" algn="r">
              <a:buNone/>
            </a:pPr>
            <a:r>
              <a:rPr lang="en-US" sz="1000" dirty="0">
                <a:solidFill>
                  <a:schemeClr val="tx2"/>
                </a:solidFill>
                <a:latin typeface="Consolas" pitchFamily="34" charset="0"/>
                <a:ea typeface="Consolas" pitchFamily="34" charset="-122"/>
                <a:cs typeface="Consolas" pitchFamily="34" charset="-120"/>
              </a:rPr>
              <a:t>↑</a:t>
            </a:r>
            <a:endParaRPr lang="en-US" sz="1000" dirty="0"/>
          </a:p>
        </p:txBody>
      </p:sp>
      <p:sp>
        <p:nvSpPr>
          <p:cNvPr id="66" name="Shape 64"/>
          <p:cNvSpPr/>
          <p:nvPr/>
        </p:nvSpPr>
        <p:spPr>
          <a:xfrm>
            <a:off x="3986784" y="3364992"/>
            <a:ext cx="713232" cy="713232"/>
          </a:xfrm>
          <a:prstGeom prst="roundRect">
            <a:avLst>
              <a:gd name="adj" fmla="val 8974"/>
            </a:avLst>
          </a:prstGeom>
          <a:solidFill>
            <a:schemeClr val="accent4">
              <a:alpha val="22000"/>
            </a:schemeClr>
          </a:solidFill>
          <a:ln w="19050">
            <a:solidFill>
              <a:schemeClr val="accent4"/>
            </a:solidFill>
            <a:prstDash val="solid"/>
          </a:ln>
        </p:spPr>
      </p:sp>
      <p:sp>
        <p:nvSpPr>
          <p:cNvPr id="67" name="Text 65"/>
          <p:cNvSpPr txBox="1"/>
          <p:nvPr/>
        </p:nvSpPr>
        <p:spPr>
          <a:xfrm>
            <a:off x="3986784" y="3364992"/>
            <a:ext cx="713232" cy="713232"/>
          </a:xfrm>
          <a:prstGeom prst="rect">
            <a:avLst/>
          </a:prstGeom>
          <a:noFill/>
          <a:ln/>
        </p:spPr>
        <p:txBody>
          <a:bodyPr wrap="square" lIns="0" tIns="0" rIns="0" bIns="0" rtlCol="0" anchor="ctr"/>
          <a:lstStyle/>
          <a:p>
            <a:pPr marL="0" indent="0" algn="ctr">
              <a:buNone/>
            </a:pPr>
            <a:r>
              <a:rPr lang="en-US" sz="2000" b="1" dirty="0">
                <a:solidFill>
                  <a:schemeClr val="accent4"/>
                </a:solidFill>
              </a:rPr>
              <a:t>9</a:t>
            </a:r>
            <a:endParaRPr lang="en-US" sz="2000" dirty="0"/>
          </a:p>
          <a:p>
            <a:pPr marL="0" indent="0" algn="ctr">
              <a:buNone/>
            </a:pPr>
            <a:r>
              <a:rPr lang="en-US" sz="900" dirty="0">
                <a:solidFill>
                  <a:schemeClr val="accent4"/>
                </a:solidFill>
                <a:latin typeface="Consolas" pitchFamily="34" charset="0"/>
                <a:ea typeface="Consolas" pitchFamily="34" charset="-122"/>
                <a:cs typeface="Consolas" pitchFamily="34" charset="-120"/>
              </a:rPr>
              <a:t>8+1</a:t>
            </a:r>
            <a:endParaRPr lang="en-US" sz="2000" dirty="0"/>
          </a:p>
        </p:txBody>
      </p:sp>
      <p:sp>
        <p:nvSpPr>
          <p:cNvPr id="68" name="Text 66"/>
          <p:cNvSpPr txBox="1"/>
          <p:nvPr/>
        </p:nvSpPr>
        <p:spPr>
          <a:xfrm>
            <a:off x="4480560" y="3877056"/>
            <a:ext cx="182880" cy="182880"/>
          </a:xfrm>
          <a:prstGeom prst="rect">
            <a:avLst/>
          </a:prstGeom>
          <a:noFill/>
          <a:ln/>
        </p:spPr>
        <p:txBody>
          <a:bodyPr wrap="square" lIns="0" tIns="0" rIns="0" bIns="0" rtlCol="0" anchor="t"/>
          <a:lstStyle/>
          <a:p>
            <a:pPr marL="0" indent="0" algn="r">
              <a:buNone/>
            </a:pPr>
            <a:r>
              <a:rPr lang="en-US" sz="1000" dirty="0">
                <a:solidFill>
                  <a:schemeClr val="tx2"/>
                </a:solidFill>
                <a:latin typeface="Consolas" pitchFamily="34" charset="0"/>
                <a:ea typeface="Consolas" pitchFamily="34" charset="-122"/>
                <a:cs typeface="Consolas" pitchFamily="34" charset="-120"/>
              </a:rPr>
              <a:t>→</a:t>
            </a:r>
            <a:endParaRPr lang="en-US" sz="1000" dirty="0"/>
          </a:p>
        </p:txBody>
      </p:sp>
      <p:sp>
        <p:nvSpPr>
          <p:cNvPr id="69" name="Shape 67"/>
          <p:cNvSpPr/>
          <p:nvPr/>
        </p:nvSpPr>
        <p:spPr>
          <a:xfrm>
            <a:off x="4754880" y="3364992"/>
            <a:ext cx="713232" cy="713232"/>
          </a:xfrm>
          <a:prstGeom prst="roundRect">
            <a:avLst>
              <a:gd name="adj" fmla="val 8974"/>
            </a:avLst>
          </a:prstGeom>
          <a:solidFill>
            <a:schemeClr val="accent4">
              <a:alpha val="22000"/>
            </a:schemeClr>
          </a:solidFill>
          <a:ln w="19050">
            <a:solidFill>
              <a:schemeClr val="accent4"/>
            </a:solidFill>
            <a:prstDash val="solid"/>
          </a:ln>
        </p:spPr>
      </p:sp>
      <p:sp>
        <p:nvSpPr>
          <p:cNvPr id="70" name="Text 68"/>
          <p:cNvSpPr txBox="1"/>
          <p:nvPr/>
        </p:nvSpPr>
        <p:spPr>
          <a:xfrm>
            <a:off x="4754880" y="3364992"/>
            <a:ext cx="713232" cy="713232"/>
          </a:xfrm>
          <a:prstGeom prst="rect">
            <a:avLst/>
          </a:prstGeom>
          <a:noFill/>
          <a:ln/>
        </p:spPr>
        <p:txBody>
          <a:bodyPr wrap="square" lIns="0" tIns="0" rIns="0" bIns="0" rtlCol="0" anchor="ctr"/>
          <a:lstStyle/>
          <a:p>
            <a:pPr marL="0" indent="0" algn="ctr">
              <a:buNone/>
            </a:pPr>
            <a:r>
              <a:rPr lang="en-US" sz="2000" b="1" dirty="0">
                <a:solidFill>
                  <a:schemeClr val="accent4"/>
                </a:solidFill>
              </a:rPr>
              <a:t>9</a:t>
            </a:r>
            <a:endParaRPr lang="en-US" sz="2000" dirty="0"/>
          </a:p>
          <a:p>
            <a:pPr marL="0" indent="0" algn="ctr">
              <a:buNone/>
            </a:pPr>
            <a:r>
              <a:rPr lang="en-US" sz="900" dirty="0">
                <a:solidFill>
                  <a:schemeClr val="accent4"/>
                </a:solidFill>
                <a:latin typeface="Consolas" pitchFamily="34" charset="0"/>
                <a:ea typeface="Consolas" pitchFamily="34" charset="-122"/>
                <a:cs typeface="Consolas" pitchFamily="34" charset="-120"/>
              </a:rPr>
              <a:t>9+0</a:t>
            </a:r>
            <a:endParaRPr lang="en-US" sz="2000" dirty="0"/>
          </a:p>
        </p:txBody>
      </p:sp>
      <p:sp>
        <p:nvSpPr>
          <p:cNvPr id="71" name="Text 69"/>
          <p:cNvSpPr txBox="1"/>
          <p:nvPr/>
        </p:nvSpPr>
        <p:spPr>
          <a:xfrm>
            <a:off x="5248656" y="3877056"/>
            <a:ext cx="182880" cy="182880"/>
          </a:xfrm>
          <a:prstGeom prst="rect">
            <a:avLst/>
          </a:prstGeom>
          <a:noFill/>
          <a:ln/>
        </p:spPr>
        <p:txBody>
          <a:bodyPr wrap="square" lIns="0" tIns="0" rIns="0" bIns="0" rtlCol="0" anchor="t"/>
          <a:lstStyle/>
          <a:p>
            <a:pPr marL="0" indent="0" algn="r">
              <a:buNone/>
            </a:pPr>
            <a:r>
              <a:rPr lang="en-US" sz="1000" dirty="0">
                <a:solidFill>
                  <a:schemeClr val="tx2"/>
                </a:solidFill>
                <a:latin typeface="Consolas" pitchFamily="34" charset="0"/>
                <a:ea typeface="Consolas" pitchFamily="34" charset="-122"/>
                <a:cs typeface="Consolas" pitchFamily="34" charset="-120"/>
              </a:rPr>
              <a:t>→</a:t>
            </a:r>
            <a:endParaRPr lang="en-US" sz="1000" dirty="0"/>
          </a:p>
        </p:txBody>
      </p:sp>
      <p:sp>
        <p:nvSpPr>
          <p:cNvPr id="72" name="Text 70"/>
          <p:cNvSpPr txBox="1"/>
          <p:nvPr/>
        </p:nvSpPr>
        <p:spPr>
          <a:xfrm>
            <a:off x="5230368" y="3401568"/>
            <a:ext cx="182880" cy="182880"/>
          </a:xfrm>
          <a:prstGeom prst="rect">
            <a:avLst/>
          </a:prstGeom>
          <a:noFill/>
          <a:ln/>
        </p:spPr>
        <p:txBody>
          <a:bodyPr wrap="square" lIns="0" tIns="0" rIns="0" bIns="0" rtlCol="0" anchor="t"/>
          <a:lstStyle/>
          <a:p>
            <a:pPr marL="0" indent="0" algn="r">
              <a:buNone/>
            </a:pPr>
            <a:r>
              <a:rPr lang="en-US" sz="1000" b="1" dirty="0">
                <a:solidFill>
                  <a:schemeClr val="accent2"/>
                </a:solidFill>
                <a:latin typeface="Consolas" pitchFamily="34" charset="0"/>
                <a:ea typeface="Consolas" pitchFamily="34" charset="-122"/>
                <a:cs typeface="Consolas" pitchFamily="34" charset="-120"/>
              </a:rPr>
              <a:t>G</a:t>
            </a:r>
            <a:endParaRPr lang="en-US" sz="1000" dirty="0"/>
          </a:p>
        </p:txBody>
      </p:sp>
      <p:sp>
        <p:nvSpPr>
          <p:cNvPr id="73" name="Shape 71"/>
          <p:cNvSpPr/>
          <p:nvPr/>
        </p:nvSpPr>
        <p:spPr>
          <a:xfrm>
            <a:off x="914400" y="4133088"/>
            <a:ext cx="713232" cy="713232"/>
          </a:xfrm>
          <a:prstGeom prst="roundRect">
            <a:avLst>
              <a:gd name="adj" fmla="val 8974"/>
            </a:avLst>
          </a:prstGeom>
          <a:solidFill>
            <a:schemeClr val="accent6"/>
          </a:solidFill>
          <a:ln w="12700">
            <a:solidFill>
              <a:schemeClr val="accent5"/>
            </a:solidFill>
            <a:prstDash val="solid"/>
          </a:ln>
        </p:spPr>
      </p:sp>
      <p:sp>
        <p:nvSpPr>
          <p:cNvPr id="74" name="Text 72"/>
          <p:cNvSpPr txBox="1"/>
          <p:nvPr/>
        </p:nvSpPr>
        <p:spPr>
          <a:xfrm>
            <a:off x="914400" y="4133088"/>
            <a:ext cx="713232" cy="713232"/>
          </a:xfrm>
          <a:prstGeom prst="rect">
            <a:avLst/>
          </a:prstGeom>
          <a:noFill/>
          <a:ln/>
        </p:spPr>
        <p:txBody>
          <a:bodyPr wrap="square" lIns="0" tIns="0" rIns="0" bIns="0" rtlCol="0" anchor="ctr"/>
          <a:lstStyle/>
          <a:p>
            <a:pPr marL="0" indent="0" algn="ctr">
              <a:buNone/>
            </a:pPr>
            <a:r>
              <a:rPr lang="en-US" sz="2000" b="1" dirty="0">
                <a:solidFill>
                  <a:schemeClr val="tx1"/>
                </a:solidFill>
              </a:rPr>
              <a:t>7</a:t>
            </a:r>
            <a:endParaRPr lang="en-US" sz="2000" dirty="0"/>
          </a:p>
          <a:p>
            <a:pPr marL="0" indent="0" algn="ctr">
              <a:buNone/>
            </a:pPr>
            <a:r>
              <a:rPr lang="en-US" sz="900" dirty="0">
                <a:solidFill>
                  <a:schemeClr val="tx2"/>
                </a:solidFill>
                <a:latin typeface="Consolas" pitchFamily="34" charset="0"/>
                <a:ea typeface="Consolas" pitchFamily="34" charset="-122"/>
                <a:cs typeface="Consolas" pitchFamily="34" charset="-120"/>
              </a:rPr>
              <a:t>1+6</a:t>
            </a:r>
            <a:endParaRPr lang="en-US" sz="2000" dirty="0"/>
          </a:p>
        </p:txBody>
      </p:sp>
      <p:sp>
        <p:nvSpPr>
          <p:cNvPr id="75" name="Text 73"/>
          <p:cNvSpPr txBox="1"/>
          <p:nvPr/>
        </p:nvSpPr>
        <p:spPr>
          <a:xfrm>
            <a:off x="1408176" y="4645152"/>
            <a:ext cx="182880" cy="182880"/>
          </a:xfrm>
          <a:prstGeom prst="rect">
            <a:avLst/>
          </a:prstGeom>
          <a:noFill/>
          <a:ln/>
        </p:spPr>
        <p:txBody>
          <a:bodyPr wrap="square" lIns="0" tIns="0" rIns="0" bIns="0" rtlCol="0" anchor="t"/>
          <a:lstStyle/>
          <a:p>
            <a:pPr marL="0" indent="0" algn="r">
              <a:buNone/>
            </a:pPr>
            <a:r>
              <a:rPr lang="en-US" sz="1000" dirty="0">
                <a:solidFill>
                  <a:schemeClr val="tx2"/>
                </a:solidFill>
                <a:latin typeface="Consolas" pitchFamily="34" charset="0"/>
                <a:ea typeface="Consolas" pitchFamily="34" charset="-122"/>
                <a:cs typeface="Consolas" pitchFamily="34" charset="-120"/>
              </a:rPr>
              <a:t>↓</a:t>
            </a:r>
            <a:endParaRPr lang="en-US" sz="1000" dirty="0"/>
          </a:p>
        </p:txBody>
      </p:sp>
      <p:sp>
        <p:nvSpPr>
          <p:cNvPr id="76" name="Shape 74"/>
          <p:cNvSpPr/>
          <p:nvPr/>
        </p:nvSpPr>
        <p:spPr>
          <a:xfrm>
            <a:off x="1682496" y="4133088"/>
            <a:ext cx="713232" cy="713232"/>
          </a:xfrm>
          <a:prstGeom prst="roundRect">
            <a:avLst>
              <a:gd name="adj" fmla="val 8974"/>
            </a:avLst>
          </a:prstGeom>
          <a:solidFill>
            <a:schemeClr val="accent4">
              <a:alpha val="22000"/>
            </a:schemeClr>
          </a:solidFill>
          <a:ln w="19050">
            <a:solidFill>
              <a:schemeClr val="accent4"/>
            </a:solidFill>
            <a:prstDash val="solid"/>
          </a:ln>
        </p:spPr>
      </p:sp>
      <p:sp>
        <p:nvSpPr>
          <p:cNvPr id="77" name="Text 75"/>
          <p:cNvSpPr txBox="1"/>
          <p:nvPr/>
        </p:nvSpPr>
        <p:spPr>
          <a:xfrm>
            <a:off x="1682496" y="4133088"/>
            <a:ext cx="713232" cy="713232"/>
          </a:xfrm>
          <a:prstGeom prst="rect">
            <a:avLst/>
          </a:prstGeom>
          <a:noFill/>
          <a:ln/>
        </p:spPr>
        <p:txBody>
          <a:bodyPr wrap="square" lIns="0" tIns="0" rIns="0" bIns="0" rtlCol="0" anchor="ctr"/>
          <a:lstStyle/>
          <a:p>
            <a:pPr marL="0" indent="0" algn="ctr">
              <a:buNone/>
            </a:pPr>
            <a:r>
              <a:rPr lang="en-US" sz="2000" b="1" dirty="0">
                <a:solidFill>
                  <a:schemeClr val="accent4"/>
                </a:solidFill>
              </a:rPr>
              <a:t>7</a:t>
            </a:r>
            <a:endParaRPr lang="en-US" sz="2000" dirty="0"/>
          </a:p>
          <a:p>
            <a:pPr marL="0" indent="0" algn="ctr">
              <a:buNone/>
            </a:pPr>
            <a:r>
              <a:rPr lang="en-US" sz="900" dirty="0">
                <a:solidFill>
                  <a:schemeClr val="accent4"/>
                </a:solidFill>
                <a:latin typeface="Consolas" pitchFamily="34" charset="0"/>
                <a:ea typeface="Consolas" pitchFamily="34" charset="-122"/>
                <a:cs typeface="Consolas" pitchFamily="34" charset="-120"/>
              </a:rPr>
              <a:t>2+5</a:t>
            </a:r>
            <a:endParaRPr lang="en-US" sz="2000" dirty="0"/>
          </a:p>
        </p:txBody>
      </p:sp>
      <p:sp>
        <p:nvSpPr>
          <p:cNvPr id="78" name="Text 76"/>
          <p:cNvSpPr txBox="1"/>
          <p:nvPr/>
        </p:nvSpPr>
        <p:spPr>
          <a:xfrm>
            <a:off x="2176272" y="4645152"/>
            <a:ext cx="182880" cy="182880"/>
          </a:xfrm>
          <a:prstGeom prst="rect">
            <a:avLst/>
          </a:prstGeom>
          <a:noFill/>
          <a:ln/>
        </p:spPr>
        <p:txBody>
          <a:bodyPr wrap="square" lIns="0" tIns="0" rIns="0" bIns="0" rtlCol="0" anchor="t"/>
          <a:lstStyle/>
          <a:p>
            <a:pPr marL="0" indent="0" algn="r">
              <a:buNone/>
            </a:pPr>
            <a:r>
              <a:rPr lang="en-US" sz="1000" dirty="0">
                <a:solidFill>
                  <a:schemeClr val="tx2"/>
                </a:solidFill>
                <a:latin typeface="Consolas" pitchFamily="34" charset="0"/>
                <a:ea typeface="Consolas" pitchFamily="34" charset="-122"/>
                <a:cs typeface="Consolas" pitchFamily="34" charset="-120"/>
              </a:rPr>
              <a:t>↓</a:t>
            </a:r>
            <a:endParaRPr lang="en-US" sz="1000" dirty="0"/>
          </a:p>
        </p:txBody>
      </p:sp>
      <p:sp>
        <p:nvSpPr>
          <p:cNvPr id="79" name="Shape 77"/>
          <p:cNvSpPr/>
          <p:nvPr/>
        </p:nvSpPr>
        <p:spPr>
          <a:xfrm>
            <a:off x="2450592" y="4133088"/>
            <a:ext cx="713232" cy="713232"/>
          </a:xfrm>
          <a:prstGeom prst="roundRect">
            <a:avLst>
              <a:gd name="adj" fmla="val 8974"/>
            </a:avLst>
          </a:prstGeom>
          <a:solidFill>
            <a:schemeClr val="accent3">
              <a:alpha val="14000"/>
            </a:schemeClr>
          </a:solidFill>
          <a:ln w="19050">
            <a:solidFill>
              <a:schemeClr val="accent3"/>
            </a:solidFill>
            <a:prstDash val="solid"/>
          </a:ln>
        </p:spPr>
      </p:sp>
      <p:sp>
        <p:nvSpPr>
          <p:cNvPr id="80" name="Shape 78"/>
          <p:cNvSpPr/>
          <p:nvPr/>
        </p:nvSpPr>
        <p:spPr>
          <a:xfrm>
            <a:off x="2606040" y="4288536"/>
            <a:ext cx="402336" cy="402336"/>
          </a:xfrm>
          <a:prstGeom prst="line">
            <a:avLst/>
          </a:prstGeom>
          <a:noFill/>
          <a:ln w="19050">
            <a:solidFill>
              <a:schemeClr val="accent3"/>
            </a:solidFill>
            <a:prstDash val="solid"/>
          </a:ln>
        </p:spPr>
      </p:sp>
      <p:sp>
        <p:nvSpPr>
          <p:cNvPr id="81" name="Shape 79"/>
          <p:cNvSpPr/>
          <p:nvPr/>
        </p:nvSpPr>
        <p:spPr>
          <a:xfrm flipV="1">
            <a:off x="2606040" y="4288536"/>
            <a:ext cx="402336" cy="402336"/>
          </a:xfrm>
          <a:prstGeom prst="line">
            <a:avLst/>
          </a:prstGeom>
          <a:noFill/>
          <a:ln w="19050">
            <a:solidFill>
              <a:schemeClr val="accent3"/>
            </a:solidFill>
            <a:prstDash val="solid"/>
          </a:ln>
        </p:spPr>
      </p:sp>
      <p:sp>
        <p:nvSpPr>
          <p:cNvPr id="82" name="Shape 80"/>
          <p:cNvSpPr/>
          <p:nvPr/>
        </p:nvSpPr>
        <p:spPr>
          <a:xfrm>
            <a:off x="3218688" y="4133088"/>
            <a:ext cx="713232" cy="713232"/>
          </a:xfrm>
          <a:prstGeom prst="roundRect">
            <a:avLst>
              <a:gd name="adj" fmla="val 8974"/>
            </a:avLst>
          </a:prstGeom>
          <a:solidFill>
            <a:schemeClr val="accent4">
              <a:alpha val="22000"/>
            </a:schemeClr>
          </a:solidFill>
          <a:ln w="19050">
            <a:solidFill>
              <a:schemeClr val="accent4"/>
            </a:solidFill>
            <a:prstDash val="solid"/>
          </a:ln>
        </p:spPr>
      </p:sp>
      <p:sp>
        <p:nvSpPr>
          <p:cNvPr id="83" name="Text 81"/>
          <p:cNvSpPr txBox="1"/>
          <p:nvPr/>
        </p:nvSpPr>
        <p:spPr>
          <a:xfrm>
            <a:off x="3218688" y="4133088"/>
            <a:ext cx="713232" cy="713232"/>
          </a:xfrm>
          <a:prstGeom prst="rect">
            <a:avLst/>
          </a:prstGeom>
          <a:noFill/>
          <a:ln/>
        </p:spPr>
        <p:txBody>
          <a:bodyPr wrap="square" lIns="0" tIns="0" rIns="0" bIns="0" rtlCol="0" anchor="ctr"/>
          <a:lstStyle/>
          <a:p>
            <a:pPr marL="0" indent="0" algn="ctr">
              <a:buNone/>
            </a:pPr>
            <a:r>
              <a:rPr lang="en-US" sz="2000" b="1" dirty="0">
                <a:solidFill>
                  <a:schemeClr val="accent4"/>
                </a:solidFill>
              </a:rPr>
              <a:t>9</a:t>
            </a:r>
            <a:endParaRPr lang="en-US" sz="2000" dirty="0"/>
          </a:p>
          <a:p>
            <a:pPr marL="0" indent="0" algn="ctr">
              <a:buNone/>
            </a:pPr>
            <a:r>
              <a:rPr lang="en-US" sz="900" dirty="0">
                <a:solidFill>
                  <a:schemeClr val="accent4"/>
                </a:solidFill>
                <a:latin typeface="Consolas" pitchFamily="34" charset="0"/>
                <a:ea typeface="Consolas" pitchFamily="34" charset="-122"/>
                <a:cs typeface="Consolas" pitchFamily="34" charset="-120"/>
              </a:rPr>
              <a:t>6+3</a:t>
            </a:r>
            <a:endParaRPr lang="en-US" sz="2000" dirty="0"/>
          </a:p>
        </p:txBody>
      </p:sp>
      <p:sp>
        <p:nvSpPr>
          <p:cNvPr id="84" name="Text 82"/>
          <p:cNvSpPr txBox="1"/>
          <p:nvPr/>
        </p:nvSpPr>
        <p:spPr>
          <a:xfrm>
            <a:off x="3712464" y="4645152"/>
            <a:ext cx="182880" cy="182880"/>
          </a:xfrm>
          <a:prstGeom prst="rect">
            <a:avLst/>
          </a:prstGeom>
          <a:noFill/>
          <a:ln/>
        </p:spPr>
        <p:txBody>
          <a:bodyPr wrap="square" lIns="0" tIns="0" rIns="0" bIns="0" rtlCol="0" anchor="t"/>
          <a:lstStyle/>
          <a:p>
            <a:pPr marL="0" indent="0" algn="r">
              <a:buNone/>
            </a:pPr>
            <a:r>
              <a:rPr lang="en-US" sz="1000" dirty="0">
                <a:solidFill>
                  <a:schemeClr val="tx2"/>
                </a:solidFill>
                <a:latin typeface="Consolas" pitchFamily="34" charset="0"/>
                <a:ea typeface="Consolas" pitchFamily="34" charset="-122"/>
                <a:cs typeface="Consolas" pitchFamily="34" charset="-120"/>
              </a:rPr>
              <a:t>↑</a:t>
            </a:r>
            <a:endParaRPr lang="en-US" sz="1000" dirty="0"/>
          </a:p>
        </p:txBody>
      </p:sp>
      <p:sp>
        <p:nvSpPr>
          <p:cNvPr id="85" name="Shape 83"/>
          <p:cNvSpPr/>
          <p:nvPr/>
        </p:nvSpPr>
        <p:spPr>
          <a:xfrm>
            <a:off x="3986784" y="4133088"/>
            <a:ext cx="713232" cy="713232"/>
          </a:xfrm>
          <a:prstGeom prst="roundRect">
            <a:avLst>
              <a:gd name="adj" fmla="val 8974"/>
            </a:avLst>
          </a:prstGeom>
          <a:solidFill>
            <a:schemeClr val="accent2">
              <a:alpha val="12000"/>
            </a:schemeClr>
          </a:solidFill>
          <a:ln w="19050">
            <a:solidFill>
              <a:schemeClr val="accent2"/>
            </a:solidFill>
            <a:prstDash val="solid"/>
          </a:ln>
        </p:spPr>
      </p:sp>
      <p:sp>
        <p:nvSpPr>
          <p:cNvPr id="86" name="Text 84"/>
          <p:cNvSpPr txBox="1"/>
          <p:nvPr/>
        </p:nvSpPr>
        <p:spPr>
          <a:xfrm>
            <a:off x="3986784" y="4133088"/>
            <a:ext cx="713232" cy="713232"/>
          </a:xfrm>
          <a:prstGeom prst="rect">
            <a:avLst/>
          </a:prstGeom>
          <a:noFill/>
          <a:ln/>
        </p:spPr>
        <p:txBody>
          <a:bodyPr wrap="square" lIns="0" tIns="0" rIns="0" bIns="0" rtlCol="0" anchor="ctr"/>
          <a:lstStyle/>
          <a:p>
            <a:pPr marL="0" indent="0" algn="ctr">
              <a:buNone/>
            </a:pPr>
            <a:r>
              <a:rPr lang="en-US" sz="2000" b="1" dirty="0">
                <a:solidFill>
                  <a:schemeClr val="accent2"/>
                </a:solidFill>
              </a:rPr>
              <a:t>9</a:t>
            </a:r>
            <a:endParaRPr lang="en-US" sz="2000" dirty="0"/>
          </a:p>
          <a:p>
            <a:pPr marL="0" indent="0" algn="ctr">
              <a:buNone/>
            </a:pPr>
            <a:r>
              <a:rPr lang="en-US" sz="900" dirty="0">
                <a:solidFill>
                  <a:schemeClr val="accent2"/>
                </a:solidFill>
                <a:latin typeface="Consolas" pitchFamily="34" charset="0"/>
                <a:ea typeface="Consolas" pitchFamily="34" charset="-122"/>
                <a:cs typeface="Consolas" pitchFamily="34" charset="-120"/>
              </a:rPr>
              <a:t>7+2</a:t>
            </a:r>
            <a:endParaRPr lang="en-US" sz="2000" dirty="0"/>
          </a:p>
        </p:txBody>
      </p:sp>
      <p:sp>
        <p:nvSpPr>
          <p:cNvPr id="87" name="Text 85"/>
          <p:cNvSpPr txBox="1"/>
          <p:nvPr/>
        </p:nvSpPr>
        <p:spPr>
          <a:xfrm>
            <a:off x="4480560" y="4645152"/>
            <a:ext cx="182880" cy="182880"/>
          </a:xfrm>
          <a:prstGeom prst="rect">
            <a:avLst/>
          </a:prstGeom>
          <a:noFill/>
          <a:ln/>
        </p:spPr>
        <p:txBody>
          <a:bodyPr wrap="square" lIns="0" tIns="0" rIns="0" bIns="0" rtlCol="0" anchor="t"/>
          <a:lstStyle/>
          <a:p>
            <a:pPr marL="0" indent="0" algn="r">
              <a:buNone/>
            </a:pPr>
            <a:r>
              <a:rPr lang="en-US" sz="1000" dirty="0">
                <a:solidFill>
                  <a:schemeClr val="tx2"/>
                </a:solidFill>
                <a:latin typeface="Consolas" pitchFamily="34" charset="0"/>
                <a:ea typeface="Consolas" pitchFamily="34" charset="-122"/>
                <a:cs typeface="Consolas" pitchFamily="34" charset="-120"/>
              </a:rPr>
              <a:t>→</a:t>
            </a:r>
            <a:endParaRPr lang="en-US" sz="1000" dirty="0"/>
          </a:p>
        </p:txBody>
      </p:sp>
      <p:sp>
        <p:nvSpPr>
          <p:cNvPr id="88" name="Shape 86"/>
          <p:cNvSpPr/>
          <p:nvPr/>
        </p:nvSpPr>
        <p:spPr>
          <a:xfrm>
            <a:off x="4754880" y="4133088"/>
            <a:ext cx="713232" cy="713232"/>
          </a:xfrm>
          <a:prstGeom prst="roundRect">
            <a:avLst>
              <a:gd name="adj" fmla="val 8974"/>
            </a:avLst>
          </a:prstGeom>
          <a:solidFill>
            <a:schemeClr val="bg2"/>
          </a:solidFill>
          <a:ln w="12700">
            <a:solidFill>
              <a:schemeClr val="accent5"/>
            </a:solidFill>
            <a:prstDash val="solid"/>
          </a:ln>
        </p:spPr>
      </p:sp>
      <p:sp>
        <p:nvSpPr>
          <p:cNvPr id="89" name="Shape 87"/>
          <p:cNvSpPr/>
          <p:nvPr/>
        </p:nvSpPr>
        <p:spPr>
          <a:xfrm>
            <a:off x="914400" y="4901184"/>
            <a:ext cx="713232" cy="713232"/>
          </a:xfrm>
          <a:prstGeom prst="roundRect">
            <a:avLst>
              <a:gd name="adj" fmla="val 8974"/>
            </a:avLst>
          </a:prstGeom>
          <a:solidFill>
            <a:schemeClr val="accent2">
              <a:alpha val="12000"/>
            </a:schemeClr>
          </a:solidFill>
          <a:ln w="19050">
            <a:solidFill>
              <a:schemeClr val="accent2"/>
            </a:solidFill>
            <a:prstDash val="solid"/>
          </a:ln>
        </p:spPr>
      </p:sp>
      <p:sp>
        <p:nvSpPr>
          <p:cNvPr id="90" name="Text 88"/>
          <p:cNvSpPr txBox="1"/>
          <p:nvPr/>
        </p:nvSpPr>
        <p:spPr>
          <a:xfrm>
            <a:off x="914400" y="4901184"/>
            <a:ext cx="713232" cy="713232"/>
          </a:xfrm>
          <a:prstGeom prst="rect">
            <a:avLst/>
          </a:prstGeom>
          <a:noFill/>
          <a:ln/>
        </p:spPr>
        <p:txBody>
          <a:bodyPr wrap="square" lIns="0" tIns="0" rIns="0" bIns="0" rtlCol="0" anchor="ctr"/>
          <a:lstStyle/>
          <a:p>
            <a:pPr marL="0" indent="0" algn="ctr">
              <a:buNone/>
            </a:pPr>
            <a:r>
              <a:rPr lang="en-US" sz="2000" b="1" dirty="0">
                <a:solidFill>
                  <a:schemeClr val="accent2"/>
                </a:solidFill>
              </a:rPr>
              <a:t>9</a:t>
            </a:r>
            <a:endParaRPr lang="en-US" sz="2000" dirty="0"/>
          </a:p>
          <a:p>
            <a:pPr marL="0" indent="0" algn="ctr">
              <a:buNone/>
            </a:pPr>
            <a:r>
              <a:rPr lang="en-US" sz="900" dirty="0">
                <a:solidFill>
                  <a:schemeClr val="accent2"/>
                </a:solidFill>
                <a:latin typeface="Consolas" pitchFamily="34" charset="0"/>
                <a:ea typeface="Consolas" pitchFamily="34" charset="-122"/>
                <a:cs typeface="Consolas" pitchFamily="34" charset="-120"/>
              </a:rPr>
              <a:t>2+7</a:t>
            </a:r>
            <a:endParaRPr lang="en-US" sz="2000" dirty="0"/>
          </a:p>
        </p:txBody>
      </p:sp>
      <p:sp>
        <p:nvSpPr>
          <p:cNvPr id="91" name="Text 89"/>
          <p:cNvSpPr txBox="1"/>
          <p:nvPr/>
        </p:nvSpPr>
        <p:spPr>
          <a:xfrm>
            <a:off x="1408176" y="5413248"/>
            <a:ext cx="182880" cy="182880"/>
          </a:xfrm>
          <a:prstGeom prst="rect">
            <a:avLst/>
          </a:prstGeom>
          <a:noFill/>
          <a:ln/>
        </p:spPr>
        <p:txBody>
          <a:bodyPr wrap="square" lIns="0" tIns="0" rIns="0" bIns="0" rtlCol="0" anchor="t"/>
          <a:lstStyle/>
          <a:p>
            <a:pPr marL="0" indent="0" algn="r">
              <a:buNone/>
            </a:pPr>
            <a:r>
              <a:rPr lang="en-US" sz="1000" dirty="0">
                <a:solidFill>
                  <a:schemeClr val="tx2"/>
                </a:solidFill>
                <a:latin typeface="Consolas" pitchFamily="34" charset="0"/>
                <a:ea typeface="Consolas" pitchFamily="34" charset="-122"/>
                <a:cs typeface="Consolas" pitchFamily="34" charset="-120"/>
              </a:rPr>
              <a:t>↓</a:t>
            </a:r>
            <a:endParaRPr lang="en-US" sz="1000" dirty="0"/>
          </a:p>
        </p:txBody>
      </p:sp>
      <p:sp>
        <p:nvSpPr>
          <p:cNvPr id="92" name="Shape 90"/>
          <p:cNvSpPr/>
          <p:nvPr/>
        </p:nvSpPr>
        <p:spPr>
          <a:xfrm>
            <a:off x="1682496" y="4901184"/>
            <a:ext cx="713232" cy="713232"/>
          </a:xfrm>
          <a:prstGeom prst="roundRect">
            <a:avLst>
              <a:gd name="adj" fmla="val 8974"/>
            </a:avLst>
          </a:prstGeom>
          <a:solidFill>
            <a:schemeClr val="accent4">
              <a:alpha val="22000"/>
            </a:schemeClr>
          </a:solidFill>
          <a:ln w="19050">
            <a:solidFill>
              <a:schemeClr val="accent4"/>
            </a:solidFill>
            <a:prstDash val="solid"/>
          </a:ln>
        </p:spPr>
      </p:sp>
      <p:sp>
        <p:nvSpPr>
          <p:cNvPr id="93" name="Text 91"/>
          <p:cNvSpPr txBox="1"/>
          <p:nvPr/>
        </p:nvSpPr>
        <p:spPr>
          <a:xfrm>
            <a:off x="1682496" y="4901184"/>
            <a:ext cx="713232" cy="713232"/>
          </a:xfrm>
          <a:prstGeom prst="rect">
            <a:avLst/>
          </a:prstGeom>
          <a:noFill/>
          <a:ln/>
        </p:spPr>
        <p:txBody>
          <a:bodyPr wrap="square" lIns="0" tIns="0" rIns="0" bIns="0" rtlCol="0" anchor="ctr"/>
          <a:lstStyle/>
          <a:p>
            <a:pPr marL="0" indent="0" algn="ctr">
              <a:buNone/>
            </a:pPr>
            <a:r>
              <a:rPr lang="en-US" sz="2000" b="1" dirty="0">
                <a:solidFill>
                  <a:schemeClr val="accent4"/>
                </a:solidFill>
              </a:rPr>
              <a:t>9</a:t>
            </a:r>
            <a:endParaRPr lang="en-US" sz="2000" dirty="0"/>
          </a:p>
          <a:p>
            <a:pPr marL="0" indent="0" algn="ctr">
              <a:buNone/>
            </a:pPr>
            <a:r>
              <a:rPr lang="en-US" sz="900" dirty="0">
                <a:solidFill>
                  <a:schemeClr val="accent4"/>
                </a:solidFill>
                <a:latin typeface="Consolas" pitchFamily="34" charset="0"/>
                <a:ea typeface="Consolas" pitchFamily="34" charset="-122"/>
                <a:cs typeface="Consolas" pitchFamily="34" charset="-120"/>
              </a:rPr>
              <a:t>3+6</a:t>
            </a:r>
            <a:endParaRPr lang="en-US" sz="2000" dirty="0"/>
          </a:p>
        </p:txBody>
      </p:sp>
      <p:sp>
        <p:nvSpPr>
          <p:cNvPr id="94" name="Text 92"/>
          <p:cNvSpPr txBox="1"/>
          <p:nvPr/>
        </p:nvSpPr>
        <p:spPr>
          <a:xfrm>
            <a:off x="2176272" y="5413248"/>
            <a:ext cx="182880" cy="182880"/>
          </a:xfrm>
          <a:prstGeom prst="rect">
            <a:avLst/>
          </a:prstGeom>
          <a:noFill/>
          <a:ln/>
        </p:spPr>
        <p:txBody>
          <a:bodyPr wrap="square" lIns="0" tIns="0" rIns="0" bIns="0" rtlCol="0" anchor="t"/>
          <a:lstStyle/>
          <a:p>
            <a:pPr marL="0" indent="0" algn="r">
              <a:buNone/>
            </a:pPr>
            <a:r>
              <a:rPr lang="en-US" sz="1000" dirty="0">
                <a:solidFill>
                  <a:schemeClr val="tx2"/>
                </a:solidFill>
                <a:latin typeface="Consolas" pitchFamily="34" charset="0"/>
                <a:ea typeface="Consolas" pitchFamily="34" charset="-122"/>
                <a:cs typeface="Consolas" pitchFamily="34" charset="-120"/>
              </a:rPr>
              <a:t>↓</a:t>
            </a:r>
            <a:endParaRPr lang="en-US" sz="1000" dirty="0"/>
          </a:p>
        </p:txBody>
      </p:sp>
      <p:sp>
        <p:nvSpPr>
          <p:cNvPr id="95" name="Shape 93"/>
          <p:cNvSpPr/>
          <p:nvPr/>
        </p:nvSpPr>
        <p:spPr>
          <a:xfrm>
            <a:off x="2450592" y="4901184"/>
            <a:ext cx="713232" cy="713232"/>
          </a:xfrm>
          <a:prstGeom prst="roundRect">
            <a:avLst>
              <a:gd name="adj" fmla="val 8974"/>
            </a:avLst>
          </a:prstGeom>
          <a:solidFill>
            <a:schemeClr val="accent4">
              <a:alpha val="22000"/>
            </a:schemeClr>
          </a:solidFill>
          <a:ln w="19050">
            <a:solidFill>
              <a:schemeClr val="accent4"/>
            </a:solidFill>
            <a:prstDash val="solid"/>
          </a:ln>
        </p:spPr>
      </p:sp>
      <p:sp>
        <p:nvSpPr>
          <p:cNvPr id="96" name="Text 94"/>
          <p:cNvSpPr txBox="1"/>
          <p:nvPr/>
        </p:nvSpPr>
        <p:spPr>
          <a:xfrm>
            <a:off x="2450592" y="4901184"/>
            <a:ext cx="713232" cy="713232"/>
          </a:xfrm>
          <a:prstGeom prst="rect">
            <a:avLst/>
          </a:prstGeom>
          <a:noFill/>
          <a:ln/>
        </p:spPr>
        <p:txBody>
          <a:bodyPr wrap="square" lIns="0" tIns="0" rIns="0" bIns="0" rtlCol="0" anchor="ctr"/>
          <a:lstStyle/>
          <a:p>
            <a:pPr marL="0" indent="0" algn="ctr">
              <a:buNone/>
            </a:pPr>
            <a:r>
              <a:rPr lang="en-US" sz="2000" b="1" dirty="0">
                <a:solidFill>
                  <a:schemeClr val="accent4"/>
                </a:solidFill>
              </a:rPr>
              <a:t>9</a:t>
            </a:r>
            <a:endParaRPr lang="en-US" sz="2000" dirty="0"/>
          </a:p>
          <a:p>
            <a:pPr marL="0" indent="0" algn="ctr">
              <a:buNone/>
            </a:pPr>
            <a:r>
              <a:rPr lang="en-US" sz="900" dirty="0">
                <a:solidFill>
                  <a:schemeClr val="accent4"/>
                </a:solidFill>
                <a:latin typeface="Consolas" pitchFamily="34" charset="0"/>
                <a:ea typeface="Consolas" pitchFamily="34" charset="-122"/>
                <a:cs typeface="Consolas" pitchFamily="34" charset="-120"/>
              </a:rPr>
              <a:t>4+5</a:t>
            </a:r>
            <a:endParaRPr lang="en-US" sz="2000" dirty="0"/>
          </a:p>
        </p:txBody>
      </p:sp>
      <p:sp>
        <p:nvSpPr>
          <p:cNvPr id="97" name="Text 95"/>
          <p:cNvSpPr txBox="1"/>
          <p:nvPr/>
        </p:nvSpPr>
        <p:spPr>
          <a:xfrm>
            <a:off x="2944368" y="5413248"/>
            <a:ext cx="182880" cy="182880"/>
          </a:xfrm>
          <a:prstGeom prst="rect">
            <a:avLst/>
          </a:prstGeom>
          <a:noFill/>
          <a:ln/>
        </p:spPr>
        <p:txBody>
          <a:bodyPr wrap="square" lIns="0" tIns="0" rIns="0" bIns="0" rtlCol="0" anchor="t"/>
          <a:lstStyle/>
          <a:p>
            <a:pPr marL="0" indent="0" algn="r">
              <a:buNone/>
            </a:pPr>
            <a:r>
              <a:rPr lang="en-US" sz="1000" dirty="0">
                <a:solidFill>
                  <a:schemeClr val="tx2"/>
                </a:solidFill>
                <a:latin typeface="Consolas" pitchFamily="34" charset="0"/>
                <a:ea typeface="Consolas" pitchFamily="34" charset="-122"/>
                <a:cs typeface="Consolas" pitchFamily="34" charset="-120"/>
              </a:rPr>
              <a:t>→</a:t>
            </a:r>
            <a:endParaRPr lang="en-US" sz="1000" dirty="0"/>
          </a:p>
        </p:txBody>
      </p:sp>
      <p:sp>
        <p:nvSpPr>
          <p:cNvPr id="98" name="Shape 96"/>
          <p:cNvSpPr/>
          <p:nvPr/>
        </p:nvSpPr>
        <p:spPr>
          <a:xfrm>
            <a:off x="3218688" y="4901184"/>
            <a:ext cx="713232" cy="713232"/>
          </a:xfrm>
          <a:prstGeom prst="roundRect">
            <a:avLst>
              <a:gd name="adj" fmla="val 8974"/>
            </a:avLst>
          </a:prstGeom>
          <a:solidFill>
            <a:schemeClr val="accent4">
              <a:alpha val="22000"/>
            </a:schemeClr>
          </a:solidFill>
          <a:ln w="19050">
            <a:solidFill>
              <a:schemeClr val="accent4"/>
            </a:solidFill>
            <a:prstDash val="solid"/>
          </a:ln>
        </p:spPr>
      </p:sp>
      <p:sp>
        <p:nvSpPr>
          <p:cNvPr id="99" name="Text 97"/>
          <p:cNvSpPr txBox="1"/>
          <p:nvPr/>
        </p:nvSpPr>
        <p:spPr>
          <a:xfrm>
            <a:off x="3218688" y="4901184"/>
            <a:ext cx="713232" cy="713232"/>
          </a:xfrm>
          <a:prstGeom prst="rect">
            <a:avLst/>
          </a:prstGeom>
          <a:noFill/>
          <a:ln/>
        </p:spPr>
        <p:txBody>
          <a:bodyPr wrap="square" lIns="0" tIns="0" rIns="0" bIns="0" rtlCol="0" anchor="ctr"/>
          <a:lstStyle/>
          <a:p>
            <a:pPr marL="0" indent="0" algn="ctr">
              <a:buNone/>
            </a:pPr>
            <a:r>
              <a:rPr lang="en-US" sz="2000" b="1" dirty="0">
                <a:solidFill>
                  <a:schemeClr val="accent4"/>
                </a:solidFill>
              </a:rPr>
              <a:t>9</a:t>
            </a:r>
            <a:endParaRPr lang="en-US" sz="2000" dirty="0"/>
          </a:p>
          <a:p>
            <a:pPr marL="0" indent="0" algn="ctr">
              <a:buNone/>
            </a:pPr>
            <a:r>
              <a:rPr lang="en-US" sz="900" dirty="0">
                <a:solidFill>
                  <a:schemeClr val="accent4"/>
                </a:solidFill>
                <a:latin typeface="Consolas" pitchFamily="34" charset="0"/>
                <a:ea typeface="Consolas" pitchFamily="34" charset="-122"/>
                <a:cs typeface="Consolas" pitchFamily="34" charset="-120"/>
              </a:rPr>
              <a:t>5+4</a:t>
            </a:r>
            <a:endParaRPr lang="en-US" sz="2000" dirty="0"/>
          </a:p>
        </p:txBody>
      </p:sp>
      <p:sp>
        <p:nvSpPr>
          <p:cNvPr id="100" name="Text 98"/>
          <p:cNvSpPr txBox="1"/>
          <p:nvPr/>
        </p:nvSpPr>
        <p:spPr>
          <a:xfrm>
            <a:off x="3712464" y="5413248"/>
            <a:ext cx="182880" cy="182880"/>
          </a:xfrm>
          <a:prstGeom prst="rect">
            <a:avLst/>
          </a:prstGeom>
          <a:noFill/>
          <a:ln/>
        </p:spPr>
        <p:txBody>
          <a:bodyPr wrap="square" lIns="0" tIns="0" rIns="0" bIns="0" rtlCol="0" anchor="t"/>
          <a:lstStyle/>
          <a:p>
            <a:pPr marL="0" indent="0" algn="r">
              <a:buNone/>
            </a:pPr>
            <a:r>
              <a:rPr lang="en-US" sz="1000" dirty="0">
                <a:solidFill>
                  <a:schemeClr val="tx2"/>
                </a:solidFill>
                <a:latin typeface="Consolas" pitchFamily="34" charset="0"/>
                <a:ea typeface="Consolas" pitchFamily="34" charset="-122"/>
                <a:cs typeface="Consolas" pitchFamily="34" charset="-120"/>
              </a:rPr>
              <a:t>→</a:t>
            </a:r>
            <a:endParaRPr lang="en-US" sz="1000" dirty="0"/>
          </a:p>
        </p:txBody>
      </p:sp>
      <p:sp>
        <p:nvSpPr>
          <p:cNvPr id="101" name="Shape 99"/>
          <p:cNvSpPr/>
          <p:nvPr/>
        </p:nvSpPr>
        <p:spPr>
          <a:xfrm>
            <a:off x="3986784" y="4901184"/>
            <a:ext cx="713232" cy="713232"/>
          </a:xfrm>
          <a:prstGeom prst="roundRect">
            <a:avLst>
              <a:gd name="adj" fmla="val 8974"/>
            </a:avLst>
          </a:prstGeom>
          <a:solidFill>
            <a:schemeClr val="accent2">
              <a:alpha val="12000"/>
            </a:schemeClr>
          </a:solidFill>
          <a:ln w="19050">
            <a:solidFill>
              <a:schemeClr val="accent2"/>
            </a:solidFill>
            <a:prstDash val="solid"/>
          </a:ln>
        </p:spPr>
      </p:sp>
      <p:sp>
        <p:nvSpPr>
          <p:cNvPr id="102" name="Text 100"/>
          <p:cNvSpPr txBox="1"/>
          <p:nvPr/>
        </p:nvSpPr>
        <p:spPr>
          <a:xfrm>
            <a:off x="3986784" y="4901184"/>
            <a:ext cx="713232" cy="713232"/>
          </a:xfrm>
          <a:prstGeom prst="rect">
            <a:avLst/>
          </a:prstGeom>
          <a:noFill/>
          <a:ln/>
        </p:spPr>
        <p:txBody>
          <a:bodyPr wrap="square" lIns="0" tIns="0" rIns="0" bIns="0" rtlCol="0" anchor="ctr"/>
          <a:lstStyle/>
          <a:p>
            <a:pPr marL="0" indent="0" algn="ctr">
              <a:buNone/>
            </a:pPr>
            <a:r>
              <a:rPr lang="en-US" sz="2000" b="1" dirty="0">
                <a:solidFill>
                  <a:schemeClr val="accent2"/>
                </a:solidFill>
              </a:rPr>
              <a:t>9</a:t>
            </a:r>
            <a:endParaRPr lang="en-US" sz="2000" dirty="0"/>
          </a:p>
          <a:p>
            <a:pPr marL="0" indent="0" algn="ctr">
              <a:buNone/>
            </a:pPr>
            <a:r>
              <a:rPr lang="en-US" sz="900" dirty="0">
                <a:solidFill>
                  <a:schemeClr val="accent2"/>
                </a:solidFill>
                <a:latin typeface="Consolas" pitchFamily="34" charset="0"/>
                <a:ea typeface="Consolas" pitchFamily="34" charset="-122"/>
                <a:cs typeface="Consolas" pitchFamily="34" charset="-120"/>
              </a:rPr>
              <a:t>6+3</a:t>
            </a:r>
            <a:endParaRPr lang="en-US" sz="2000" dirty="0"/>
          </a:p>
        </p:txBody>
      </p:sp>
      <p:sp>
        <p:nvSpPr>
          <p:cNvPr id="103" name="Text 101"/>
          <p:cNvSpPr txBox="1"/>
          <p:nvPr/>
        </p:nvSpPr>
        <p:spPr>
          <a:xfrm>
            <a:off x="4480560" y="5413248"/>
            <a:ext cx="182880" cy="182880"/>
          </a:xfrm>
          <a:prstGeom prst="rect">
            <a:avLst/>
          </a:prstGeom>
          <a:noFill/>
          <a:ln/>
        </p:spPr>
        <p:txBody>
          <a:bodyPr wrap="square" lIns="0" tIns="0" rIns="0" bIns="0" rtlCol="0" anchor="t"/>
          <a:lstStyle/>
          <a:p>
            <a:pPr marL="0" indent="0" algn="r">
              <a:buNone/>
            </a:pPr>
            <a:r>
              <a:rPr lang="en-US" sz="1000" dirty="0">
                <a:solidFill>
                  <a:schemeClr val="tx2"/>
                </a:solidFill>
                <a:latin typeface="Consolas" pitchFamily="34" charset="0"/>
                <a:ea typeface="Consolas" pitchFamily="34" charset="-122"/>
                <a:cs typeface="Consolas" pitchFamily="34" charset="-120"/>
              </a:rPr>
              <a:t>→</a:t>
            </a:r>
            <a:endParaRPr lang="en-US" sz="1000" dirty="0"/>
          </a:p>
        </p:txBody>
      </p:sp>
      <p:sp>
        <p:nvSpPr>
          <p:cNvPr id="104" name="Shape 102"/>
          <p:cNvSpPr/>
          <p:nvPr/>
        </p:nvSpPr>
        <p:spPr>
          <a:xfrm>
            <a:off x="4754880" y="4901184"/>
            <a:ext cx="713232" cy="713232"/>
          </a:xfrm>
          <a:prstGeom prst="roundRect">
            <a:avLst>
              <a:gd name="adj" fmla="val 8974"/>
            </a:avLst>
          </a:prstGeom>
          <a:solidFill>
            <a:schemeClr val="bg2"/>
          </a:solidFill>
          <a:ln w="12700">
            <a:solidFill>
              <a:schemeClr val="accent5"/>
            </a:solidFill>
            <a:prstDash val="solid"/>
          </a:ln>
        </p:spPr>
      </p:sp>
      <p:sp>
        <p:nvSpPr>
          <p:cNvPr id="105" name="Shape 103"/>
          <p:cNvSpPr/>
          <p:nvPr/>
        </p:nvSpPr>
        <p:spPr>
          <a:xfrm>
            <a:off x="914400" y="5925312"/>
            <a:ext cx="182880" cy="182880"/>
          </a:xfrm>
          <a:prstGeom prst="roundRect">
            <a:avLst>
              <a:gd name="adj" fmla="val 20000"/>
            </a:avLst>
          </a:prstGeom>
          <a:solidFill>
            <a:schemeClr val="bg1"/>
          </a:solidFill>
          <a:ln w="19050">
            <a:solidFill>
              <a:schemeClr val="accent4"/>
            </a:solidFill>
            <a:prstDash val="solid"/>
          </a:ln>
        </p:spPr>
      </p:sp>
      <p:sp>
        <p:nvSpPr>
          <p:cNvPr id="106" name="Text 104"/>
          <p:cNvSpPr txBox="1"/>
          <p:nvPr/>
        </p:nvSpPr>
        <p:spPr>
          <a:xfrm>
            <a:off x="1170432" y="5897880"/>
            <a:ext cx="960120" cy="237744"/>
          </a:xfrm>
          <a:prstGeom prst="rect">
            <a:avLst/>
          </a:prstGeom>
          <a:noFill/>
          <a:ln/>
        </p:spPr>
        <p:txBody>
          <a:bodyPr wrap="square" lIns="0" tIns="0" rIns="0" bIns="0" rtlCol="0" anchor="ctr"/>
          <a:lstStyle/>
          <a:p>
            <a:pPr marL="0" indent="0">
              <a:buNone/>
            </a:pPr>
            <a:r>
              <a:rPr lang="en-US" sz="1000" dirty="0">
                <a:solidFill>
                  <a:schemeClr val="tx2"/>
                </a:solidFill>
                <a:latin typeface="Consolas" pitchFamily="34" charset="0"/>
                <a:ea typeface="Consolas" pitchFamily="34" charset="-122"/>
                <a:cs typeface="Consolas" pitchFamily="34" charset="-120"/>
              </a:rPr>
              <a:t>On the path</a:t>
            </a:r>
            <a:endParaRPr lang="en-US" sz="1000" dirty="0"/>
          </a:p>
        </p:txBody>
      </p:sp>
      <p:sp>
        <p:nvSpPr>
          <p:cNvPr id="107" name="Shape 105"/>
          <p:cNvSpPr/>
          <p:nvPr/>
        </p:nvSpPr>
        <p:spPr>
          <a:xfrm>
            <a:off x="2148840" y="5925312"/>
            <a:ext cx="182880" cy="182880"/>
          </a:xfrm>
          <a:prstGeom prst="roundRect">
            <a:avLst>
              <a:gd name="adj" fmla="val 20000"/>
            </a:avLst>
          </a:prstGeom>
          <a:solidFill>
            <a:schemeClr val="bg1"/>
          </a:solidFill>
          <a:ln w="19050">
            <a:solidFill>
              <a:schemeClr val="accent2"/>
            </a:solidFill>
            <a:prstDash val="solid"/>
          </a:ln>
        </p:spPr>
      </p:sp>
      <p:sp>
        <p:nvSpPr>
          <p:cNvPr id="108" name="Text 106"/>
          <p:cNvSpPr txBox="1"/>
          <p:nvPr/>
        </p:nvSpPr>
        <p:spPr>
          <a:xfrm>
            <a:off x="2404872" y="5897880"/>
            <a:ext cx="960120" cy="237744"/>
          </a:xfrm>
          <a:prstGeom prst="rect">
            <a:avLst/>
          </a:prstGeom>
          <a:noFill/>
          <a:ln/>
        </p:spPr>
        <p:txBody>
          <a:bodyPr wrap="square" lIns="0" tIns="0" rIns="0" bIns="0" rtlCol="0" anchor="ctr"/>
          <a:lstStyle/>
          <a:p>
            <a:pPr marL="0" indent="0">
              <a:buNone/>
            </a:pPr>
            <a:r>
              <a:rPr lang="en-US" sz="1000" dirty="0">
                <a:solidFill>
                  <a:schemeClr val="tx2"/>
                </a:solidFill>
                <a:latin typeface="Consolas" pitchFamily="34" charset="0"/>
                <a:ea typeface="Consolas" pitchFamily="34" charset="-122"/>
                <a:cs typeface="Consolas" pitchFamily="34" charset="-120"/>
              </a:rPr>
              <a:t>Open list</a:t>
            </a:r>
            <a:endParaRPr lang="en-US" sz="1000" dirty="0"/>
          </a:p>
        </p:txBody>
      </p:sp>
      <p:sp>
        <p:nvSpPr>
          <p:cNvPr id="109" name="Shape 107"/>
          <p:cNvSpPr/>
          <p:nvPr/>
        </p:nvSpPr>
        <p:spPr>
          <a:xfrm>
            <a:off x="3383280" y="5925312"/>
            <a:ext cx="182880" cy="182880"/>
          </a:xfrm>
          <a:prstGeom prst="roundRect">
            <a:avLst>
              <a:gd name="adj" fmla="val 20000"/>
            </a:avLst>
          </a:prstGeom>
          <a:solidFill>
            <a:schemeClr val="bg1"/>
          </a:solidFill>
          <a:ln w="19050">
            <a:solidFill>
              <a:schemeClr val="accent5"/>
            </a:solidFill>
            <a:prstDash val="solid"/>
          </a:ln>
        </p:spPr>
      </p:sp>
      <p:sp>
        <p:nvSpPr>
          <p:cNvPr id="110" name="Text 108"/>
          <p:cNvSpPr txBox="1"/>
          <p:nvPr/>
        </p:nvSpPr>
        <p:spPr>
          <a:xfrm>
            <a:off x="3639312" y="5897880"/>
            <a:ext cx="960120" cy="237744"/>
          </a:xfrm>
          <a:prstGeom prst="rect">
            <a:avLst/>
          </a:prstGeom>
          <a:noFill/>
          <a:ln/>
        </p:spPr>
        <p:txBody>
          <a:bodyPr wrap="square" lIns="0" tIns="0" rIns="0" bIns="0" rtlCol="0" anchor="ctr"/>
          <a:lstStyle/>
          <a:p>
            <a:pPr marL="0" indent="0">
              <a:buNone/>
            </a:pPr>
            <a:r>
              <a:rPr lang="en-US" sz="1000" dirty="0">
                <a:solidFill>
                  <a:schemeClr val="tx2"/>
                </a:solidFill>
                <a:latin typeface="Consolas" pitchFamily="34" charset="0"/>
                <a:ea typeface="Consolas" pitchFamily="34" charset="-122"/>
                <a:cs typeface="Consolas" pitchFamily="34" charset="-120"/>
              </a:rPr>
              <a:t>Expanded</a:t>
            </a:r>
            <a:endParaRPr lang="en-US" sz="1000" dirty="0"/>
          </a:p>
        </p:txBody>
      </p:sp>
      <p:sp>
        <p:nvSpPr>
          <p:cNvPr id="111" name="Shape 109"/>
          <p:cNvSpPr/>
          <p:nvPr/>
        </p:nvSpPr>
        <p:spPr>
          <a:xfrm>
            <a:off x="4617720" y="5925312"/>
            <a:ext cx="182880" cy="182880"/>
          </a:xfrm>
          <a:prstGeom prst="roundRect">
            <a:avLst>
              <a:gd name="adj" fmla="val 20000"/>
            </a:avLst>
          </a:prstGeom>
          <a:solidFill>
            <a:schemeClr val="bg1"/>
          </a:solidFill>
          <a:ln w="19050">
            <a:solidFill>
              <a:schemeClr val="accent3"/>
            </a:solidFill>
            <a:prstDash val="solid"/>
          </a:ln>
        </p:spPr>
      </p:sp>
      <p:sp>
        <p:nvSpPr>
          <p:cNvPr id="112" name="Text 110"/>
          <p:cNvSpPr txBox="1"/>
          <p:nvPr/>
        </p:nvSpPr>
        <p:spPr>
          <a:xfrm>
            <a:off x="4873752" y="5897880"/>
            <a:ext cx="960120" cy="237744"/>
          </a:xfrm>
          <a:prstGeom prst="rect">
            <a:avLst/>
          </a:prstGeom>
          <a:noFill/>
          <a:ln/>
        </p:spPr>
        <p:txBody>
          <a:bodyPr wrap="square" lIns="0" tIns="0" rIns="0" bIns="0" rtlCol="0" anchor="ctr"/>
          <a:lstStyle/>
          <a:p>
            <a:pPr marL="0" indent="0">
              <a:buNone/>
            </a:pPr>
            <a:r>
              <a:rPr lang="en-US" sz="1000" dirty="0">
                <a:solidFill>
                  <a:schemeClr val="tx2"/>
                </a:solidFill>
                <a:latin typeface="Consolas" pitchFamily="34" charset="0"/>
                <a:ea typeface="Consolas" pitchFamily="34" charset="-122"/>
                <a:cs typeface="Consolas" pitchFamily="34" charset="-120"/>
              </a:rPr>
              <a:t>Blocked</a:t>
            </a:r>
            <a:endParaRPr lang="en-US" sz="1000" dirty="0"/>
          </a:p>
        </p:txBody>
      </p:sp>
      <p:sp>
        <p:nvSpPr>
          <p:cNvPr id="113" name="Text 111"/>
          <p:cNvSpPr txBox="1"/>
          <p:nvPr/>
        </p:nvSpPr>
        <p:spPr>
          <a:xfrm>
            <a:off x="914400" y="6172200"/>
            <a:ext cx="5303520" cy="201168"/>
          </a:xfrm>
          <a:prstGeom prst="rect">
            <a:avLst/>
          </a:prstGeom>
          <a:noFill/>
          <a:ln/>
        </p:spPr>
        <p:txBody>
          <a:bodyPr wrap="square" lIns="0" tIns="0" rIns="0" bIns="0" rtlCol="0" anchor="t"/>
          <a:lstStyle/>
          <a:p>
            <a:pPr marL="0" indent="0">
              <a:buNone/>
            </a:pPr>
            <a:r>
              <a:rPr lang="en-US" sz="900" dirty="0">
                <a:solidFill>
                  <a:schemeClr val="tx2"/>
                </a:solidFill>
                <a:latin typeface="Consolas" pitchFamily="34" charset="0"/>
                <a:ea typeface="Consolas" pitchFamily="34" charset="-122"/>
                <a:cs typeface="Consolas" pitchFamily="34" charset="-120"/>
              </a:rPr>
              <a:t>Cell: f = g + h  ·  arrow = move that reached it  ·  ✖ = dead end</a:t>
            </a:r>
            <a:endParaRPr lang="en-US" sz="900" dirty="0"/>
          </a:p>
        </p:txBody>
      </p:sp>
      <p:sp>
        <p:nvSpPr>
          <p:cNvPr id="114" name="Text 112"/>
          <p:cNvSpPr txBox="1"/>
          <p:nvPr/>
        </p:nvSpPr>
        <p:spPr>
          <a:xfrm>
            <a:off x="6355080" y="1481328"/>
            <a:ext cx="3200400" cy="201168"/>
          </a:xfrm>
          <a:prstGeom prst="rect">
            <a:avLst/>
          </a:prstGeom>
          <a:noFill/>
          <a:ln/>
        </p:spPr>
        <p:txBody>
          <a:bodyPr wrap="square" lIns="0" tIns="0" rIns="0" bIns="0" rtlCol="0" anchor="t"/>
          <a:lstStyle/>
          <a:p>
            <a:pPr marL="0" indent="0">
              <a:buNone/>
            </a:pPr>
            <a:r>
              <a:rPr lang="en-US" sz="1000" b="1" dirty="0">
                <a:solidFill>
                  <a:schemeClr val="accent1"/>
                </a:solidFill>
                <a:latin typeface="Consolas" pitchFamily="34" charset="0"/>
                <a:ea typeface="Consolas" pitchFamily="34" charset="-122"/>
                <a:cs typeface="Consolas" pitchFamily="34" charset="-120"/>
              </a:rPr>
              <a:t>A* STEPS 3–6 OF 6 · FINAL FRAME</a:t>
            </a:r>
            <a:endParaRPr lang="en-US" sz="1000" dirty="0"/>
          </a:p>
        </p:txBody>
      </p:sp>
      <p:sp>
        <p:nvSpPr>
          <p:cNvPr id="115" name="Text 113"/>
          <p:cNvSpPr txBox="1"/>
          <p:nvPr/>
        </p:nvSpPr>
        <p:spPr>
          <a:xfrm>
            <a:off x="6355080" y="1737360"/>
            <a:ext cx="5285232" cy="457200"/>
          </a:xfrm>
          <a:prstGeom prst="rect">
            <a:avLst/>
          </a:prstGeom>
          <a:noFill/>
          <a:ln/>
        </p:spPr>
        <p:txBody>
          <a:bodyPr wrap="square" lIns="0" tIns="0" rIns="0" bIns="0" rtlCol="0" anchor="t"/>
          <a:lstStyle/>
          <a:p>
            <a:pPr marL="0" indent="0">
              <a:buNone/>
            </a:pPr>
            <a:r>
              <a:rPr lang="en-US" sz="2400" b="1" dirty="0">
                <a:solidFill>
                  <a:schemeClr val="tx1"/>
                </a:solidFill>
              </a:rPr>
              <a:t>The C1 trap, then the finish</a:t>
            </a:r>
            <a:endParaRPr lang="en-US" sz="2400" dirty="0"/>
          </a:p>
        </p:txBody>
      </p:sp>
      <p:sp>
        <p:nvSpPr>
          <p:cNvPr id="116" name="Text 114"/>
          <p:cNvSpPr txBox="1"/>
          <p:nvPr/>
        </p:nvSpPr>
        <p:spPr>
          <a:xfrm>
            <a:off x="6355080" y="2286000"/>
            <a:ext cx="5285232" cy="914400"/>
          </a:xfrm>
          <a:prstGeom prst="rect">
            <a:avLst/>
          </a:prstGeom>
          <a:noFill/>
          <a:ln/>
        </p:spPr>
        <p:txBody>
          <a:bodyPr wrap="square" lIns="0" tIns="0" rIns="0" bIns="0" rtlCol="0" anchor="t"/>
          <a:lstStyle/>
          <a:p>
            <a:pPr marL="0" indent="0">
              <a:buNone/>
            </a:pPr>
            <a:r>
              <a:rPr lang="en-US" sz="1400" dirty="0">
                <a:solidFill>
                  <a:schemeClr val="tx2"/>
                </a:solidFill>
              </a:rPr>
              <a:t>After every f = 7 state is expanded, the open list holds only f = 9. C1 is tried first (lowest h) but C2 and D1 are blocked, so it leads nowhere. A* drops it and follows the open lower route.</a:t>
            </a:r>
            <a:endParaRPr lang="en-US" sz="1400" dirty="0"/>
          </a:p>
        </p:txBody>
      </p:sp>
      <p:graphicFrame>
        <p:nvGraphicFramePr>
          <p:cNvPr id="117" name="Table 0"/>
          <p:cNvGraphicFramePr>
            <a:graphicFrameLocks noGrp="1"/>
          </p:cNvGraphicFramePr>
          <p:nvPr>
            <p:extLst>
              <p:ext uri="{D42A27DB-BD31-4B8C-83A1-F6EECF244321}">
                <p14:modId xmlns:p14="http://schemas.microsoft.com/office/powerpoint/2010/main" val="1579011935"/>
              </p:ext>
            </p:extLst>
          </p:nvPr>
        </p:nvGraphicFramePr>
        <p:xfrm>
          <a:off x="6355080" y="3291840"/>
          <a:ext cx="5285232" cy="1097280"/>
        </p:xfrm>
        <a:graphic>
          <a:graphicData uri="http://schemas.openxmlformats.org/drawingml/2006/table">
            <a:tbl>
              <a:tblPr/>
              <a:tblGrid>
                <a:gridCol w="868680">
                  <a:extLst>
                    <a:ext uri="{9D8B030D-6E8A-4147-A177-3AD203B41FA5}">
                      <a16:colId xmlns:a16="http://schemas.microsoft.com/office/drawing/2014/main" val="20000"/>
                    </a:ext>
                  </a:extLst>
                </a:gridCol>
                <a:gridCol w="594360">
                  <a:extLst>
                    <a:ext uri="{9D8B030D-6E8A-4147-A177-3AD203B41FA5}">
                      <a16:colId xmlns:a16="http://schemas.microsoft.com/office/drawing/2014/main" val="20001"/>
                    </a:ext>
                  </a:extLst>
                </a:gridCol>
                <a:gridCol w="594360">
                  <a:extLst>
                    <a:ext uri="{9D8B030D-6E8A-4147-A177-3AD203B41FA5}">
                      <a16:colId xmlns:a16="http://schemas.microsoft.com/office/drawing/2014/main" val="20002"/>
                    </a:ext>
                  </a:extLst>
                </a:gridCol>
                <a:gridCol w="1325880">
                  <a:extLst>
                    <a:ext uri="{9D8B030D-6E8A-4147-A177-3AD203B41FA5}">
                      <a16:colId xmlns:a16="http://schemas.microsoft.com/office/drawing/2014/main" val="20003"/>
                    </a:ext>
                  </a:extLst>
                </a:gridCol>
                <a:gridCol w="1901952">
                  <a:extLst>
                    <a:ext uri="{9D8B030D-6E8A-4147-A177-3AD203B41FA5}">
                      <a16:colId xmlns:a16="http://schemas.microsoft.com/office/drawing/2014/main" val="20004"/>
                    </a:ext>
                  </a:extLst>
                </a:gridCol>
              </a:tblGrid>
              <a:tr h="365760">
                <a:tc>
                  <a:txBody>
                    <a:bodyPr/>
                    <a:lstStyle/>
                    <a:p>
                      <a:pPr marL="0" indent="0">
                        <a:buNone/>
                      </a:pPr>
                      <a:r>
                        <a:rPr lang="en-US" sz="1000" b="1" dirty="0">
                          <a:solidFill>
                            <a:srgbClr val="94A3B8"/>
                          </a:solidFill>
                          <a:latin typeface="Consolas" pitchFamily="34" charset="0"/>
                          <a:ea typeface="Consolas" pitchFamily="34" charset="-122"/>
                          <a:cs typeface="Consolas" pitchFamily="34" charset="-120"/>
                        </a:rPr>
                        <a:t>NODE</a:t>
                      </a:r>
                      <a:endParaRPr lang="en-US" sz="1000" dirty="0">
                        <a:latin typeface="Consolas" charset="0"/>
                        <a:ea typeface="Consolas" charset="0"/>
                        <a:cs typeface="Consolas" charset="0"/>
                      </a:endParaRPr>
                    </a:p>
                  </a:txBody>
                  <a:tcPr marT="0" marB="0" anchor="ctr">
                    <a:lnL w="9525" cap="flat" cmpd="sng" algn="ctr">
                      <a:solidFill>
                        <a:srgbClr val="24324D"/>
                      </a:solidFill>
                      <a:prstDash val="solid"/>
                      <a:round/>
                      <a:headEnd type="none" w="med" len="med"/>
                      <a:tailEnd type="none" w="med" len="med"/>
                    </a:lnL>
                    <a:lnR w="9525" cap="flat" cmpd="sng" algn="ctr">
                      <a:solidFill>
                        <a:srgbClr val="24324D"/>
                      </a:solidFill>
                      <a:prstDash val="solid"/>
                      <a:round/>
                      <a:headEnd type="none" w="med" len="med"/>
                      <a:tailEnd type="none" w="med" len="med"/>
                    </a:lnR>
                    <a:lnT w="9525" cap="flat" cmpd="sng" algn="ctr">
                      <a:solidFill>
                        <a:srgbClr val="24324D"/>
                      </a:solidFill>
                      <a:prstDash val="solid"/>
                      <a:round/>
                      <a:headEnd type="none" w="med" len="med"/>
                      <a:tailEnd type="none" w="med" len="med"/>
                    </a:lnT>
                    <a:lnB w="9525" cap="flat" cmpd="sng" algn="ctr">
                      <a:solidFill>
                        <a:srgbClr val="24324D"/>
                      </a:solidFill>
                      <a:prstDash val="solid"/>
                      <a:round/>
                      <a:headEnd type="none" w="med" len="med"/>
                      <a:tailEnd type="none" w="med" len="med"/>
                    </a:lnB>
                  </a:tcPr>
                </a:tc>
                <a:tc>
                  <a:txBody>
                    <a:bodyPr/>
                    <a:lstStyle/>
                    <a:p>
                      <a:pPr marL="0" indent="0">
                        <a:buNone/>
                      </a:pPr>
                      <a:r>
                        <a:rPr lang="en-US" sz="1000" b="1" dirty="0">
                          <a:solidFill>
                            <a:srgbClr val="94A3B8"/>
                          </a:solidFill>
                          <a:latin typeface="Consolas" pitchFamily="34" charset="0"/>
                          <a:ea typeface="Consolas" pitchFamily="34" charset="-122"/>
                          <a:cs typeface="Consolas" pitchFamily="34" charset="-120"/>
                        </a:rPr>
                        <a:t>g</a:t>
                      </a:r>
                      <a:endParaRPr lang="en-US" sz="1000" dirty="0">
                        <a:latin typeface="Consolas" charset="0"/>
                        <a:ea typeface="Consolas" charset="0"/>
                        <a:cs typeface="Consolas" charset="0"/>
                      </a:endParaRPr>
                    </a:p>
                  </a:txBody>
                  <a:tcPr marT="0" marB="0" anchor="ctr">
                    <a:lnL w="9525" cap="flat" cmpd="sng" algn="ctr">
                      <a:solidFill>
                        <a:srgbClr val="24324D"/>
                      </a:solidFill>
                      <a:prstDash val="solid"/>
                      <a:round/>
                      <a:headEnd type="none" w="med" len="med"/>
                      <a:tailEnd type="none" w="med" len="med"/>
                    </a:lnL>
                    <a:lnR w="9525" cap="flat" cmpd="sng" algn="ctr">
                      <a:solidFill>
                        <a:srgbClr val="24324D"/>
                      </a:solidFill>
                      <a:prstDash val="solid"/>
                      <a:round/>
                      <a:headEnd type="none" w="med" len="med"/>
                      <a:tailEnd type="none" w="med" len="med"/>
                    </a:lnR>
                    <a:lnT w="9525" cap="flat" cmpd="sng" algn="ctr">
                      <a:solidFill>
                        <a:srgbClr val="24324D"/>
                      </a:solidFill>
                      <a:prstDash val="solid"/>
                      <a:round/>
                      <a:headEnd type="none" w="med" len="med"/>
                      <a:tailEnd type="none" w="med" len="med"/>
                    </a:lnT>
                    <a:lnB w="9525" cap="flat" cmpd="sng" algn="ctr">
                      <a:solidFill>
                        <a:srgbClr val="24324D"/>
                      </a:solidFill>
                      <a:prstDash val="solid"/>
                      <a:round/>
                      <a:headEnd type="none" w="med" len="med"/>
                      <a:tailEnd type="none" w="med" len="med"/>
                    </a:lnB>
                  </a:tcPr>
                </a:tc>
                <a:tc>
                  <a:txBody>
                    <a:bodyPr/>
                    <a:lstStyle/>
                    <a:p>
                      <a:pPr marL="0" indent="0">
                        <a:buNone/>
                      </a:pPr>
                      <a:r>
                        <a:rPr lang="en-US" sz="1000" b="1" dirty="0">
                          <a:solidFill>
                            <a:srgbClr val="94A3B8"/>
                          </a:solidFill>
                          <a:latin typeface="Consolas" pitchFamily="34" charset="0"/>
                          <a:ea typeface="Consolas" pitchFamily="34" charset="-122"/>
                          <a:cs typeface="Consolas" pitchFamily="34" charset="-120"/>
                        </a:rPr>
                        <a:t>h</a:t>
                      </a:r>
                      <a:endParaRPr lang="en-US" sz="1000" dirty="0">
                        <a:latin typeface="Consolas" charset="0"/>
                        <a:ea typeface="Consolas" charset="0"/>
                        <a:cs typeface="Consolas" charset="0"/>
                      </a:endParaRPr>
                    </a:p>
                  </a:txBody>
                  <a:tcPr marT="0" marB="0" anchor="ctr">
                    <a:lnL w="9525" cap="flat" cmpd="sng" algn="ctr">
                      <a:solidFill>
                        <a:srgbClr val="24324D"/>
                      </a:solidFill>
                      <a:prstDash val="solid"/>
                      <a:round/>
                      <a:headEnd type="none" w="med" len="med"/>
                      <a:tailEnd type="none" w="med" len="med"/>
                    </a:lnL>
                    <a:lnR w="9525" cap="flat" cmpd="sng" algn="ctr">
                      <a:solidFill>
                        <a:srgbClr val="24324D"/>
                      </a:solidFill>
                      <a:prstDash val="solid"/>
                      <a:round/>
                      <a:headEnd type="none" w="med" len="med"/>
                      <a:tailEnd type="none" w="med" len="med"/>
                    </a:lnR>
                    <a:lnT w="9525" cap="flat" cmpd="sng" algn="ctr">
                      <a:solidFill>
                        <a:srgbClr val="24324D"/>
                      </a:solidFill>
                      <a:prstDash val="solid"/>
                      <a:round/>
                      <a:headEnd type="none" w="med" len="med"/>
                      <a:tailEnd type="none" w="med" len="med"/>
                    </a:lnT>
                    <a:lnB w="9525" cap="flat" cmpd="sng" algn="ctr">
                      <a:solidFill>
                        <a:srgbClr val="24324D"/>
                      </a:solidFill>
                      <a:prstDash val="solid"/>
                      <a:round/>
                      <a:headEnd type="none" w="med" len="med"/>
                      <a:tailEnd type="none" w="med" len="med"/>
                    </a:lnB>
                  </a:tcPr>
                </a:tc>
                <a:tc>
                  <a:txBody>
                    <a:bodyPr/>
                    <a:lstStyle/>
                    <a:p>
                      <a:pPr marL="0" indent="0">
                        <a:buNone/>
                      </a:pPr>
                      <a:r>
                        <a:rPr lang="en-US" sz="1000" b="1" dirty="0">
                          <a:solidFill>
                            <a:srgbClr val="94A3B8"/>
                          </a:solidFill>
                          <a:latin typeface="Consolas" pitchFamily="34" charset="0"/>
                          <a:ea typeface="Consolas" pitchFamily="34" charset="-122"/>
                          <a:cs typeface="Consolas" pitchFamily="34" charset="-120"/>
                        </a:rPr>
                        <a:t>f = g + h</a:t>
                      </a:r>
                      <a:endParaRPr lang="en-US" sz="1000" dirty="0">
                        <a:latin typeface="Consolas" charset="0"/>
                        <a:ea typeface="Consolas" charset="0"/>
                        <a:cs typeface="Consolas" charset="0"/>
                      </a:endParaRPr>
                    </a:p>
                  </a:txBody>
                  <a:tcPr marT="0" marB="0" anchor="ctr">
                    <a:lnL w="9525" cap="flat" cmpd="sng" algn="ctr">
                      <a:solidFill>
                        <a:srgbClr val="24324D"/>
                      </a:solidFill>
                      <a:prstDash val="solid"/>
                      <a:round/>
                      <a:headEnd type="none" w="med" len="med"/>
                      <a:tailEnd type="none" w="med" len="med"/>
                    </a:lnL>
                    <a:lnR w="9525" cap="flat" cmpd="sng" algn="ctr">
                      <a:solidFill>
                        <a:srgbClr val="24324D"/>
                      </a:solidFill>
                      <a:prstDash val="solid"/>
                      <a:round/>
                      <a:headEnd type="none" w="med" len="med"/>
                      <a:tailEnd type="none" w="med" len="med"/>
                    </a:lnR>
                    <a:lnT w="9525" cap="flat" cmpd="sng" algn="ctr">
                      <a:solidFill>
                        <a:srgbClr val="24324D"/>
                      </a:solidFill>
                      <a:prstDash val="solid"/>
                      <a:round/>
                      <a:headEnd type="none" w="med" len="med"/>
                      <a:tailEnd type="none" w="med" len="med"/>
                    </a:lnT>
                    <a:lnB w="9525" cap="flat" cmpd="sng" algn="ctr">
                      <a:solidFill>
                        <a:srgbClr val="24324D"/>
                      </a:solidFill>
                      <a:prstDash val="solid"/>
                      <a:round/>
                      <a:headEnd type="none" w="med" len="med"/>
                      <a:tailEnd type="none" w="med" len="med"/>
                    </a:lnB>
                  </a:tcPr>
                </a:tc>
                <a:tc>
                  <a:txBody>
                    <a:bodyPr/>
                    <a:lstStyle/>
                    <a:p>
                      <a:pPr marL="0" indent="0">
                        <a:buNone/>
                      </a:pPr>
                      <a:r>
                        <a:rPr lang="en-US" sz="1000" b="1" dirty="0">
                          <a:solidFill>
                            <a:srgbClr val="94A3B8"/>
                          </a:solidFill>
                          <a:latin typeface="Consolas" pitchFamily="34" charset="0"/>
                          <a:ea typeface="Consolas" pitchFamily="34" charset="-122"/>
                          <a:cs typeface="Consolas" pitchFamily="34" charset="-120"/>
                        </a:rPr>
                        <a:t>RESULT</a:t>
                      </a:r>
                      <a:endParaRPr lang="en-US" sz="1000" dirty="0">
                        <a:latin typeface="Consolas" charset="0"/>
                        <a:ea typeface="Consolas" charset="0"/>
                        <a:cs typeface="Consolas" charset="0"/>
                      </a:endParaRPr>
                    </a:p>
                  </a:txBody>
                  <a:tcPr marT="0" marB="0" anchor="ctr">
                    <a:lnL w="9525" cap="flat" cmpd="sng" algn="ctr">
                      <a:solidFill>
                        <a:srgbClr val="24324D"/>
                      </a:solidFill>
                      <a:prstDash val="solid"/>
                      <a:round/>
                      <a:headEnd type="none" w="med" len="med"/>
                      <a:tailEnd type="none" w="med" len="med"/>
                    </a:lnL>
                    <a:lnR w="9525" cap="flat" cmpd="sng" algn="ctr">
                      <a:solidFill>
                        <a:srgbClr val="24324D"/>
                      </a:solidFill>
                      <a:prstDash val="solid"/>
                      <a:round/>
                      <a:headEnd type="none" w="med" len="med"/>
                      <a:tailEnd type="none" w="med" len="med"/>
                    </a:lnR>
                    <a:lnT w="9525" cap="flat" cmpd="sng" algn="ctr">
                      <a:solidFill>
                        <a:srgbClr val="24324D"/>
                      </a:solidFill>
                      <a:prstDash val="solid"/>
                      <a:round/>
                      <a:headEnd type="none" w="med" len="med"/>
                      <a:tailEnd type="none" w="med" len="med"/>
                    </a:lnT>
                    <a:lnB w="9525" cap="flat" cmpd="sng" algn="ctr">
                      <a:solidFill>
                        <a:srgbClr val="24324D"/>
                      </a:solidFill>
                      <a:prstDash val="solid"/>
                      <a:round/>
                      <a:headEnd type="none" w="med" len="med"/>
                      <a:tailEnd type="none" w="med" len="med"/>
                    </a:lnB>
                  </a:tcPr>
                </a:tc>
                <a:extLst>
                  <a:ext uri="{0D108BD9-81ED-4DB2-BD59-A6C34878D82A}">
                    <a16:rowId xmlns:a16="http://schemas.microsoft.com/office/drawing/2014/main" val="10000"/>
                  </a:ext>
                </a:extLst>
              </a:tr>
              <a:tr h="365760">
                <a:tc>
                  <a:txBody>
                    <a:bodyPr/>
                    <a:lstStyle/>
                    <a:p>
                      <a:pPr marL="0" indent="0">
                        <a:buNone/>
                      </a:pPr>
                      <a:r>
                        <a:rPr lang="en-US" sz="1300" b="1" dirty="0">
                          <a:solidFill>
                            <a:srgbClr val="F1F5F9"/>
                          </a:solidFill>
                          <a:latin typeface="Consolas" pitchFamily="34" charset="0"/>
                          <a:ea typeface="Consolas" pitchFamily="34" charset="-122"/>
                          <a:cs typeface="Consolas" pitchFamily="34" charset="-120"/>
                        </a:rPr>
                        <a:t>C1</a:t>
                      </a:r>
                      <a:endParaRPr lang="en-US" sz="1300" dirty="0">
                        <a:latin typeface="Consolas" charset="0"/>
                        <a:ea typeface="Consolas" charset="0"/>
                        <a:cs typeface="Consolas" charset="0"/>
                      </a:endParaRPr>
                    </a:p>
                  </a:txBody>
                  <a:tcPr marT="0" marB="0" anchor="ctr">
                    <a:lnL w="9525" cap="flat" cmpd="sng" algn="ctr">
                      <a:solidFill>
                        <a:srgbClr val="24324D"/>
                      </a:solidFill>
                      <a:prstDash val="solid"/>
                      <a:round/>
                      <a:headEnd type="none" w="med" len="med"/>
                      <a:tailEnd type="none" w="med" len="med"/>
                    </a:lnL>
                    <a:lnR w="9525" cap="flat" cmpd="sng" algn="ctr">
                      <a:solidFill>
                        <a:srgbClr val="24324D"/>
                      </a:solidFill>
                      <a:prstDash val="solid"/>
                      <a:round/>
                      <a:headEnd type="none" w="med" len="med"/>
                      <a:tailEnd type="none" w="med" len="med"/>
                    </a:lnR>
                    <a:lnT w="9525" cap="flat" cmpd="sng" algn="ctr">
                      <a:solidFill>
                        <a:srgbClr val="24324D"/>
                      </a:solidFill>
                      <a:prstDash val="solid"/>
                      <a:round/>
                      <a:headEnd type="none" w="med" len="med"/>
                      <a:tailEnd type="none" w="med" len="med"/>
                    </a:lnT>
                    <a:lnB w="9525" cap="flat" cmpd="sng" algn="ctr">
                      <a:solidFill>
                        <a:srgbClr val="24324D"/>
                      </a:solidFill>
                      <a:prstDash val="solid"/>
                      <a:round/>
                      <a:headEnd type="none" w="med" len="med"/>
                      <a:tailEnd type="none" w="med" len="med"/>
                    </a:lnB>
                    <a:solidFill>
                      <a:srgbClr val="3A1620"/>
                    </a:solidFill>
                  </a:tcPr>
                </a:tc>
                <a:tc>
                  <a:txBody>
                    <a:bodyPr/>
                    <a:lstStyle/>
                    <a:p>
                      <a:pPr marL="0" indent="0">
                        <a:buNone/>
                      </a:pPr>
                      <a:r>
                        <a:rPr lang="en-US" sz="1300" dirty="0">
                          <a:solidFill>
                            <a:srgbClr val="CBD5E1"/>
                          </a:solidFill>
                          <a:latin typeface="Consolas" pitchFamily="34" charset="0"/>
                          <a:ea typeface="Consolas" pitchFamily="34" charset="-122"/>
                          <a:cs typeface="Consolas" pitchFamily="34" charset="-120"/>
                        </a:rPr>
                        <a:t>4</a:t>
                      </a:r>
                      <a:endParaRPr lang="en-US" sz="1300" dirty="0">
                        <a:latin typeface="Consolas" charset="0"/>
                        <a:ea typeface="Consolas" charset="0"/>
                        <a:cs typeface="Consolas" charset="0"/>
                      </a:endParaRPr>
                    </a:p>
                  </a:txBody>
                  <a:tcPr marT="0" marB="0" anchor="ctr">
                    <a:lnL w="9525" cap="flat" cmpd="sng" algn="ctr">
                      <a:solidFill>
                        <a:srgbClr val="24324D"/>
                      </a:solidFill>
                      <a:prstDash val="solid"/>
                      <a:round/>
                      <a:headEnd type="none" w="med" len="med"/>
                      <a:tailEnd type="none" w="med" len="med"/>
                    </a:lnL>
                    <a:lnR w="9525" cap="flat" cmpd="sng" algn="ctr">
                      <a:solidFill>
                        <a:srgbClr val="24324D"/>
                      </a:solidFill>
                      <a:prstDash val="solid"/>
                      <a:round/>
                      <a:headEnd type="none" w="med" len="med"/>
                      <a:tailEnd type="none" w="med" len="med"/>
                    </a:lnR>
                    <a:lnT w="9525" cap="flat" cmpd="sng" algn="ctr">
                      <a:solidFill>
                        <a:srgbClr val="24324D"/>
                      </a:solidFill>
                      <a:prstDash val="solid"/>
                      <a:round/>
                      <a:headEnd type="none" w="med" len="med"/>
                      <a:tailEnd type="none" w="med" len="med"/>
                    </a:lnT>
                    <a:lnB w="9525" cap="flat" cmpd="sng" algn="ctr">
                      <a:solidFill>
                        <a:srgbClr val="24324D"/>
                      </a:solidFill>
                      <a:prstDash val="solid"/>
                      <a:round/>
                      <a:headEnd type="none" w="med" len="med"/>
                      <a:tailEnd type="none" w="med" len="med"/>
                    </a:lnB>
                    <a:solidFill>
                      <a:srgbClr val="3A1620"/>
                    </a:solidFill>
                  </a:tcPr>
                </a:tc>
                <a:tc>
                  <a:txBody>
                    <a:bodyPr/>
                    <a:lstStyle/>
                    <a:p>
                      <a:pPr marL="0" indent="0">
                        <a:buNone/>
                      </a:pPr>
                      <a:r>
                        <a:rPr lang="en-US" sz="1300" dirty="0">
                          <a:solidFill>
                            <a:srgbClr val="CBD5E1"/>
                          </a:solidFill>
                          <a:latin typeface="Consolas" pitchFamily="34" charset="0"/>
                          <a:ea typeface="Consolas" pitchFamily="34" charset="-122"/>
                          <a:cs typeface="Consolas" pitchFamily="34" charset="-120"/>
                        </a:rPr>
                        <a:t>5</a:t>
                      </a:r>
                      <a:endParaRPr lang="en-US" sz="1300" dirty="0">
                        <a:latin typeface="Consolas" charset="0"/>
                        <a:ea typeface="Consolas" charset="0"/>
                        <a:cs typeface="Consolas" charset="0"/>
                      </a:endParaRPr>
                    </a:p>
                  </a:txBody>
                  <a:tcPr marT="0" marB="0" anchor="ctr">
                    <a:lnL w="9525" cap="flat" cmpd="sng" algn="ctr">
                      <a:solidFill>
                        <a:srgbClr val="24324D"/>
                      </a:solidFill>
                      <a:prstDash val="solid"/>
                      <a:round/>
                      <a:headEnd type="none" w="med" len="med"/>
                      <a:tailEnd type="none" w="med" len="med"/>
                    </a:lnL>
                    <a:lnR w="9525" cap="flat" cmpd="sng" algn="ctr">
                      <a:solidFill>
                        <a:srgbClr val="24324D"/>
                      </a:solidFill>
                      <a:prstDash val="solid"/>
                      <a:round/>
                      <a:headEnd type="none" w="med" len="med"/>
                      <a:tailEnd type="none" w="med" len="med"/>
                    </a:lnR>
                    <a:lnT w="9525" cap="flat" cmpd="sng" algn="ctr">
                      <a:solidFill>
                        <a:srgbClr val="24324D"/>
                      </a:solidFill>
                      <a:prstDash val="solid"/>
                      <a:round/>
                      <a:headEnd type="none" w="med" len="med"/>
                      <a:tailEnd type="none" w="med" len="med"/>
                    </a:lnT>
                    <a:lnB w="9525" cap="flat" cmpd="sng" algn="ctr">
                      <a:solidFill>
                        <a:srgbClr val="24324D"/>
                      </a:solidFill>
                      <a:prstDash val="solid"/>
                      <a:round/>
                      <a:headEnd type="none" w="med" len="med"/>
                      <a:tailEnd type="none" w="med" len="med"/>
                    </a:lnB>
                    <a:solidFill>
                      <a:srgbClr val="3A1620"/>
                    </a:solidFill>
                  </a:tcPr>
                </a:tc>
                <a:tc>
                  <a:txBody>
                    <a:bodyPr/>
                    <a:lstStyle/>
                    <a:p>
                      <a:pPr marL="0" indent="0">
                        <a:buNone/>
                      </a:pPr>
                      <a:r>
                        <a:rPr lang="en-US" sz="1300" dirty="0">
                          <a:solidFill>
                            <a:srgbClr val="CBD5E1"/>
                          </a:solidFill>
                          <a:latin typeface="Consolas" pitchFamily="34" charset="0"/>
                          <a:ea typeface="Consolas" pitchFamily="34" charset="-122"/>
                          <a:cs typeface="Consolas" pitchFamily="34" charset="-120"/>
                        </a:rPr>
                        <a:t>4+5 = 9</a:t>
                      </a:r>
                      <a:endParaRPr lang="en-US" sz="1300" dirty="0">
                        <a:latin typeface="Consolas" charset="0"/>
                        <a:ea typeface="Consolas" charset="0"/>
                        <a:cs typeface="Consolas" charset="0"/>
                      </a:endParaRPr>
                    </a:p>
                  </a:txBody>
                  <a:tcPr marT="0" marB="0" anchor="ctr">
                    <a:lnL w="9525" cap="flat" cmpd="sng" algn="ctr">
                      <a:solidFill>
                        <a:srgbClr val="24324D"/>
                      </a:solidFill>
                      <a:prstDash val="solid"/>
                      <a:round/>
                      <a:headEnd type="none" w="med" len="med"/>
                      <a:tailEnd type="none" w="med" len="med"/>
                    </a:lnL>
                    <a:lnR w="9525" cap="flat" cmpd="sng" algn="ctr">
                      <a:solidFill>
                        <a:srgbClr val="24324D"/>
                      </a:solidFill>
                      <a:prstDash val="solid"/>
                      <a:round/>
                      <a:headEnd type="none" w="med" len="med"/>
                      <a:tailEnd type="none" w="med" len="med"/>
                    </a:lnR>
                    <a:lnT w="9525" cap="flat" cmpd="sng" algn="ctr">
                      <a:solidFill>
                        <a:srgbClr val="24324D"/>
                      </a:solidFill>
                      <a:prstDash val="solid"/>
                      <a:round/>
                      <a:headEnd type="none" w="med" len="med"/>
                      <a:tailEnd type="none" w="med" len="med"/>
                    </a:lnT>
                    <a:lnB w="9525" cap="flat" cmpd="sng" algn="ctr">
                      <a:solidFill>
                        <a:srgbClr val="24324D"/>
                      </a:solidFill>
                      <a:prstDash val="solid"/>
                      <a:round/>
                      <a:headEnd type="none" w="med" len="med"/>
                      <a:tailEnd type="none" w="med" len="med"/>
                    </a:lnB>
                    <a:solidFill>
                      <a:srgbClr val="3A1620"/>
                    </a:solidFill>
                  </a:tcPr>
                </a:tc>
                <a:tc>
                  <a:txBody>
                    <a:bodyPr/>
                    <a:lstStyle/>
                    <a:p>
                      <a:pPr marL="0" indent="0">
                        <a:buNone/>
                      </a:pPr>
                      <a:r>
                        <a:rPr lang="en-US" sz="1300" b="1" dirty="0">
                          <a:solidFill>
                            <a:srgbClr val="EF4444"/>
                          </a:solidFill>
                          <a:latin typeface="Consolas" pitchFamily="34" charset="0"/>
                          <a:ea typeface="Consolas" pitchFamily="34" charset="-122"/>
                          <a:cs typeface="Consolas" pitchFamily="34" charset="-120"/>
                        </a:rPr>
                        <a:t>✖ dead end</a:t>
                      </a:r>
                      <a:endParaRPr lang="en-US" sz="1300" dirty="0">
                        <a:latin typeface="Consolas" charset="0"/>
                        <a:ea typeface="Consolas" charset="0"/>
                        <a:cs typeface="Consolas" charset="0"/>
                      </a:endParaRPr>
                    </a:p>
                  </a:txBody>
                  <a:tcPr marT="0" marB="0" anchor="ctr">
                    <a:lnL w="9525" cap="flat" cmpd="sng" algn="ctr">
                      <a:solidFill>
                        <a:srgbClr val="24324D"/>
                      </a:solidFill>
                      <a:prstDash val="solid"/>
                      <a:round/>
                      <a:headEnd type="none" w="med" len="med"/>
                      <a:tailEnd type="none" w="med" len="med"/>
                    </a:lnL>
                    <a:lnR w="9525" cap="flat" cmpd="sng" algn="ctr">
                      <a:solidFill>
                        <a:srgbClr val="24324D"/>
                      </a:solidFill>
                      <a:prstDash val="solid"/>
                      <a:round/>
                      <a:headEnd type="none" w="med" len="med"/>
                      <a:tailEnd type="none" w="med" len="med"/>
                    </a:lnR>
                    <a:lnT w="9525" cap="flat" cmpd="sng" algn="ctr">
                      <a:solidFill>
                        <a:srgbClr val="24324D"/>
                      </a:solidFill>
                      <a:prstDash val="solid"/>
                      <a:round/>
                      <a:headEnd type="none" w="med" len="med"/>
                      <a:tailEnd type="none" w="med" len="med"/>
                    </a:lnT>
                    <a:lnB w="9525" cap="flat" cmpd="sng" algn="ctr">
                      <a:solidFill>
                        <a:srgbClr val="24324D"/>
                      </a:solidFill>
                      <a:prstDash val="solid"/>
                      <a:round/>
                      <a:headEnd type="none" w="med" len="med"/>
                      <a:tailEnd type="none" w="med" len="med"/>
                    </a:lnB>
                    <a:solidFill>
                      <a:srgbClr val="3A1620"/>
                    </a:solidFill>
                  </a:tcPr>
                </a:tc>
                <a:extLst>
                  <a:ext uri="{0D108BD9-81ED-4DB2-BD59-A6C34878D82A}">
                    <a16:rowId xmlns:a16="http://schemas.microsoft.com/office/drawing/2014/main" val="10001"/>
                  </a:ext>
                </a:extLst>
              </a:tr>
              <a:tr h="365760">
                <a:tc>
                  <a:txBody>
                    <a:bodyPr/>
                    <a:lstStyle/>
                    <a:p>
                      <a:pPr marL="0" indent="0">
                        <a:buNone/>
                      </a:pPr>
                      <a:r>
                        <a:rPr lang="en-US" sz="1300" b="1" dirty="0">
                          <a:solidFill>
                            <a:srgbClr val="F1F5F9"/>
                          </a:solidFill>
                          <a:latin typeface="Consolas" pitchFamily="34" charset="0"/>
                          <a:ea typeface="Consolas" pitchFamily="34" charset="-122"/>
                          <a:cs typeface="Consolas" pitchFamily="34" charset="-120"/>
                        </a:rPr>
                        <a:t>B5</a:t>
                      </a:r>
                      <a:endParaRPr lang="en-US" sz="1300" dirty="0">
                        <a:latin typeface="Consolas" charset="0"/>
                        <a:ea typeface="Consolas" charset="0"/>
                        <a:cs typeface="Consolas" charset="0"/>
                      </a:endParaRPr>
                    </a:p>
                  </a:txBody>
                  <a:tcPr marT="0" marB="0" anchor="ctr">
                    <a:lnL w="9525" cap="flat" cmpd="sng" algn="ctr">
                      <a:solidFill>
                        <a:srgbClr val="24324D"/>
                      </a:solidFill>
                      <a:prstDash val="solid"/>
                      <a:round/>
                      <a:headEnd type="none" w="med" len="med"/>
                      <a:tailEnd type="none" w="med" len="med"/>
                    </a:lnL>
                    <a:lnR w="9525" cap="flat" cmpd="sng" algn="ctr">
                      <a:solidFill>
                        <a:srgbClr val="24324D"/>
                      </a:solidFill>
                      <a:prstDash val="solid"/>
                      <a:round/>
                      <a:headEnd type="none" w="med" len="med"/>
                      <a:tailEnd type="none" w="med" len="med"/>
                    </a:lnR>
                    <a:lnT w="9525" cap="flat" cmpd="sng" algn="ctr">
                      <a:solidFill>
                        <a:srgbClr val="24324D"/>
                      </a:solidFill>
                      <a:prstDash val="solid"/>
                      <a:round/>
                      <a:headEnd type="none" w="med" len="med"/>
                      <a:tailEnd type="none" w="med" len="med"/>
                    </a:lnT>
                    <a:lnB w="9525" cap="flat" cmpd="sng" algn="ctr">
                      <a:solidFill>
                        <a:srgbClr val="24324D"/>
                      </a:solidFill>
                      <a:prstDash val="solid"/>
                      <a:round/>
                      <a:headEnd type="none" w="med" len="med"/>
                      <a:tailEnd type="none" w="med" len="med"/>
                    </a:lnB>
                    <a:solidFill>
                      <a:srgbClr val="0F3D2E"/>
                    </a:solidFill>
                  </a:tcPr>
                </a:tc>
                <a:tc>
                  <a:txBody>
                    <a:bodyPr/>
                    <a:lstStyle/>
                    <a:p>
                      <a:pPr marL="0" indent="0">
                        <a:buNone/>
                      </a:pPr>
                      <a:r>
                        <a:rPr lang="en-US" sz="1300" dirty="0">
                          <a:solidFill>
                            <a:srgbClr val="CBD5E1"/>
                          </a:solidFill>
                          <a:latin typeface="Consolas" pitchFamily="34" charset="0"/>
                          <a:ea typeface="Consolas" pitchFamily="34" charset="-122"/>
                          <a:cs typeface="Consolas" pitchFamily="34" charset="-120"/>
                        </a:rPr>
                        <a:t>3</a:t>
                      </a:r>
                      <a:endParaRPr lang="en-US" sz="1300" dirty="0">
                        <a:latin typeface="Consolas" charset="0"/>
                        <a:ea typeface="Consolas" charset="0"/>
                        <a:cs typeface="Consolas" charset="0"/>
                      </a:endParaRPr>
                    </a:p>
                  </a:txBody>
                  <a:tcPr marT="0" marB="0" anchor="ctr">
                    <a:lnL w="9525" cap="flat" cmpd="sng" algn="ctr">
                      <a:solidFill>
                        <a:srgbClr val="24324D"/>
                      </a:solidFill>
                      <a:prstDash val="solid"/>
                      <a:round/>
                      <a:headEnd type="none" w="med" len="med"/>
                      <a:tailEnd type="none" w="med" len="med"/>
                    </a:lnL>
                    <a:lnR w="9525" cap="flat" cmpd="sng" algn="ctr">
                      <a:solidFill>
                        <a:srgbClr val="24324D"/>
                      </a:solidFill>
                      <a:prstDash val="solid"/>
                      <a:round/>
                      <a:headEnd type="none" w="med" len="med"/>
                      <a:tailEnd type="none" w="med" len="med"/>
                    </a:lnR>
                    <a:lnT w="9525" cap="flat" cmpd="sng" algn="ctr">
                      <a:solidFill>
                        <a:srgbClr val="24324D"/>
                      </a:solidFill>
                      <a:prstDash val="solid"/>
                      <a:round/>
                      <a:headEnd type="none" w="med" len="med"/>
                      <a:tailEnd type="none" w="med" len="med"/>
                    </a:lnT>
                    <a:lnB w="9525" cap="flat" cmpd="sng" algn="ctr">
                      <a:solidFill>
                        <a:srgbClr val="24324D"/>
                      </a:solidFill>
                      <a:prstDash val="solid"/>
                      <a:round/>
                      <a:headEnd type="none" w="med" len="med"/>
                      <a:tailEnd type="none" w="med" len="med"/>
                    </a:lnB>
                    <a:solidFill>
                      <a:srgbClr val="0F3D2E"/>
                    </a:solidFill>
                  </a:tcPr>
                </a:tc>
                <a:tc>
                  <a:txBody>
                    <a:bodyPr/>
                    <a:lstStyle/>
                    <a:p>
                      <a:pPr marL="0" indent="0">
                        <a:buNone/>
                      </a:pPr>
                      <a:r>
                        <a:rPr lang="en-US" sz="1300" dirty="0">
                          <a:solidFill>
                            <a:srgbClr val="CBD5E1"/>
                          </a:solidFill>
                          <a:latin typeface="Consolas" pitchFamily="34" charset="0"/>
                          <a:ea typeface="Consolas" pitchFamily="34" charset="-122"/>
                          <a:cs typeface="Consolas" pitchFamily="34" charset="-120"/>
                        </a:rPr>
                        <a:t>6</a:t>
                      </a:r>
                      <a:endParaRPr lang="en-US" sz="1300" dirty="0">
                        <a:latin typeface="Consolas" charset="0"/>
                        <a:ea typeface="Consolas" charset="0"/>
                        <a:cs typeface="Consolas" charset="0"/>
                      </a:endParaRPr>
                    </a:p>
                  </a:txBody>
                  <a:tcPr marT="0" marB="0" anchor="ctr">
                    <a:lnL w="9525" cap="flat" cmpd="sng" algn="ctr">
                      <a:solidFill>
                        <a:srgbClr val="24324D"/>
                      </a:solidFill>
                      <a:prstDash val="solid"/>
                      <a:round/>
                      <a:headEnd type="none" w="med" len="med"/>
                      <a:tailEnd type="none" w="med" len="med"/>
                    </a:lnL>
                    <a:lnR w="9525" cap="flat" cmpd="sng" algn="ctr">
                      <a:solidFill>
                        <a:srgbClr val="24324D"/>
                      </a:solidFill>
                      <a:prstDash val="solid"/>
                      <a:round/>
                      <a:headEnd type="none" w="med" len="med"/>
                      <a:tailEnd type="none" w="med" len="med"/>
                    </a:lnR>
                    <a:lnT w="9525" cap="flat" cmpd="sng" algn="ctr">
                      <a:solidFill>
                        <a:srgbClr val="24324D"/>
                      </a:solidFill>
                      <a:prstDash val="solid"/>
                      <a:round/>
                      <a:headEnd type="none" w="med" len="med"/>
                      <a:tailEnd type="none" w="med" len="med"/>
                    </a:lnT>
                    <a:lnB w="9525" cap="flat" cmpd="sng" algn="ctr">
                      <a:solidFill>
                        <a:srgbClr val="24324D"/>
                      </a:solidFill>
                      <a:prstDash val="solid"/>
                      <a:round/>
                      <a:headEnd type="none" w="med" len="med"/>
                      <a:tailEnd type="none" w="med" len="med"/>
                    </a:lnB>
                    <a:solidFill>
                      <a:srgbClr val="0F3D2E"/>
                    </a:solidFill>
                  </a:tcPr>
                </a:tc>
                <a:tc>
                  <a:txBody>
                    <a:bodyPr/>
                    <a:lstStyle/>
                    <a:p>
                      <a:pPr marL="0" indent="0">
                        <a:buNone/>
                      </a:pPr>
                      <a:r>
                        <a:rPr lang="en-US" sz="1300" dirty="0">
                          <a:solidFill>
                            <a:srgbClr val="CBD5E1"/>
                          </a:solidFill>
                          <a:latin typeface="Consolas" pitchFamily="34" charset="0"/>
                          <a:ea typeface="Consolas" pitchFamily="34" charset="-122"/>
                          <a:cs typeface="Consolas" pitchFamily="34" charset="-120"/>
                        </a:rPr>
                        <a:t>3+6 = 9</a:t>
                      </a:r>
                      <a:endParaRPr lang="en-US" sz="1300" dirty="0">
                        <a:latin typeface="Consolas" charset="0"/>
                        <a:ea typeface="Consolas" charset="0"/>
                        <a:cs typeface="Consolas" charset="0"/>
                      </a:endParaRPr>
                    </a:p>
                  </a:txBody>
                  <a:tcPr marT="0" marB="0" anchor="ctr">
                    <a:lnL w="9525" cap="flat" cmpd="sng" algn="ctr">
                      <a:solidFill>
                        <a:srgbClr val="24324D"/>
                      </a:solidFill>
                      <a:prstDash val="solid"/>
                      <a:round/>
                      <a:headEnd type="none" w="med" len="med"/>
                      <a:tailEnd type="none" w="med" len="med"/>
                    </a:lnL>
                    <a:lnR w="9525" cap="flat" cmpd="sng" algn="ctr">
                      <a:solidFill>
                        <a:srgbClr val="24324D"/>
                      </a:solidFill>
                      <a:prstDash val="solid"/>
                      <a:round/>
                      <a:headEnd type="none" w="med" len="med"/>
                      <a:tailEnd type="none" w="med" len="med"/>
                    </a:lnR>
                    <a:lnT w="9525" cap="flat" cmpd="sng" algn="ctr">
                      <a:solidFill>
                        <a:srgbClr val="24324D"/>
                      </a:solidFill>
                      <a:prstDash val="solid"/>
                      <a:round/>
                      <a:headEnd type="none" w="med" len="med"/>
                      <a:tailEnd type="none" w="med" len="med"/>
                    </a:lnT>
                    <a:lnB w="9525" cap="flat" cmpd="sng" algn="ctr">
                      <a:solidFill>
                        <a:srgbClr val="24324D"/>
                      </a:solidFill>
                      <a:prstDash val="solid"/>
                      <a:round/>
                      <a:headEnd type="none" w="med" len="med"/>
                      <a:tailEnd type="none" w="med" len="med"/>
                    </a:lnB>
                    <a:solidFill>
                      <a:srgbClr val="0F3D2E"/>
                    </a:solidFill>
                  </a:tcPr>
                </a:tc>
                <a:tc>
                  <a:txBody>
                    <a:bodyPr/>
                    <a:lstStyle/>
                    <a:p>
                      <a:pPr marL="0" indent="0">
                        <a:buNone/>
                      </a:pPr>
                      <a:r>
                        <a:rPr lang="en-US" sz="1300" b="1" dirty="0">
                          <a:solidFill>
                            <a:srgbClr val="22C55E"/>
                          </a:solidFill>
                          <a:latin typeface="Consolas" pitchFamily="34" charset="0"/>
                          <a:ea typeface="Consolas" pitchFamily="34" charset="-122"/>
                          <a:cs typeface="Consolas" pitchFamily="34" charset="-120"/>
                        </a:rPr>
                        <a:t>✔ expand</a:t>
                      </a:r>
                      <a:endParaRPr lang="en-US" sz="1300" dirty="0">
                        <a:latin typeface="Consolas" charset="0"/>
                        <a:ea typeface="Consolas" charset="0"/>
                        <a:cs typeface="Consolas" charset="0"/>
                      </a:endParaRPr>
                    </a:p>
                  </a:txBody>
                  <a:tcPr marT="0" marB="0" anchor="ctr">
                    <a:lnL w="9525" cap="flat" cmpd="sng" algn="ctr">
                      <a:solidFill>
                        <a:srgbClr val="24324D"/>
                      </a:solidFill>
                      <a:prstDash val="solid"/>
                      <a:round/>
                      <a:headEnd type="none" w="med" len="med"/>
                      <a:tailEnd type="none" w="med" len="med"/>
                    </a:lnL>
                    <a:lnR w="9525" cap="flat" cmpd="sng" algn="ctr">
                      <a:solidFill>
                        <a:srgbClr val="24324D"/>
                      </a:solidFill>
                      <a:prstDash val="solid"/>
                      <a:round/>
                      <a:headEnd type="none" w="med" len="med"/>
                      <a:tailEnd type="none" w="med" len="med"/>
                    </a:lnR>
                    <a:lnT w="9525" cap="flat" cmpd="sng" algn="ctr">
                      <a:solidFill>
                        <a:srgbClr val="24324D"/>
                      </a:solidFill>
                      <a:prstDash val="solid"/>
                      <a:round/>
                      <a:headEnd type="none" w="med" len="med"/>
                      <a:tailEnd type="none" w="med" len="med"/>
                    </a:lnT>
                    <a:lnB w="9525" cap="flat" cmpd="sng" algn="ctr">
                      <a:solidFill>
                        <a:srgbClr val="24324D"/>
                      </a:solidFill>
                      <a:prstDash val="solid"/>
                      <a:round/>
                      <a:headEnd type="none" w="med" len="med"/>
                      <a:tailEnd type="none" w="med" len="med"/>
                    </a:lnB>
                    <a:solidFill>
                      <a:srgbClr val="0F3D2E"/>
                    </a:solidFill>
                  </a:tcPr>
                </a:tc>
                <a:extLst>
                  <a:ext uri="{0D108BD9-81ED-4DB2-BD59-A6C34878D82A}">
                    <a16:rowId xmlns:a16="http://schemas.microsoft.com/office/drawing/2014/main" val="10002"/>
                  </a:ext>
                </a:extLst>
              </a:tr>
            </a:tbl>
          </a:graphicData>
        </a:graphic>
      </p:graphicFrame>
      <p:sp>
        <p:nvSpPr>
          <p:cNvPr id="118" name="Result"/>
          <p:cNvSpPr/>
          <p:nvPr/>
        </p:nvSpPr>
        <p:spPr>
          <a:xfrm>
            <a:off x="6355080" y="4572000"/>
            <a:ext cx="5285232" cy="1051560"/>
          </a:xfrm>
          <a:prstGeom prst="roundRect">
            <a:avLst>
              <a:gd name="adj" fmla="val 6957"/>
            </a:avLst>
          </a:prstGeom>
          <a:solidFill>
            <a:schemeClr val="accent4">
              <a:alpha val="12000"/>
            </a:schemeClr>
          </a:solidFill>
          <a:ln w="19050">
            <a:solidFill>
              <a:schemeClr val="accent4"/>
            </a:solidFill>
            <a:prstDash val="solid"/>
          </a:ln>
        </p:spPr>
      </p:sp>
      <p:sp>
        <p:nvSpPr>
          <p:cNvPr id="119" name="Text 116"/>
          <p:cNvSpPr txBox="1"/>
          <p:nvPr/>
        </p:nvSpPr>
        <p:spPr>
          <a:xfrm>
            <a:off x="6519672" y="4663440"/>
            <a:ext cx="1828800" cy="182880"/>
          </a:xfrm>
          <a:prstGeom prst="rect">
            <a:avLst/>
          </a:prstGeom>
          <a:noFill/>
          <a:ln/>
        </p:spPr>
        <p:txBody>
          <a:bodyPr wrap="square" lIns="0" tIns="0" rIns="0" bIns="0" rtlCol="0" anchor="t"/>
          <a:lstStyle/>
          <a:p>
            <a:pPr marL="0" indent="0">
              <a:buNone/>
            </a:pPr>
            <a:r>
              <a:rPr lang="en-US" sz="900" b="1" dirty="0">
                <a:solidFill>
                  <a:schemeClr val="accent4"/>
                </a:solidFill>
                <a:latin typeface="Consolas" pitchFamily="34" charset="0"/>
                <a:ea typeface="Consolas" pitchFamily="34" charset="-122"/>
                <a:cs typeface="Consolas" pitchFamily="34" charset="-120"/>
              </a:rPr>
              <a:t>RESULT</a:t>
            </a:r>
            <a:endParaRPr lang="en-US" sz="900" dirty="0"/>
          </a:p>
        </p:txBody>
      </p:sp>
      <p:sp>
        <p:nvSpPr>
          <p:cNvPr id="120" name="Text 117"/>
          <p:cNvSpPr txBox="1"/>
          <p:nvPr/>
        </p:nvSpPr>
        <p:spPr>
          <a:xfrm>
            <a:off x="6519672" y="4892040"/>
            <a:ext cx="5010912" cy="274320"/>
          </a:xfrm>
          <a:prstGeom prst="rect">
            <a:avLst/>
          </a:prstGeom>
          <a:noFill/>
          <a:ln/>
        </p:spPr>
        <p:txBody>
          <a:bodyPr wrap="square" lIns="0" tIns="0" rIns="0" bIns="0" rtlCol="0" anchor="t"/>
          <a:lstStyle/>
          <a:p>
            <a:pPr marL="0" indent="0">
              <a:buNone/>
            </a:pPr>
            <a:r>
              <a:rPr lang="en-US" sz="1200" b="1" dirty="0">
                <a:solidFill>
                  <a:schemeClr val="accent4"/>
                </a:solidFill>
                <a:latin typeface="Consolas" pitchFamily="34" charset="0"/>
                <a:ea typeface="Consolas" pitchFamily="34" charset="-122"/>
                <a:cs typeface="Consolas" pitchFamily="34" charset="-120"/>
              </a:rPr>
              <a:t>A3 → B3 → B4 → B5 → C5 → D5 → D4 → D3 → E3 → F3</a:t>
            </a:r>
            <a:endParaRPr lang="en-US" sz="1200" dirty="0"/>
          </a:p>
        </p:txBody>
      </p:sp>
      <p:sp>
        <p:nvSpPr>
          <p:cNvPr id="121" name="Text 118"/>
          <p:cNvSpPr txBox="1"/>
          <p:nvPr/>
        </p:nvSpPr>
        <p:spPr>
          <a:xfrm>
            <a:off x="6519672" y="5212080"/>
            <a:ext cx="5010912" cy="365760"/>
          </a:xfrm>
          <a:prstGeom prst="rect">
            <a:avLst/>
          </a:prstGeom>
          <a:noFill/>
          <a:ln/>
        </p:spPr>
        <p:txBody>
          <a:bodyPr wrap="square" lIns="0" tIns="0" rIns="0" bIns="0" rtlCol="0" anchor="t"/>
          <a:lstStyle/>
          <a:p>
            <a:pPr marL="0" indent="0">
              <a:buNone/>
            </a:pPr>
            <a:r>
              <a:rPr lang="en-US" sz="1600" b="1" dirty="0">
                <a:solidFill>
                  <a:schemeClr val="tx1"/>
                </a:solidFill>
              </a:rPr>
              <a:t>Total cost = 9 moves  ·  15 of 26 free cells expanded</a:t>
            </a:r>
            <a:endParaRPr lang="en-US" sz="1600" dirty="0"/>
          </a:p>
        </p:txBody>
      </p:sp>
      <p:sp>
        <p:nvSpPr>
          <p:cNvPr id="122" name="Text 119"/>
          <p:cNvSpPr txBox="1"/>
          <p:nvPr/>
        </p:nvSpPr>
        <p:spPr>
          <a:xfrm>
            <a:off x="6355080" y="5715000"/>
            <a:ext cx="5285232" cy="594360"/>
          </a:xfrm>
          <a:prstGeom prst="rect">
            <a:avLst/>
          </a:prstGeom>
          <a:noFill/>
          <a:ln/>
        </p:spPr>
        <p:txBody>
          <a:bodyPr wrap="square" lIns="0" tIns="0" rIns="0" bIns="0" rtlCol="0" anchor="t"/>
          <a:lstStyle/>
          <a:p>
            <a:pPr marL="0" indent="0">
              <a:buNone/>
            </a:pPr>
            <a:r>
              <a:rPr lang="en-US" sz="1200" dirty="0">
                <a:solidFill>
                  <a:schemeClr val="tx2"/>
                </a:solidFill>
              </a:rPr>
              <a:t>A* returns a minimum-cost path; other equal-cost routes exist (e.g. via A4–A5). The top route is a dead end and a detour via D2–E2–F2 would cost 11.</a:t>
            </a:r>
            <a:endParaRPr lang="en-US" sz="1200" dirty="0"/>
          </a:p>
        </p:txBody>
      </p:sp>
      <p:sp>
        <p:nvSpPr>
          <p:cNvPr id="123" name="Text 120"/>
          <p:cNvSpPr txBox="1"/>
          <p:nvPr/>
        </p:nvSpPr>
        <p:spPr>
          <a:xfrm>
            <a:off x="5852160" y="6473952"/>
            <a:ext cx="5212080" cy="228600"/>
          </a:xfrm>
          <a:prstGeom prst="rect">
            <a:avLst/>
          </a:prstGeom>
          <a:noFill/>
          <a:ln/>
        </p:spPr>
        <p:txBody>
          <a:bodyPr wrap="square" lIns="0" tIns="0" rIns="0" bIns="0" rtlCol="0" anchor="ctr"/>
          <a:lstStyle/>
          <a:p>
            <a:pPr marL="0" indent="0" algn="r">
              <a:buNone/>
            </a:pPr>
            <a:r>
              <a:rPr lang="en-US" sz="900" b="1" dirty="0">
                <a:solidFill>
                  <a:schemeClr val="accent2"/>
                </a:solidFill>
                <a:latin typeface="Consolas" pitchFamily="34" charset="0"/>
                <a:ea typeface="Consolas" pitchFamily="34" charset="-122"/>
                <a:cs typeface="Consolas" pitchFamily="34" charset="-120"/>
              </a:rPr>
              <a:t>RUBRIC · A* APPLICATION · 5 MARKS</a:t>
            </a:r>
            <a:endParaRPr lang="en-US" sz="900" dirty="0"/>
          </a:p>
        </p:txBody>
      </p:sp>
      <p:sp>
        <p:nvSpPr>
          <p:cNvPr id="124" name="Slide Number Placeholder 0"/>
          <p:cNvSpPr>
            <a:spLocks noGrp="1"/>
          </p:cNvSpPr>
          <p:nvPr>
            <p:ph type="sldNum" sz="quarter" idx="4294967295"/>
          </p:nvPr>
        </p:nvSpPr>
        <p:spPr>
          <a:xfrm>
            <a:off x="11183112" y="6473952"/>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tx2"/>
                </a:solidFill>
                <a:latin typeface="Consolas"/>
                <a:ea typeface="Consolas"/>
                <a:cs typeface="Consolas"/>
              </a:defRPr>
            </a:lvl1pPr>
          </a:lstStyle>
          <a:p>
            <a:pPr algn="r"/>
            <a:fld id="{F7021451-1387-4CA6-816F-3879F97B5CBC}" type="slidenum">
              <a:rPr lang="en-US" b="0"/>
              <a:t>8</a:t>
            </a:fld>
            <a:endParaRPr lang="en-US"/>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74320"/>
            <a:ext cx="7315200" cy="201168"/>
          </a:xfrm>
          <a:prstGeom prst="rect">
            <a:avLst/>
          </a:prstGeom>
          <a:noFill/>
          <a:ln/>
        </p:spPr>
        <p:txBody>
          <a:bodyPr wrap="square" lIns="0" tIns="0" rIns="0" bIns="0" rtlCol="0" anchor="t"/>
          <a:lstStyle/>
          <a:p>
            <a:pPr marL="0" indent="0">
              <a:buNone/>
            </a:pPr>
            <a:r>
              <a:rPr lang="en-US" sz="1000" b="1" dirty="0">
                <a:solidFill>
                  <a:schemeClr val="accent1"/>
                </a:solidFill>
                <a:latin typeface="Consolas" pitchFamily="34" charset="0"/>
                <a:ea typeface="Consolas" pitchFamily="34" charset="-122"/>
                <a:cs typeface="Consolas" pitchFamily="34" charset="-120"/>
              </a:rPr>
              <a:t>PHASE 06 · JUSTIFICATION</a:t>
            </a:r>
            <a:endParaRPr lang="en-US" sz="1000" dirty="0"/>
          </a:p>
        </p:txBody>
      </p:sp>
      <p:sp>
        <p:nvSpPr>
          <p:cNvPr id="3" name="Shape 1"/>
          <p:cNvSpPr/>
          <p:nvPr/>
        </p:nvSpPr>
        <p:spPr>
          <a:xfrm>
            <a:off x="10314432" y="301752"/>
            <a:ext cx="109728" cy="109728"/>
          </a:xfrm>
          <a:prstGeom prst="rect">
            <a:avLst/>
          </a:prstGeom>
          <a:solidFill>
            <a:schemeClr val="accent1"/>
          </a:solidFill>
          <a:ln w="12700">
            <a:solidFill>
              <a:schemeClr val="accent1"/>
            </a:solidFill>
            <a:prstDash val="solid"/>
          </a:ln>
        </p:spPr>
      </p:sp>
      <p:sp>
        <p:nvSpPr>
          <p:cNvPr id="4" name="Shape 2"/>
          <p:cNvSpPr/>
          <p:nvPr/>
        </p:nvSpPr>
        <p:spPr>
          <a:xfrm>
            <a:off x="10488168" y="301752"/>
            <a:ext cx="109728" cy="109728"/>
          </a:xfrm>
          <a:prstGeom prst="rect">
            <a:avLst/>
          </a:prstGeom>
          <a:solidFill>
            <a:schemeClr val="accent1"/>
          </a:solidFill>
          <a:ln w="12700">
            <a:solidFill>
              <a:schemeClr val="accent1"/>
            </a:solidFill>
            <a:prstDash val="solid"/>
          </a:ln>
        </p:spPr>
      </p:sp>
      <p:sp>
        <p:nvSpPr>
          <p:cNvPr id="5" name="Shape 3"/>
          <p:cNvSpPr/>
          <p:nvPr/>
        </p:nvSpPr>
        <p:spPr>
          <a:xfrm>
            <a:off x="10661904" y="301752"/>
            <a:ext cx="109728" cy="109728"/>
          </a:xfrm>
          <a:prstGeom prst="rect">
            <a:avLst/>
          </a:prstGeom>
          <a:solidFill>
            <a:schemeClr val="accent1"/>
          </a:solidFill>
          <a:ln w="12700">
            <a:solidFill>
              <a:schemeClr val="accent1"/>
            </a:solidFill>
            <a:prstDash val="solid"/>
          </a:ln>
        </p:spPr>
      </p:sp>
      <p:sp>
        <p:nvSpPr>
          <p:cNvPr id="6" name="Shape 4"/>
          <p:cNvSpPr/>
          <p:nvPr/>
        </p:nvSpPr>
        <p:spPr>
          <a:xfrm>
            <a:off x="10835640" y="301752"/>
            <a:ext cx="109728" cy="109728"/>
          </a:xfrm>
          <a:prstGeom prst="rect">
            <a:avLst/>
          </a:prstGeom>
          <a:solidFill>
            <a:schemeClr val="accent1"/>
          </a:solidFill>
          <a:ln w="12700">
            <a:solidFill>
              <a:schemeClr val="accent1"/>
            </a:solidFill>
            <a:prstDash val="solid"/>
          </a:ln>
        </p:spPr>
      </p:sp>
      <p:sp>
        <p:nvSpPr>
          <p:cNvPr id="7" name="Shape 5"/>
          <p:cNvSpPr/>
          <p:nvPr/>
        </p:nvSpPr>
        <p:spPr>
          <a:xfrm>
            <a:off x="11009376" y="301752"/>
            <a:ext cx="109728" cy="109728"/>
          </a:xfrm>
          <a:prstGeom prst="rect">
            <a:avLst/>
          </a:prstGeom>
          <a:solidFill>
            <a:schemeClr val="accent1"/>
          </a:solidFill>
          <a:ln w="12700">
            <a:solidFill>
              <a:schemeClr val="accent1"/>
            </a:solidFill>
            <a:prstDash val="solid"/>
          </a:ln>
        </p:spPr>
      </p:sp>
      <p:sp>
        <p:nvSpPr>
          <p:cNvPr id="8" name="Shape 6"/>
          <p:cNvSpPr/>
          <p:nvPr/>
        </p:nvSpPr>
        <p:spPr>
          <a:xfrm>
            <a:off x="11183112" y="301752"/>
            <a:ext cx="109728" cy="109728"/>
          </a:xfrm>
          <a:prstGeom prst="rect">
            <a:avLst/>
          </a:prstGeom>
          <a:solidFill>
            <a:schemeClr val="accent1"/>
          </a:solidFill>
          <a:ln w="12700">
            <a:solidFill>
              <a:schemeClr val="accent1"/>
            </a:solidFill>
            <a:prstDash val="solid"/>
          </a:ln>
        </p:spPr>
      </p:sp>
      <p:sp>
        <p:nvSpPr>
          <p:cNvPr id="9" name="Shape 7"/>
          <p:cNvSpPr/>
          <p:nvPr/>
        </p:nvSpPr>
        <p:spPr>
          <a:xfrm>
            <a:off x="11356848" y="301752"/>
            <a:ext cx="109728" cy="109728"/>
          </a:xfrm>
          <a:prstGeom prst="rect">
            <a:avLst/>
          </a:prstGeom>
          <a:solidFill>
            <a:schemeClr val="accent5"/>
          </a:solidFill>
          <a:ln w="12700">
            <a:solidFill>
              <a:schemeClr val="accent5"/>
            </a:solidFill>
            <a:prstDash val="solid"/>
          </a:ln>
        </p:spPr>
      </p:sp>
      <p:sp>
        <p:nvSpPr>
          <p:cNvPr id="10" name="Shape 8"/>
          <p:cNvSpPr/>
          <p:nvPr/>
        </p:nvSpPr>
        <p:spPr>
          <a:xfrm>
            <a:off x="11530584" y="301752"/>
            <a:ext cx="109728" cy="109728"/>
          </a:xfrm>
          <a:prstGeom prst="rect">
            <a:avLst/>
          </a:prstGeom>
          <a:solidFill>
            <a:schemeClr val="accent5"/>
          </a:solidFill>
          <a:ln w="12700">
            <a:solidFill>
              <a:schemeClr val="accent5"/>
            </a:solidFill>
            <a:prstDash val="solid"/>
          </a:ln>
        </p:spPr>
      </p:sp>
      <p:sp>
        <p:nvSpPr>
          <p:cNvPr id="11" name="Text 0"/>
          <p:cNvSpPr>
            <a:spLocks noGrp="1"/>
          </p:cNvSpPr>
          <p:nvPr>
            <p:ph type="title" idx="100" hasCustomPrompt="1"/>
          </p:nvPr>
        </p:nvSpPr>
        <p:spPr>
          <a:xfrm>
            <a:off x="548640" y="530352"/>
            <a:ext cx="11091672" cy="640080"/>
          </a:xfrm>
          <a:prstGeom prst="rect">
            <a:avLst/>
          </a:prstGeom>
          <a:noFill/>
          <a:ln/>
        </p:spPr>
        <p:txBody>
          <a:bodyPr wrap="square" lIns="0" tIns="0" rIns="0" bIns="0" rtlCol="0" anchor="ctr"/>
          <a:lstStyle/>
          <a:p>
            <a:pPr marL="0" indent="0" algn="l">
              <a:buNone/>
            </a:pPr>
            <a:r>
              <a:rPr lang="en-US" sz="3200" b="1" dirty="0">
                <a:solidFill>
                  <a:schemeClr val="tx1"/>
                </a:solidFill>
              </a:rPr>
              <a:t>Why A* over other search methods?</a:t>
            </a:r>
            <a:endParaRPr lang="en-US" sz="3200" dirty="0"/>
          </a:p>
        </p:txBody>
      </p:sp>
      <p:sp>
        <p:nvSpPr>
          <p:cNvPr id="12" name="BFS card"/>
          <p:cNvSpPr/>
          <p:nvPr/>
        </p:nvSpPr>
        <p:spPr>
          <a:xfrm>
            <a:off x="548640" y="1417320"/>
            <a:ext cx="2670048" cy="4343400"/>
          </a:xfrm>
          <a:prstGeom prst="roundRect">
            <a:avLst>
              <a:gd name="adj" fmla="val 2740"/>
            </a:avLst>
          </a:prstGeom>
          <a:solidFill>
            <a:schemeClr val="bg2"/>
          </a:solidFill>
          <a:ln w="12700">
            <a:solidFill>
              <a:schemeClr val="accent5"/>
            </a:solidFill>
            <a:prstDash val="solid"/>
          </a:ln>
        </p:spPr>
      </p:sp>
      <p:sp>
        <p:nvSpPr>
          <p:cNvPr id="13" name="Text 11"/>
          <p:cNvSpPr txBox="1"/>
          <p:nvPr/>
        </p:nvSpPr>
        <p:spPr>
          <a:xfrm>
            <a:off x="749808" y="1572768"/>
            <a:ext cx="2304288" cy="457200"/>
          </a:xfrm>
          <a:prstGeom prst="rect">
            <a:avLst/>
          </a:prstGeom>
          <a:noFill/>
          <a:ln/>
        </p:spPr>
        <p:txBody>
          <a:bodyPr wrap="square" lIns="0" tIns="0" rIns="0" bIns="0" rtlCol="0" anchor="t"/>
          <a:lstStyle/>
          <a:p>
            <a:pPr marL="0" indent="0">
              <a:buNone/>
            </a:pPr>
            <a:r>
              <a:rPr lang="en-US" sz="2800" b="1" dirty="0">
                <a:solidFill>
                  <a:schemeClr val="tx1"/>
                </a:solidFill>
              </a:rPr>
              <a:t>BFS</a:t>
            </a:r>
            <a:endParaRPr lang="en-US" sz="2800" dirty="0"/>
          </a:p>
        </p:txBody>
      </p:sp>
      <p:sp>
        <p:nvSpPr>
          <p:cNvPr id="14" name="Text 12"/>
          <p:cNvSpPr txBox="1"/>
          <p:nvPr/>
        </p:nvSpPr>
        <p:spPr>
          <a:xfrm>
            <a:off x="749808" y="2148840"/>
            <a:ext cx="1828800" cy="182880"/>
          </a:xfrm>
          <a:prstGeom prst="rect">
            <a:avLst/>
          </a:prstGeom>
          <a:noFill/>
          <a:ln/>
        </p:spPr>
        <p:txBody>
          <a:bodyPr wrap="square" lIns="0" tIns="0" rIns="0" bIns="0" rtlCol="0" anchor="t"/>
          <a:lstStyle/>
          <a:p>
            <a:pPr marL="0" indent="0">
              <a:buNone/>
            </a:pPr>
            <a:r>
              <a:rPr lang="en-US" sz="900" dirty="0">
                <a:solidFill>
                  <a:schemeClr val="tx2"/>
                </a:solidFill>
                <a:latin typeface="Consolas" pitchFamily="34" charset="0"/>
                <a:ea typeface="Consolas" pitchFamily="34" charset="-122"/>
                <a:cs typeface="Consolas" pitchFamily="34" charset="-120"/>
              </a:rPr>
              <a:t>LOOKS AT</a:t>
            </a:r>
            <a:endParaRPr lang="en-US" sz="900" dirty="0"/>
          </a:p>
        </p:txBody>
      </p:sp>
      <p:sp>
        <p:nvSpPr>
          <p:cNvPr id="15" name="Text 13"/>
          <p:cNvSpPr txBox="1"/>
          <p:nvPr/>
        </p:nvSpPr>
        <p:spPr>
          <a:xfrm>
            <a:off x="749808" y="2359152"/>
            <a:ext cx="2304288" cy="347472"/>
          </a:xfrm>
          <a:prstGeom prst="rect">
            <a:avLst/>
          </a:prstGeom>
          <a:noFill/>
          <a:ln/>
        </p:spPr>
        <p:txBody>
          <a:bodyPr wrap="square" lIns="0" tIns="0" rIns="0" bIns="0" rtlCol="0" anchor="t"/>
          <a:lstStyle/>
          <a:p>
            <a:pPr marL="0" indent="0">
              <a:buNone/>
            </a:pPr>
            <a:r>
              <a:rPr lang="en-US" sz="1800" b="1" dirty="0">
                <a:solidFill>
                  <a:schemeClr val="accent2"/>
                </a:solidFill>
                <a:latin typeface="Consolas" pitchFamily="34" charset="0"/>
                <a:ea typeface="Consolas" pitchFamily="34" charset="-122"/>
                <a:cs typeface="Consolas" pitchFamily="34" charset="-120"/>
              </a:rPr>
              <a:t>g only</a:t>
            </a:r>
            <a:endParaRPr lang="en-US" sz="1800" dirty="0"/>
          </a:p>
        </p:txBody>
      </p:sp>
      <p:sp>
        <p:nvSpPr>
          <p:cNvPr id="16" name="Text 14"/>
          <p:cNvSpPr txBox="1"/>
          <p:nvPr/>
        </p:nvSpPr>
        <p:spPr>
          <a:xfrm>
            <a:off x="749808" y="2743200"/>
            <a:ext cx="2304288" cy="457200"/>
          </a:xfrm>
          <a:prstGeom prst="rect">
            <a:avLst/>
          </a:prstGeom>
          <a:noFill/>
          <a:ln/>
        </p:spPr>
        <p:txBody>
          <a:bodyPr wrap="square" lIns="0" tIns="0" rIns="0" bIns="0" rtlCol="0" anchor="t"/>
          <a:lstStyle/>
          <a:p>
            <a:pPr marL="0" indent="0">
              <a:buNone/>
            </a:pPr>
            <a:r>
              <a:rPr lang="en-US" sz="1200" dirty="0">
                <a:solidFill>
                  <a:schemeClr val="tx2"/>
                </a:solidFill>
              </a:rPr>
              <a:t>distance from start</a:t>
            </a:r>
            <a:endParaRPr lang="en-US" sz="1200" dirty="0"/>
          </a:p>
        </p:txBody>
      </p:sp>
      <p:sp>
        <p:nvSpPr>
          <p:cNvPr id="17" name="Text 15"/>
          <p:cNvSpPr txBox="1"/>
          <p:nvPr/>
        </p:nvSpPr>
        <p:spPr>
          <a:xfrm>
            <a:off x="749808" y="3291840"/>
            <a:ext cx="2304288" cy="182880"/>
          </a:xfrm>
          <a:prstGeom prst="rect">
            <a:avLst/>
          </a:prstGeom>
          <a:noFill/>
          <a:ln/>
        </p:spPr>
        <p:txBody>
          <a:bodyPr wrap="square" lIns="0" tIns="0" rIns="0" bIns="0" rtlCol="0" anchor="t"/>
          <a:lstStyle/>
          <a:p>
            <a:pPr marL="0" indent="0">
              <a:buNone/>
            </a:pPr>
            <a:r>
              <a:rPr lang="en-US" sz="900" dirty="0">
                <a:solidFill>
                  <a:schemeClr val="tx2"/>
                </a:solidFill>
                <a:latin typeface="Consolas" pitchFamily="34" charset="0"/>
                <a:ea typeface="Consolas" pitchFamily="34" charset="-122"/>
                <a:cs typeface="Consolas" pitchFamily="34" charset="-120"/>
              </a:rPr>
              <a:t>WEAKNESS / STRENGTH</a:t>
            </a:r>
            <a:endParaRPr lang="en-US" sz="900" dirty="0"/>
          </a:p>
        </p:txBody>
      </p:sp>
      <p:sp>
        <p:nvSpPr>
          <p:cNvPr id="18" name="Text 16"/>
          <p:cNvSpPr txBox="1"/>
          <p:nvPr/>
        </p:nvSpPr>
        <p:spPr>
          <a:xfrm>
            <a:off x="749808" y="3520440"/>
            <a:ext cx="2304288" cy="548640"/>
          </a:xfrm>
          <a:prstGeom prst="rect">
            <a:avLst/>
          </a:prstGeom>
          <a:noFill/>
          <a:ln/>
        </p:spPr>
        <p:txBody>
          <a:bodyPr wrap="square" lIns="0" tIns="0" rIns="0" bIns="0" rtlCol="0" anchor="t"/>
          <a:lstStyle/>
          <a:p>
            <a:pPr marL="0" indent="0">
              <a:buNone/>
            </a:pPr>
            <a:r>
              <a:rPr lang="en-US" sz="1400" b="1" dirty="0">
                <a:solidFill>
                  <a:schemeClr val="tx1"/>
                </a:solidFill>
              </a:rPr>
              <a:t>Expands in every direction</a:t>
            </a:r>
            <a:endParaRPr lang="en-US" sz="1400" dirty="0"/>
          </a:p>
        </p:txBody>
      </p:sp>
      <p:sp>
        <p:nvSpPr>
          <p:cNvPr id="19" name="Shape 17"/>
          <p:cNvSpPr/>
          <p:nvPr/>
        </p:nvSpPr>
        <p:spPr>
          <a:xfrm>
            <a:off x="749808" y="4160520"/>
            <a:ext cx="2267712" cy="0"/>
          </a:xfrm>
          <a:prstGeom prst="line">
            <a:avLst/>
          </a:prstGeom>
          <a:noFill/>
          <a:ln w="12700">
            <a:solidFill>
              <a:schemeClr val="accent5"/>
            </a:solidFill>
            <a:prstDash val="solid"/>
          </a:ln>
        </p:spPr>
      </p:sp>
      <p:sp>
        <p:nvSpPr>
          <p:cNvPr id="20" name="Text 18"/>
          <p:cNvSpPr txBox="1"/>
          <p:nvPr/>
        </p:nvSpPr>
        <p:spPr>
          <a:xfrm>
            <a:off x="749808" y="4251960"/>
            <a:ext cx="914400" cy="640080"/>
          </a:xfrm>
          <a:prstGeom prst="rect">
            <a:avLst/>
          </a:prstGeom>
          <a:noFill/>
          <a:ln/>
        </p:spPr>
        <p:txBody>
          <a:bodyPr wrap="square" lIns="0" tIns="0" rIns="0" bIns="0" rtlCol="0" anchor="ctr"/>
          <a:lstStyle/>
          <a:p>
            <a:pPr marL="0" indent="0">
              <a:buNone/>
            </a:pPr>
            <a:r>
              <a:rPr lang="en-US" sz="4000" b="1" dirty="0">
                <a:solidFill>
                  <a:schemeClr val="tx1"/>
                </a:solidFill>
              </a:rPr>
              <a:t>23</a:t>
            </a:r>
            <a:endParaRPr lang="en-US" sz="4000" dirty="0"/>
          </a:p>
        </p:txBody>
      </p:sp>
      <p:sp>
        <p:nvSpPr>
          <p:cNvPr id="21" name="Text 19"/>
          <p:cNvSpPr txBox="1"/>
          <p:nvPr/>
        </p:nvSpPr>
        <p:spPr>
          <a:xfrm>
            <a:off x="1645920" y="4370832"/>
            <a:ext cx="1371600" cy="182880"/>
          </a:xfrm>
          <a:prstGeom prst="rect">
            <a:avLst/>
          </a:prstGeom>
          <a:noFill/>
          <a:ln/>
        </p:spPr>
        <p:txBody>
          <a:bodyPr wrap="square" lIns="0" tIns="0" rIns="0" bIns="0" rtlCol="0" anchor="t"/>
          <a:lstStyle/>
          <a:p>
            <a:pPr marL="0" indent="0">
              <a:buNone/>
            </a:pPr>
            <a:r>
              <a:rPr lang="en-US" sz="900" dirty="0">
                <a:solidFill>
                  <a:schemeClr val="tx2"/>
                </a:solidFill>
                <a:latin typeface="Consolas" pitchFamily="34" charset="0"/>
                <a:ea typeface="Consolas" pitchFamily="34" charset="-122"/>
                <a:cs typeface="Consolas" pitchFamily="34" charset="-120"/>
              </a:rPr>
              <a:t>states expanded</a:t>
            </a:r>
            <a:endParaRPr lang="en-US" sz="900" dirty="0"/>
          </a:p>
        </p:txBody>
      </p:sp>
      <p:sp>
        <p:nvSpPr>
          <p:cNvPr id="22" name="Text 20"/>
          <p:cNvSpPr txBox="1"/>
          <p:nvPr/>
        </p:nvSpPr>
        <p:spPr>
          <a:xfrm>
            <a:off x="1645920" y="4590288"/>
            <a:ext cx="1371600" cy="228600"/>
          </a:xfrm>
          <a:prstGeom prst="rect">
            <a:avLst/>
          </a:prstGeom>
          <a:noFill/>
          <a:ln/>
        </p:spPr>
        <p:txBody>
          <a:bodyPr wrap="square" lIns="0" tIns="0" rIns="0" bIns="0" rtlCol="0" anchor="t"/>
          <a:lstStyle/>
          <a:p>
            <a:pPr marL="0" indent="0">
              <a:buNone/>
            </a:pPr>
            <a:r>
              <a:rPr lang="en-US" sz="1200" b="1" dirty="0">
                <a:solidFill>
                  <a:schemeClr val="accent4"/>
                </a:solidFill>
                <a:latin typeface="Consolas" pitchFamily="34" charset="0"/>
                <a:ea typeface="Consolas" pitchFamily="34" charset="-122"/>
                <a:cs typeface="Consolas" pitchFamily="34" charset="-120"/>
              </a:rPr>
              <a:t>path cost 9</a:t>
            </a:r>
            <a:endParaRPr lang="en-US" sz="1200" dirty="0"/>
          </a:p>
        </p:txBody>
      </p:sp>
      <p:sp>
        <p:nvSpPr>
          <p:cNvPr id="23" name="Text 21"/>
          <p:cNvSpPr txBox="1"/>
          <p:nvPr/>
        </p:nvSpPr>
        <p:spPr>
          <a:xfrm>
            <a:off x="749808" y="5029200"/>
            <a:ext cx="2304288" cy="548640"/>
          </a:xfrm>
          <a:prstGeom prst="rect">
            <a:avLst/>
          </a:prstGeom>
          <a:noFill/>
          <a:ln/>
        </p:spPr>
        <p:txBody>
          <a:bodyPr wrap="square" lIns="0" tIns="0" rIns="0" bIns="0" rtlCol="0" anchor="t"/>
          <a:lstStyle/>
          <a:p>
            <a:pPr marL="0" indent="0">
              <a:buNone/>
            </a:pPr>
            <a:r>
              <a:rPr lang="en-US" sz="1100" dirty="0">
                <a:solidFill>
                  <a:schemeClr val="tx2"/>
                </a:solidFill>
              </a:rPr>
              <a:t>finds cost 9, but searches widely</a:t>
            </a:r>
            <a:endParaRPr lang="en-US" sz="1100" dirty="0"/>
          </a:p>
        </p:txBody>
      </p:sp>
      <p:sp>
        <p:nvSpPr>
          <p:cNvPr id="24" name="DFS card"/>
          <p:cNvSpPr/>
          <p:nvPr/>
        </p:nvSpPr>
        <p:spPr>
          <a:xfrm>
            <a:off x="3346704" y="1417320"/>
            <a:ext cx="2670048" cy="4343400"/>
          </a:xfrm>
          <a:prstGeom prst="roundRect">
            <a:avLst>
              <a:gd name="adj" fmla="val 2740"/>
            </a:avLst>
          </a:prstGeom>
          <a:solidFill>
            <a:schemeClr val="bg2"/>
          </a:solidFill>
          <a:ln w="12700">
            <a:solidFill>
              <a:schemeClr val="accent5"/>
            </a:solidFill>
            <a:prstDash val="solid"/>
          </a:ln>
        </p:spPr>
      </p:sp>
      <p:sp>
        <p:nvSpPr>
          <p:cNvPr id="25" name="Text 23"/>
          <p:cNvSpPr txBox="1"/>
          <p:nvPr/>
        </p:nvSpPr>
        <p:spPr>
          <a:xfrm>
            <a:off x="3547872" y="1572768"/>
            <a:ext cx="2304288" cy="457200"/>
          </a:xfrm>
          <a:prstGeom prst="rect">
            <a:avLst/>
          </a:prstGeom>
          <a:noFill/>
          <a:ln/>
        </p:spPr>
        <p:txBody>
          <a:bodyPr wrap="square" lIns="0" tIns="0" rIns="0" bIns="0" rtlCol="0" anchor="t"/>
          <a:lstStyle/>
          <a:p>
            <a:pPr marL="0" indent="0">
              <a:buNone/>
            </a:pPr>
            <a:r>
              <a:rPr lang="en-US" sz="2800" b="1" dirty="0">
                <a:solidFill>
                  <a:schemeClr val="tx1"/>
                </a:solidFill>
              </a:rPr>
              <a:t>DFS</a:t>
            </a:r>
            <a:endParaRPr lang="en-US" sz="2800" dirty="0"/>
          </a:p>
        </p:txBody>
      </p:sp>
      <p:sp>
        <p:nvSpPr>
          <p:cNvPr id="26" name="Text 24"/>
          <p:cNvSpPr txBox="1"/>
          <p:nvPr/>
        </p:nvSpPr>
        <p:spPr>
          <a:xfrm>
            <a:off x="3547872" y="2148840"/>
            <a:ext cx="1828800" cy="182880"/>
          </a:xfrm>
          <a:prstGeom prst="rect">
            <a:avLst/>
          </a:prstGeom>
          <a:noFill/>
          <a:ln/>
        </p:spPr>
        <p:txBody>
          <a:bodyPr wrap="square" lIns="0" tIns="0" rIns="0" bIns="0" rtlCol="0" anchor="t"/>
          <a:lstStyle/>
          <a:p>
            <a:pPr marL="0" indent="0">
              <a:buNone/>
            </a:pPr>
            <a:r>
              <a:rPr lang="en-US" sz="900" dirty="0">
                <a:solidFill>
                  <a:schemeClr val="tx2"/>
                </a:solidFill>
                <a:latin typeface="Consolas" pitchFamily="34" charset="0"/>
                <a:ea typeface="Consolas" pitchFamily="34" charset="-122"/>
                <a:cs typeface="Consolas" pitchFamily="34" charset="-120"/>
              </a:rPr>
              <a:t>LOOKS AT</a:t>
            </a:r>
            <a:endParaRPr lang="en-US" sz="900" dirty="0"/>
          </a:p>
        </p:txBody>
      </p:sp>
      <p:sp>
        <p:nvSpPr>
          <p:cNvPr id="27" name="Text 25"/>
          <p:cNvSpPr txBox="1"/>
          <p:nvPr/>
        </p:nvSpPr>
        <p:spPr>
          <a:xfrm>
            <a:off x="3547872" y="2359152"/>
            <a:ext cx="2304288" cy="347472"/>
          </a:xfrm>
          <a:prstGeom prst="rect">
            <a:avLst/>
          </a:prstGeom>
          <a:noFill/>
          <a:ln/>
        </p:spPr>
        <p:txBody>
          <a:bodyPr wrap="square" lIns="0" tIns="0" rIns="0" bIns="0" rtlCol="0" anchor="t"/>
          <a:lstStyle/>
          <a:p>
            <a:pPr marL="0" indent="0">
              <a:buNone/>
            </a:pPr>
            <a:r>
              <a:rPr lang="en-US" sz="1800" b="1" dirty="0">
                <a:solidFill>
                  <a:schemeClr val="tx2"/>
                </a:solidFill>
                <a:latin typeface="Consolas" pitchFamily="34" charset="0"/>
                <a:ea typeface="Consolas" pitchFamily="34" charset="-122"/>
                <a:cs typeface="Consolas" pitchFamily="34" charset="-120"/>
              </a:rPr>
              <a:t>none</a:t>
            </a:r>
            <a:endParaRPr lang="en-US" sz="1800" dirty="0"/>
          </a:p>
        </p:txBody>
      </p:sp>
      <p:sp>
        <p:nvSpPr>
          <p:cNvPr id="28" name="Text 26"/>
          <p:cNvSpPr txBox="1"/>
          <p:nvPr/>
        </p:nvSpPr>
        <p:spPr>
          <a:xfrm>
            <a:off x="3547872" y="2743200"/>
            <a:ext cx="2304288" cy="457200"/>
          </a:xfrm>
          <a:prstGeom prst="rect">
            <a:avLst/>
          </a:prstGeom>
          <a:noFill/>
          <a:ln/>
        </p:spPr>
        <p:txBody>
          <a:bodyPr wrap="square" lIns="0" tIns="0" rIns="0" bIns="0" rtlCol="0" anchor="t"/>
          <a:lstStyle/>
          <a:p>
            <a:pPr marL="0" indent="0">
              <a:buNone/>
            </a:pPr>
            <a:r>
              <a:rPr lang="en-US" sz="1200" dirty="0">
                <a:solidFill>
                  <a:schemeClr val="tx2"/>
                </a:solidFill>
              </a:rPr>
              <a:t>goes deep first</a:t>
            </a:r>
            <a:endParaRPr lang="en-US" sz="1200" dirty="0"/>
          </a:p>
        </p:txBody>
      </p:sp>
      <p:sp>
        <p:nvSpPr>
          <p:cNvPr id="29" name="Text 27"/>
          <p:cNvSpPr txBox="1"/>
          <p:nvPr/>
        </p:nvSpPr>
        <p:spPr>
          <a:xfrm>
            <a:off x="3547872" y="3291840"/>
            <a:ext cx="2304288" cy="182880"/>
          </a:xfrm>
          <a:prstGeom prst="rect">
            <a:avLst/>
          </a:prstGeom>
          <a:noFill/>
          <a:ln/>
        </p:spPr>
        <p:txBody>
          <a:bodyPr wrap="square" lIns="0" tIns="0" rIns="0" bIns="0" rtlCol="0" anchor="t"/>
          <a:lstStyle/>
          <a:p>
            <a:pPr marL="0" indent="0">
              <a:buNone/>
            </a:pPr>
            <a:r>
              <a:rPr lang="en-US" sz="900" dirty="0">
                <a:solidFill>
                  <a:schemeClr val="tx2"/>
                </a:solidFill>
                <a:latin typeface="Consolas" pitchFamily="34" charset="0"/>
                <a:ea typeface="Consolas" pitchFamily="34" charset="-122"/>
                <a:cs typeface="Consolas" pitchFamily="34" charset="-120"/>
              </a:rPr>
              <a:t>WEAKNESS / STRENGTH</a:t>
            </a:r>
            <a:endParaRPr lang="en-US" sz="900" dirty="0"/>
          </a:p>
        </p:txBody>
      </p:sp>
      <p:sp>
        <p:nvSpPr>
          <p:cNvPr id="30" name="Text 28"/>
          <p:cNvSpPr txBox="1"/>
          <p:nvPr/>
        </p:nvSpPr>
        <p:spPr>
          <a:xfrm>
            <a:off x="3547872" y="3520440"/>
            <a:ext cx="2304288" cy="548640"/>
          </a:xfrm>
          <a:prstGeom prst="rect">
            <a:avLst/>
          </a:prstGeom>
          <a:noFill/>
          <a:ln/>
        </p:spPr>
        <p:txBody>
          <a:bodyPr wrap="square" lIns="0" tIns="0" rIns="0" bIns="0" rtlCol="0" anchor="t"/>
          <a:lstStyle/>
          <a:p>
            <a:pPr marL="0" indent="0">
              <a:buNone/>
            </a:pPr>
            <a:r>
              <a:rPr lang="en-US" sz="1400" b="1" dirty="0">
                <a:solidFill>
                  <a:schemeClr val="tx1"/>
                </a:solidFill>
              </a:rPr>
              <a:t>Wanders; path not shortest</a:t>
            </a:r>
            <a:endParaRPr lang="en-US" sz="1400" dirty="0"/>
          </a:p>
        </p:txBody>
      </p:sp>
      <p:sp>
        <p:nvSpPr>
          <p:cNvPr id="31" name="Shape 29"/>
          <p:cNvSpPr/>
          <p:nvPr/>
        </p:nvSpPr>
        <p:spPr>
          <a:xfrm>
            <a:off x="3547872" y="4160520"/>
            <a:ext cx="2267712" cy="0"/>
          </a:xfrm>
          <a:prstGeom prst="line">
            <a:avLst/>
          </a:prstGeom>
          <a:noFill/>
          <a:ln w="12700">
            <a:solidFill>
              <a:schemeClr val="accent5"/>
            </a:solidFill>
            <a:prstDash val="solid"/>
          </a:ln>
        </p:spPr>
      </p:sp>
      <p:sp>
        <p:nvSpPr>
          <p:cNvPr id="32" name="Text 30"/>
          <p:cNvSpPr txBox="1"/>
          <p:nvPr/>
        </p:nvSpPr>
        <p:spPr>
          <a:xfrm>
            <a:off x="3547872" y="4251960"/>
            <a:ext cx="914400" cy="640080"/>
          </a:xfrm>
          <a:prstGeom prst="rect">
            <a:avLst/>
          </a:prstGeom>
          <a:noFill/>
          <a:ln/>
        </p:spPr>
        <p:txBody>
          <a:bodyPr wrap="square" lIns="0" tIns="0" rIns="0" bIns="0" rtlCol="0" anchor="ctr"/>
          <a:lstStyle/>
          <a:p>
            <a:pPr marL="0" indent="0">
              <a:buNone/>
            </a:pPr>
            <a:r>
              <a:rPr lang="en-US" sz="4000" b="1" dirty="0">
                <a:solidFill>
                  <a:schemeClr val="tx1"/>
                </a:solidFill>
              </a:rPr>
              <a:t>20</a:t>
            </a:r>
            <a:endParaRPr lang="en-US" sz="4000" dirty="0"/>
          </a:p>
        </p:txBody>
      </p:sp>
      <p:sp>
        <p:nvSpPr>
          <p:cNvPr id="33" name="Text 31"/>
          <p:cNvSpPr txBox="1"/>
          <p:nvPr/>
        </p:nvSpPr>
        <p:spPr>
          <a:xfrm>
            <a:off x="4443984" y="4370832"/>
            <a:ext cx="1371600" cy="182880"/>
          </a:xfrm>
          <a:prstGeom prst="rect">
            <a:avLst/>
          </a:prstGeom>
          <a:noFill/>
          <a:ln/>
        </p:spPr>
        <p:txBody>
          <a:bodyPr wrap="square" lIns="0" tIns="0" rIns="0" bIns="0" rtlCol="0" anchor="t"/>
          <a:lstStyle/>
          <a:p>
            <a:pPr marL="0" indent="0">
              <a:buNone/>
            </a:pPr>
            <a:r>
              <a:rPr lang="en-US" sz="900" dirty="0">
                <a:solidFill>
                  <a:schemeClr val="tx2"/>
                </a:solidFill>
                <a:latin typeface="Consolas" pitchFamily="34" charset="0"/>
                <a:ea typeface="Consolas" pitchFamily="34" charset="-122"/>
                <a:cs typeface="Consolas" pitchFamily="34" charset="-120"/>
              </a:rPr>
              <a:t>states expanded</a:t>
            </a:r>
            <a:endParaRPr lang="en-US" sz="900" dirty="0"/>
          </a:p>
        </p:txBody>
      </p:sp>
      <p:sp>
        <p:nvSpPr>
          <p:cNvPr id="34" name="Text 32"/>
          <p:cNvSpPr txBox="1"/>
          <p:nvPr/>
        </p:nvSpPr>
        <p:spPr>
          <a:xfrm>
            <a:off x="4443984" y="4590288"/>
            <a:ext cx="1371600" cy="228600"/>
          </a:xfrm>
          <a:prstGeom prst="rect">
            <a:avLst/>
          </a:prstGeom>
          <a:noFill/>
          <a:ln/>
        </p:spPr>
        <p:txBody>
          <a:bodyPr wrap="square" lIns="0" tIns="0" rIns="0" bIns="0" rtlCol="0" anchor="t"/>
          <a:lstStyle/>
          <a:p>
            <a:pPr marL="0" indent="0">
              <a:buNone/>
            </a:pPr>
            <a:r>
              <a:rPr lang="en-US" sz="1200" b="1" dirty="0">
                <a:solidFill>
                  <a:schemeClr val="accent3"/>
                </a:solidFill>
                <a:latin typeface="Consolas" pitchFamily="34" charset="0"/>
                <a:ea typeface="Consolas" pitchFamily="34" charset="-122"/>
                <a:cs typeface="Consolas" pitchFamily="34" charset="-120"/>
              </a:rPr>
              <a:t>path cost 11</a:t>
            </a:r>
            <a:endParaRPr lang="en-US" sz="1200" dirty="0"/>
          </a:p>
        </p:txBody>
      </p:sp>
      <p:sp>
        <p:nvSpPr>
          <p:cNvPr id="35" name="Text 33"/>
          <p:cNvSpPr txBox="1"/>
          <p:nvPr/>
        </p:nvSpPr>
        <p:spPr>
          <a:xfrm>
            <a:off x="3547872" y="5029200"/>
            <a:ext cx="2304288" cy="548640"/>
          </a:xfrm>
          <a:prstGeom prst="rect">
            <a:avLst/>
          </a:prstGeom>
          <a:noFill/>
          <a:ln/>
        </p:spPr>
        <p:txBody>
          <a:bodyPr wrap="square" lIns="0" tIns="0" rIns="0" bIns="0" rtlCol="0" anchor="t"/>
          <a:lstStyle/>
          <a:p>
            <a:pPr marL="0" indent="0">
              <a:buNone/>
            </a:pPr>
            <a:r>
              <a:rPr lang="en-US" sz="1100" dirty="0">
                <a:solidFill>
                  <a:schemeClr val="tx2"/>
                </a:solidFill>
              </a:rPr>
              <a:t>not the cheapest</a:t>
            </a:r>
            <a:endParaRPr lang="en-US" sz="1100" dirty="0"/>
          </a:p>
        </p:txBody>
      </p:sp>
      <p:sp>
        <p:nvSpPr>
          <p:cNvPr id="36" name="Greedy card"/>
          <p:cNvSpPr/>
          <p:nvPr/>
        </p:nvSpPr>
        <p:spPr>
          <a:xfrm>
            <a:off x="6144768" y="1417320"/>
            <a:ext cx="2670048" cy="4343400"/>
          </a:xfrm>
          <a:prstGeom prst="roundRect">
            <a:avLst>
              <a:gd name="adj" fmla="val 2740"/>
            </a:avLst>
          </a:prstGeom>
          <a:solidFill>
            <a:schemeClr val="bg2"/>
          </a:solidFill>
          <a:ln w="12700">
            <a:solidFill>
              <a:schemeClr val="accent5"/>
            </a:solidFill>
            <a:prstDash val="solid"/>
          </a:ln>
        </p:spPr>
      </p:sp>
      <p:sp>
        <p:nvSpPr>
          <p:cNvPr id="37" name="Text 35"/>
          <p:cNvSpPr txBox="1"/>
          <p:nvPr/>
        </p:nvSpPr>
        <p:spPr>
          <a:xfrm>
            <a:off x="6345936" y="1572768"/>
            <a:ext cx="2304288" cy="457200"/>
          </a:xfrm>
          <a:prstGeom prst="rect">
            <a:avLst/>
          </a:prstGeom>
          <a:noFill/>
          <a:ln/>
        </p:spPr>
        <p:txBody>
          <a:bodyPr wrap="square" lIns="0" tIns="0" rIns="0" bIns="0" rtlCol="0" anchor="t"/>
          <a:lstStyle/>
          <a:p>
            <a:pPr marL="0" indent="0">
              <a:buNone/>
            </a:pPr>
            <a:r>
              <a:rPr lang="en-US" sz="2800" b="1" dirty="0">
                <a:solidFill>
                  <a:schemeClr val="tx1"/>
                </a:solidFill>
              </a:rPr>
              <a:t>Greedy</a:t>
            </a:r>
            <a:endParaRPr lang="en-US" sz="2800" dirty="0"/>
          </a:p>
        </p:txBody>
      </p:sp>
      <p:sp>
        <p:nvSpPr>
          <p:cNvPr id="38" name="Text 36"/>
          <p:cNvSpPr txBox="1"/>
          <p:nvPr/>
        </p:nvSpPr>
        <p:spPr>
          <a:xfrm>
            <a:off x="6345936" y="2148840"/>
            <a:ext cx="1828800" cy="182880"/>
          </a:xfrm>
          <a:prstGeom prst="rect">
            <a:avLst/>
          </a:prstGeom>
          <a:noFill/>
          <a:ln/>
        </p:spPr>
        <p:txBody>
          <a:bodyPr wrap="square" lIns="0" tIns="0" rIns="0" bIns="0" rtlCol="0" anchor="t"/>
          <a:lstStyle/>
          <a:p>
            <a:pPr marL="0" indent="0">
              <a:buNone/>
            </a:pPr>
            <a:r>
              <a:rPr lang="en-US" sz="900" dirty="0">
                <a:solidFill>
                  <a:schemeClr val="tx2"/>
                </a:solidFill>
                <a:latin typeface="Consolas" pitchFamily="34" charset="0"/>
                <a:ea typeface="Consolas" pitchFamily="34" charset="-122"/>
                <a:cs typeface="Consolas" pitchFamily="34" charset="-120"/>
              </a:rPr>
              <a:t>LOOKS AT</a:t>
            </a:r>
            <a:endParaRPr lang="en-US" sz="900" dirty="0"/>
          </a:p>
        </p:txBody>
      </p:sp>
      <p:sp>
        <p:nvSpPr>
          <p:cNvPr id="39" name="Text 37"/>
          <p:cNvSpPr txBox="1"/>
          <p:nvPr/>
        </p:nvSpPr>
        <p:spPr>
          <a:xfrm>
            <a:off x="6345936" y="2359152"/>
            <a:ext cx="2304288" cy="347472"/>
          </a:xfrm>
          <a:prstGeom prst="rect">
            <a:avLst/>
          </a:prstGeom>
          <a:noFill/>
          <a:ln/>
        </p:spPr>
        <p:txBody>
          <a:bodyPr wrap="square" lIns="0" tIns="0" rIns="0" bIns="0" rtlCol="0" anchor="t"/>
          <a:lstStyle/>
          <a:p>
            <a:pPr marL="0" indent="0">
              <a:buNone/>
            </a:pPr>
            <a:r>
              <a:rPr lang="en-US" sz="1800" b="1" dirty="0">
                <a:solidFill>
                  <a:schemeClr val="accent2"/>
                </a:solidFill>
                <a:latin typeface="Consolas" pitchFamily="34" charset="0"/>
                <a:ea typeface="Consolas" pitchFamily="34" charset="-122"/>
                <a:cs typeface="Consolas" pitchFamily="34" charset="-120"/>
              </a:rPr>
              <a:t>h only</a:t>
            </a:r>
            <a:endParaRPr lang="en-US" sz="1800" dirty="0"/>
          </a:p>
        </p:txBody>
      </p:sp>
      <p:sp>
        <p:nvSpPr>
          <p:cNvPr id="40" name="Text 38"/>
          <p:cNvSpPr txBox="1"/>
          <p:nvPr/>
        </p:nvSpPr>
        <p:spPr>
          <a:xfrm>
            <a:off x="6345936" y="2743200"/>
            <a:ext cx="2304288" cy="457200"/>
          </a:xfrm>
          <a:prstGeom prst="rect">
            <a:avLst/>
          </a:prstGeom>
          <a:noFill/>
          <a:ln/>
        </p:spPr>
        <p:txBody>
          <a:bodyPr wrap="square" lIns="0" tIns="0" rIns="0" bIns="0" rtlCol="0" anchor="t"/>
          <a:lstStyle/>
          <a:p>
            <a:pPr marL="0" indent="0">
              <a:buNone/>
            </a:pPr>
            <a:r>
              <a:rPr lang="en-US" sz="1200" dirty="0">
                <a:solidFill>
                  <a:schemeClr val="tx2"/>
                </a:solidFill>
              </a:rPr>
              <a:t>estimated distance to goal</a:t>
            </a:r>
            <a:endParaRPr lang="en-US" sz="1200" dirty="0"/>
          </a:p>
        </p:txBody>
      </p:sp>
      <p:sp>
        <p:nvSpPr>
          <p:cNvPr id="41" name="Text 39"/>
          <p:cNvSpPr txBox="1"/>
          <p:nvPr/>
        </p:nvSpPr>
        <p:spPr>
          <a:xfrm>
            <a:off x="6345936" y="3291840"/>
            <a:ext cx="2304288" cy="182880"/>
          </a:xfrm>
          <a:prstGeom prst="rect">
            <a:avLst/>
          </a:prstGeom>
          <a:noFill/>
          <a:ln/>
        </p:spPr>
        <p:txBody>
          <a:bodyPr wrap="square" lIns="0" tIns="0" rIns="0" bIns="0" rtlCol="0" anchor="t"/>
          <a:lstStyle/>
          <a:p>
            <a:pPr marL="0" indent="0">
              <a:buNone/>
            </a:pPr>
            <a:r>
              <a:rPr lang="en-US" sz="900" dirty="0">
                <a:solidFill>
                  <a:schemeClr val="tx2"/>
                </a:solidFill>
                <a:latin typeface="Consolas" pitchFamily="34" charset="0"/>
                <a:ea typeface="Consolas" pitchFamily="34" charset="-122"/>
                <a:cs typeface="Consolas" pitchFamily="34" charset="-120"/>
              </a:rPr>
              <a:t>WEAKNESS / STRENGTH</a:t>
            </a:r>
            <a:endParaRPr lang="en-US" sz="900" dirty="0"/>
          </a:p>
        </p:txBody>
      </p:sp>
      <p:sp>
        <p:nvSpPr>
          <p:cNvPr id="42" name="Text 40"/>
          <p:cNvSpPr txBox="1"/>
          <p:nvPr/>
        </p:nvSpPr>
        <p:spPr>
          <a:xfrm>
            <a:off x="6345936" y="3520440"/>
            <a:ext cx="2304288" cy="548640"/>
          </a:xfrm>
          <a:prstGeom prst="rect">
            <a:avLst/>
          </a:prstGeom>
          <a:noFill/>
          <a:ln/>
        </p:spPr>
        <p:txBody>
          <a:bodyPr wrap="square" lIns="0" tIns="0" rIns="0" bIns="0" rtlCol="0" anchor="t"/>
          <a:lstStyle/>
          <a:p>
            <a:pPr marL="0" indent="0">
              <a:buNone/>
            </a:pPr>
            <a:r>
              <a:rPr lang="en-US" sz="1400" b="1" dirty="0">
                <a:solidFill>
                  <a:schemeClr val="tx1"/>
                </a:solidFill>
              </a:rPr>
              <a:t>Can be misled; no guarantee</a:t>
            </a:r>
            <a:endParaRPr lang="en-US" sz="1400" dirty="0"/>
          </a:p>
        </p:txBody>
      </p:sp>
      <p:sp>
        <p:nvSpPr>
          <p:cNvPr id="43" name="Shape 41"/>
          <p:cNvSpPr/>
          <p:nvPr/>
        </p:nvSpPr>
        <p:spPr>
          <a:xfrm>
            <a:off x="6345936" y="4160520"/>
            <a:ext cx="2267712" cy="0"/>
          </a:xfrm>
          <a:prstGeom prst="line">
            <a:avLst/>
          </a:prstGeom>
          <a:noFill/>
          <a:ln w="12700">
            <a:solidFill>
              <a:schemeClr val="accent5"/>
            </a:solidFill>
            <a:prstDash val="solid"/>
          </a:ln>
        </p:spPr>
      </p:sp>
      <p:sp>
        <p:nvSpPr>
          <p:cNvPr id="44" name="Text 42"/>
          <p:cNvSpPr txBox="1"/>
          <p:nvPr/>
        </p:nvSpPr>
        <p:spPr>
          <a:xfrm>
            <a:off x="6345936" y="4251960"/>
            <a:ext cx="914400" cy="640080"/>
          </a:xfrm>
          <a:prstGeom prst="rect">
            <a:avLst/>
          </a:prstGeom>
          <a:noFill/>
          <a:ln/>
        </p:spPr>
        <p:txBody>
          <a:bodyPr wrap="square" lIns="0" tIns="0" rIns="0" bIns="0" rtlCol="0" anchor="ctr"/>
          <a:lstStyle/>
          <a:p>
            <a:pPr marL="0" indent="0">
              <a:buNone/>
            </a:pPr>
            <a:r>
              <a:rPr lang="en-US" sz="4000" b="1" dirty="0">
                <a:solidFill>
                  <a:schemeClr val="tx1"/>
                </a:solidFill>
              </a:rPr>
              <a:t>15</a:t>
            </a:r>
            <a:endParaRPr lang="en-US" sz="4000" dirty="0"/>
          </a:p>
        </p:txBody>
      </p:sp>
      <p:sp>
        <p:nvSpPr>
          <p:cNvPr id="45" name="Text 43"/>
          <p:cNvSpPr txBox="1"/>
          <p:nvPr/>
        </p:nvSpPr>
        <p:spPr>
          <a:xfrm>
            <a:off x="7242048" y="4370832"/>
            <a:ext cx="1371600" cy="182880"/>
          </a:xfrm>
          <a:prstGeom prst="rect">
            <a:avLst/>
          </a:prstGeom>
          <a:noFill/>
          <a:ln/>
        </p:spPr>
        <p:txBody>
          <a:bodyPr wrap="square" lIns="0" tIns="0" rIns="0" bIns="0" rtlCol="0" anchor="t"/>
          <a:lstStyle/>
          <a:p>
            <a:pPr marL="0" indent="0">
              <a:buNone/>
            </a:pPr>
            <a:r>
              <a:rPr lang="en-US" sz="900" dirty="0">
                <a:solidFill>
                  <a:schemeClr val="tx2"/>
                </a:solidFill>
                <a:latin typeface="Consolas" pitchFamily="34" charset="0"/>
                <a:ea typeface="Consolas" pitchFamily="34" charset="-122"/>
                <a:cs typeface="Consolas" pitchFamily="34" charset="-120"/>
              </a:rPr>
              <a:t>states expanded</a:t>
            </a:r>
            <a:endParaRPr lang="en-US" sz="900" dirty="0"/>
          </a:p>
        </p:txBody>
      </p:sp>
      <p:sp>
        <p:nvSpPr>
          <p:cNvPr id="46" name="Text 44"/>
          <p:cNvSpPr txBox="1"/>
          <p:nvPr/>
        </p:nvSpPr>
        <p:spPr>
          <a:xfrm>
            <a:off x="7242048" y="4590288"/>
            <a:ext cx="1371600" cy="228600"/>
          </a:xfrm>
          <a:prstGeom prst="rect">
            <a:avLst/>
          </a:prstGeom>
          <a:noFill/>
          <a:ln/>
        </p:spPr>
        <p:txBody>
          <a:bodyPr wrap="square" lIns="0" tIns="0" rIns="0" bIns="0" rtlCol="0" anchor="t"/>
          <a:lstStyle/>
          <a:p>
            <a:pPr marL="0" indent="0">
              <a:buNone/>
            </a:pPr>
            <a:r>
              <a:rPr lang="en-US" sz="1200" b="1" dirty="0">
                <a:solidFill>
                  <a:schemeClr val="accent4"/>
                </a:solidFill>
                <a:latin typeface="Consolas" pitchFamily="34" charset="0"/>
                <a:ea typeface="Consolas" pitchFamily="34" charset="-122"/>
                <a:cs typeface="Consolas" pitchFamily="34" charset="-120"/>
              </a:rPr>
              <a:t>path cost 9</a:t>
            </a:r>
            <a:endParaRPr lang="en-US" sz="1200" dirty="0"/>
          </a:p>
        </p:txBody>
      </p:sp>
      <p:sp>
        <p:nvSpPr>
          <p:cNvPr id="47" name="Text 45"/>
          <p:cNvSpPr txBox="1"/>
          <p:nvPr/>
        </p:nvSpPr>
        <p:spPr>
          <a:xfrm>
            <a:off x="6345936" y="5029200"/>
            <a:ext cx="2304288" cy="548640"/>
          </a:xfrm>
          <a:prstGeom prst="rect">
            <a:avLst/>
          </a:prstGeom>
          <a:noFill/>
          <a:ln/>
        </p:spPr>
        <p:txBody>
          <a:bodyPr wrap="square" lIns="0" tIns="0" rIns="0" bIns="0" rtlCol="0" anchor="t"/>
          <a:lstStyle/>
          <a:p>
            <a:pPr marL="0" indent="0">
              <a:buNone/>
            </a:pPr>
            <a:r>
              <a:rPr lang="en-US" sz="1100" dirty="0">
                <a:solidFill>
                  <a:schemeClr val="tx2"/>
                </a:solidFill>
              </a:rPr>
              <a:t>matches A* here by luck of the layout</a:t>
            </a:r>
            <a:endParaRPr lang="en-US" sz="1100" dirty="0"/>
          </a:p>
        </p:txBody>
      </p:sp>
      <p:sp>
        <p:nvSpPr>
          <p:cNvPr id="48" name="A* card"/>
          <p:cNvSpPr/>
          <p:nvPr/>
        </p:nvSpPr>
        <p:spPr>
          <a:xfrm>
            <a:off x="8942832" y="1417320"/>
            <a:ext cx="2670048" cy="4343400"/>
          </a:xfrm>
          <a:prstGeom prst="roundRect">
            <a:avLst>
              <a:gd name="adj" fmla="val 2740"/>
            </a:avLst>
          </a:prstGeom>
          <a:solidFill>
            <a:schemeClr val="accent1">
              <a:alpha val="12000"/>
            </a:schemeClr>
          </a:solidFill>
          <a:ln w="28575">
            <a:solidFill>
              <a:schemeClr val="accent1"/>
            </a:solidFill>
            <a:prstDash val="solid"/>
          </a:ln>
        </p:spPr>
      </p:sp>
      <p:sp>
        <p:nvSpPr>
          <p:cNvPr id="49" name="Text 47"/>
          <p:cNvSpPr txBox="1"/>
          <p:nvPr/>
        </p:nvSpPr>
        <p:spPr>
          <a:xfrm>
            <a:off x="9144000" y="1572768"/>
            <a:ext cx="2304288" cy="457200"/>
          </a:xfrm>
          <a:prstGeom prst="rect">
            <a:avLst/>
          </a:prstGeom>
          <a:noFill/>
          <a:ln/>
        </p:spPr>
        <p:txBody>
          <a:bodyPr wrap="square" lIns="0" tIns="0" rIns="0" bIns="0" rtlCol="0" anchor="t"/>
          <a:lstStyle/>
          <a:p>
            <a:pPr marL="0" indent="0">
              <a:buNone/>
            </a:pPr>
            <a:r>
              <a:rPr lang="en-US" sz="2800" b="1" dirty="0">
                <a:solidFill>
                  <a:schemeClr val="accent1"/>
                </a:solidFill>
              </a:rPr>
              <a:t>A*</a:t>
            </a:r>
            <a:endParaRPr lang="en-US" sz="2800" dirty="0"/>
          </a:p>
        </p:txBody>
      </p:sp>
      <p:sp>
        <p:nvSpPr>
          <p:cNvPr id="50" name="Text 48"/>
          <p:cNvSpPr txBox="1"/>
          <p:nvPr/>
        </p:nvSpPr>
        <p:spPr>
          <a:xfrm>
            <a:off x="9144000" y="2148840"/>
            <a:ext cx="1828800" cy="182880"/>
          </a:xfrm>
          <a:prstGeom prst="rect">
            <a:avLst/>
          </a:prstGeom>
          <a:noFill/>
          <a:ln/>
        </p:spPr>
        <p:txBody>
          <a:bodyPr wrap="square" lIns="0" tIns="0" rIns="0" bIns="0" rtlCol="0" anchor="t"/>
          <a:lstStyle/>
          <a:p>
            <a:pPr marL="0" indent="0">
              <a:buNone/>
            </a:pPr>
            <a:r>
              <a:rPr lang="en-US" sz="900" dirty="0">
                <a:solidFill>
                  <a:schemeClr val="tx2"/>
                </a:solidFill>
                <a:latin typeface="Consolas" pitchFamily="34" charset="0"/>
                <a:ea typeface="Consolas" pitchFamily="34" charset="-122"/>
                <a:cs typeface="Consolas" pitchFamily="34" charset="-120"/>
              </a:rPr>
              <a:t>LOOKS AT</a:t>
            </a:r>
            <a:endParaRPr lang="en-US" sz="900" dirty="0"/>
          </a:p>
        </p:txBody>
      </p:sp>
      <p:sp>
        <p:nvSpPr>
          <p:cNvPr id="51" name="Text 49"/>
          <p:cNvSpPr txBox="1"/>
          <p:nvPr/>
        </p:nvSpPr>
        <p:spPr>
          <a:xfrm>
            <a:off x="9144000" y="2359152"/>
            <a:ext cx="2304288" cy="347472"/>
          </a:xfrm>
          <a:prstGeom prst="rect">
            <a:avLst/>
          </a:prstGeom>
          <a:noFill/>
          <a:ln/>
        </p:spPr>
        <p:txBody>
          <a:bodyPr wrap="square" lIns="0" tIns="0" rIns="0" bIns="0" rtlCol="0" anchor="t"/>
          <a:lstStyle/>
          <a:p>
            <a:pPr marL="0" indent="0">
              <a:buNone/>
            </a:pPr>
            <a:r>
              <a:rPr lang="en-US" sz="1800" b="1" dirty="0">
                <a:solidFill>
                  <a:schemeClr val="accent1"/>
                </a:solidFill>
                <a:latin typeface="Consolas" pitchFamily="34" charset="0"/>
                <a:ea typeface="Consolas" pitchFamily="34" charset="-122"/>
                <a:cs typeface="Consolas" pitchFamily="34" charset="-120"/>
              </a:rPr>
              <a:t>g + h</a:t>
            </a:r>
            <a:endParaRPr lang="en-US" sz="1800" dirty="0"/>
          </a:p>
        </p:txBody>
      </p:sp>
      <p:sp>
        <p:nvSpPr>
          <p:cNvPr id="52" name="Text 50"/>
          <p:cNvSpPr txBox="1"/>
          <p:nvPr/>
        </p:nvSpPr>
        <p:spPr>
          <a:xfrm>
            <a:off x="9144000" y="2743200"/>
            <a:ext cx="2304288" cy="457200"/>
          </a:xfrm>
          <a:prstGeom prst="rect">
            <a:avLst/>
          </a:prstGeom>
          <a:noFill/>
          <a:ln/>
        </p:spPr>
        <p:txBody>
          <a:bodyPr wrap="square" lIns="0" tIns="0" rIns="0" bIns="0" rtlCol="0" anchor="t"/>
          <a:lstStyle/>
          <a:p>
            <a:pPr marL="0" indent="0">
              <a:buNone/>
            </a:pPr>
            <a:r>
              <a:rPr lang="en-US" sz="1200" dirty="0">
                <a:solidFill>
                  <a:schemeClr val="tx2"/>
                </a:solidFill>
              </a:rPr>
              <a:t>cost so far + estimate to go</a:t>
            </a:r>
            <a:endParaRPr lang="en-US" sz="1200" dirty="0"/>
          </a:p>
        </p:txBody>
      </p:sp>
      <p:sp>
        <p:nvSpPr>
          <p:cNvPr id="53" name="Text 51"/>
          <p:cNvSpPr txBox="1"/>
          <p:nvPr/>
        </p:nvSpPr>
        <p:spPr>
          <a:xfrm>
            <a:off x="9144000" y="3291840"/>
            <a:ext cx="2304288" cy="182880"/>
          </a:xfrm>
          <a:prstGeom prst="rect">
            <a:avLst/>
          </a:prstGeom>
          <a:noFill/>
          <a:ln/>
        </p:spPr>
        <p:txBody>
          <a:bodyPr wrap="square" lIns="0" tIns="0" rIns="0" bIns="0" rtlCol="0" anchor="t"/>
          <a:lstStyle/>
          <a:p>
            <a:pPr marL="0" indent="0">
              <a:buNone/>
            </a:pPr>
            <a:r>
              <a:rPr lang="en-US" sz="900" dirty="0">
                <a:solidFill>
                  <a:schemeClr val="tx2"/>
                </a:solidFill>
                <a:latin typeface="Consolas" pitchFamily="34" charset="0"/>
                <a:ea typeface="Consolas" pitchFamily="34" charset="-122"/>
                <a:cs typeface="Consolas" pitchFamily="34" charset="-120"/>
              </a:rPr>
              <a:t>WEAKNESS / STRENGTH</a:t>
            </a:r>
            <a:endParaRPr lang="en-US" sz="900" dirty="0"/>
          </a:p>
        </p:txBody>
      </p:sp>
      <p:sp>
        <p:nvSpPr>
          <p:cNvPr id="54" name="Text 52"/>
          <p:cNvSpPr txBox="1"/>
          <p:nvPr/>
        </p:nvSpPr>
        <p:spPr>
          <a:xfrm>
            <a:off x="9144000" y="3520440"/>
            <a:ext cx="2304288" cy="548640"/>
          </a:xfrm>
          <a:prstGeom prst="rect">
            <a:avLst/>
          </a:prstGeom>
          <a:noFill/>
          <a:ln/>
        </p:spPr>
        <p:txBody>
          <a:bodyPr wrap="square" lIns="0" tIns="0" rIns="0" bIns="0" rtlCol="0" anchor="t"/>
          <a:lstStyle/>
          <a:p>
            <a:pPr marL="0" indent="0">
              <a:buNone/>
            </a:pPr>
            <a:r>
              <a:rPr lang="en-US" sz="1400" b="1" dirty="0">
                <a:solidFill>
                  <a:schemeClr val="tx1"/>
                </a:solidFill>
              </a:rPr>
              <a:t>Directed and guaranteed minimum</a:t>
            </a:r>
            <a:endParaRPr lang="en-US" sz="1400" dirty="0"/>
          </a:p>
        </p:txBody>
      </p:sp>
      <p:sp>
        <p:nvSpPr>
          <p:cNvPr id="55" name="Shape 53"/>
          <p:cNvSpPr/>
          <p:nvPr/>
        </p:nvSpPr>
        <p:spPr>
          <a:xfrm>
            <a:off x="9144000" y="4160520"/>
            <a:ext cx="2267712" cy="0"/>
          </a:xfrm>
          <a:prstGeom prst="line">
            <a:avLst/>
          </a:prstGeom>
          <a:noFill/>
          <a:ln w="12700">
            <a:solidFill>
              <a:schemeClr val="accent5"/>
            </a:solidFill>
            <a:prstDash val="solid"/>
          </a:ln>
        </p:spPr>
      </p:sp>
      <p:sp>
        <p:nvSpPr>
          <p:cNvPr id="56" name="Text 54"/>
          <p:cNvSpPr txBox="1"/>
          <p:nvPr/>
        </p:nvSpPr>
        <p:spPr>
          <a:xfrm>
            <a:off x="9144000" y="4251960"/>
            <a:ext cx="914400" cy="640080"/>
          </a:xfrm>
          <a:prstGeom prst="rect">
            <a:avLst/>
          </a:prstGeom>
          <a:noFill/>
          <a:ln/>
        </p:spPr>
        <p:txBody>
          <a:bodyPr wrap="square" lIns="0" tIns="0" rIns="0" bIns="0" rtlCol="0" anchor="ctr"/>
          <a:lstStyle/>
          <a:p>
            <a:pPr marL="0" indent="0">
              <a:buNone/>
            </a:pPr>
            <a:r>
              <a:rPr lang="en-US" sz="4000" b="1" dirty="0">
                <a:solidFill>
                  <a:schemeClr val="accent1"/>
                </a:solidFill>
              </a:rPr>
              <a:t>15</a:t>
            </a:r>
            <a:endParaRPr lang="en-US" sz="4000" dirty="0"/>
          </a:p>
        </p:txBody>
      </p:sp>
      <p:sp>
        <p:nvSpPr>
          <p:cNvPr id="57" name="Text 55"/>
          <p:cNvSpPr txBox="1"/>
          <p:nvPr/>
        </p:nvSpPr>
        <p:spPr>
          <a:xfrm>
            <a:off x="10040112" y="4370832"/>
            <a:ext cx="1371600" cy="182880"/>
          </a:xfrm>
          <a:prstGeom prst="rect">
            <a:avLst/>
          </a:prstGeom>
          <a:noFill/>
          <a:ln/>
        </p:spPr>
        <p:txBody>
          <a:bodyPr wrap="square" lIns="0" tIns="0" rIns="0" bIns="0" rtlCol="0" anchor="t"/>
          <a:lstStyle/>
          <a:p>
            <a:pPr marL="0" indent="0">
              <a:buNone/>
            </a:pPr>
            <a:r>
              <a:rPr lang="en-US" sz="900" dirty="0">
                <a:solidFill>
                  <a:schemeClr val="tx2"/>
                </a:solidFill>
                <a:latin typeface="Consolas" pitchFamily="34" charset="0"/>
                <a:ea typeface="Consolas" pitchFamily="34" charset="-122"/>
                <a:cs typeface="Consolas" pitchFamily="34" charset="-120"/>
              </a:rPr>
              <a:t>states expanded</a:t>
            </a:r>
            <a:endParaRPr lang="en-US" sz="900" dirty="0"/>
          </a:p>
        </p:txBody>
      </p:sp>
      <p:sp>
        <p:nvSpPr>
          <p:cNvPr id="58" name="Text 56"/>
          <p:cNvSpPr txBox="1"/>
          <p:nvPr/>
        </p:nvSpPr>
        <p:spPr>
          <a:xfrm>
            <a:off x="10040112" y="4590288"/>
            <a:ext cx="1371600" cy="228600"/>
          </a:xfrm>
          <a:prstGeom prst="rect">
            <a:avLst/>
          </a:prstGeom>
          <a:noFill/>
          <a:ln/>
        </p:spPr>
        <p:txBody>
          <a:bodyPr wrap="square" lIns="0" tIns="0" rIns="0" bIns="0" rtlCol="0" anchor="t"/>
          <a:lstStyle/>
          <a:p>
            <a:pPr marL="0" indent="0">
              <a:buNone/>
            </a:pPr>
            <a:r>
              <a:rPr lang="en-US" sz="1200" b="1" dirty="0">
                <a:solidFill>
                  <a:schemeClr val="accent4"/>
                </a:solidFill>
                <a:latin typeface="Consolas" pitchFamily="34" charset="0"/>
                <a:ea typeface="Consolas" pitchFamily="34" charset="-122"/>
                <a:cs typeface="Consolas" pitchFamily="34" charset="-120"/>
              </a:rPr>
              <a:t>path cost 9</a:t>
            </a:r>
            <a:endParaRPr lang="en-US" sz="1200" dirty="0"/>
          </a:p>
        </p:txBody>
      </p:sp>
      <p:sp>
        <p:nvSpPr>
          <p:cNvPr id="59" name="Text 57"/>
          <p:cNvSpPr txBox="1"/>
          <p:nvPr/>
        </p:nvSpPr>
        <p:spPr>
          <a:xfrm>
            <a:off x="9144000" y="5029200"/>
            <a:ext cx="2304288" cy="548640"/>
          </a:xfrm>
          <a:prstGeom prst="rect">
            <a:avLst/>
          </a:prstGeom>
          <a:noFill/>
          <a:ln/>
        </p:spPr>
        <p:txBody>
          <a:bodyPr wrap="square" lIns="0" tIns="0" rIns="0" bIns="0" rtlCol="0" anchor="t"/>
          <a:lstStyle/>
          <a:p>
            <a:pPr marL="0" indent="0">
              <a:buNone/>
            </a:pPr>
            <a:r>
              <a:rPr lang="en-US" sz="1100" dirty="0">
                <a:solidFill>
                  <a:schemeClr val="tx2"/>
                </a:solidFill>
              </a:rPr>
              <a:t>cost 9 guaranteed minimum</a:t>
            </a:r>
            <a:endParaRPr lang="en-US" sz="1100" dirty="0"/>
          </a:p>
        </p:txBody>
      </p:sp>
      <p:sp>
        <p:nvSpPr>
          <p:cNvPr id="60" name="Text 58"/>
          <p:cNvSpPr txBox="1"/>
          <p:nvPr/>
        </p:nvSpPr>
        <p:spPr>
          <a:xfrm>
            <a:off x="548640" y="5943600"/>
            <a:ext cx="3657600" cy="320040"/>
          </a:xfrm>
          <a:prstGeom prst="rect">
            <a:avLst/>
          </a:prstGeom>
          <a:noFill/>
          <a:ln/>
        </p:spPr>
        <p:txBody>
          <a:bodyPr wrap="square" lIns="0" tIns="0" rIns="0" bIns="0" rtlCol="0" anchor="t"/>
          <a:lstStyle/>
          <a:p>
            <a:pPr marL="0" indent="0">
              <a:buNone/>
            </a:pPr>
            <a:r>
              <a:rPr lang="en-US" sz="1600" b="1" i="1" dirty="0">
                <a:solidFill>
                  <a:schemeClr val="accent1"/>
                </a:solidFill>
              </a:rPr>
              <a:t>Cost so far + estimate to go</a:t>
            </a:r>
            <a:endParaRPr lang="en-US" sz="1600" dirty="0"/>
          </a:p>
        </p:txBody>
      </p:sp>
      <p:sp>
        <p:nvSpPr>
          <p:cNvPr id="61" name="Text 59"/>
          <p:cNvSpPr txBox="1"/>
          <p:nvPr/>
        </p:nvSpPr>
        <p:spPr>
          <a:xfrm>
            <a:off x="4206240" y="5989320"/>
            <a:ext cx="7434072" cy="274320"/>
          </a:xfrm>
          <a:prstGeom prst="rect">
            <a:avLst/>
          </a:prstGeom>
          <a:noFill/>
          <a:ln/>
        </p:spPr>
        <p:txBody>
          <a:bodyPr wrap="square" lIns="0" tIns="0" rIns="0" bIns="0" rtlCol="0" anchor="t"/>
          <a:lstStyle/>
          <a:p>
            <a:pPr marL="0" indent="0" algn="r">
              <a:buNone/>
            </a:pPr>
            <a:r>
              <a:rPr lang="en-US" sz="900" dirty="0">
                <a:solidFill>
                  <a:schemeClr val="tx2"/>
                </a:solidFill>
                <a:latin typeface="Consolas" pitchFamily="34" charset="0"/>
                <a:ea typeface="Consolas" pitchFamily="34" charset="-122"/>
                <a:cs typeface="Consolas" pitchFamily="34" charset="-120"/>
              </a:rPr>
              <a:t>Counts from our 6×5 demo grid · tie-break: lowest h, then top to bottom · neighbours: up, down, left, right</a:t>
            </a:r>
            <a:endParaRPr lang="en-US" sz="900" dirty="0"/>
          </a:p>
        </p:txBody>
      </p:sp>
      <p:sp>
        <p:nvSpPr>
          <p:cNvPr id="62" name="Text 60"/>
          <p:cNvSpPr txBox="1"/>
          <p:nvPr/>
        </p:nvSpPr>
        <p:spPr>
          <a:xfrm>
            <a:off x="5852160" y="6473952"/>
            <a:ext cx="5212080" cy="228600"/>
          </a:xfrm>
          <a:prstGeom prst="rect">
            <a:avLst/>
          </a:prstGeom>
          <a:noFill/>
          <a:ln/>
        </p:spPr>
        <p:txBody>
          <a:bodyPr wrap="square" lIns="0" tIns="0" rIns="0" bIns="0" rtlCol="0" anchor="ctr"/>
          <a:lstStyle/>
          <a:p>
            <a:pPr marL="0" indent="0" algn="r">
              <a:buNone/>
            </a:pPr>
            <a:r>
              <a:rPr lang="en-US" sz="900" b="1" dirty="0">
                <a:solidFill>
                  <a:schemeClr val="accent2"/>
                </a:solidFill>
                <a:latin typeface="Consolas" pitchFamily="34" charset="0"/>
                <a:ea typeface="Consolas" pitchFamily="34" charset="-122"/>
                <a:cs typeface="Consolas" pitchFamily="34" charset="-120"/>
              </a:rPr>
              <a:t>RUBRIC · JUSTIFICATION · 2 MARKS</a:t>
            </a:r>
            <a:endParaRPr lang="en-US" sz="900" dirty="0"/>
          </a:p>
        </p:txBody>
      </p:sp>
      <p:sp>
        <p:nvSpPr>
          <p:cNvPr id="63" name="Slide Number Placeholder 0"/>
          <p:cNvSpPr>
            <a:spLocks noGrp="1"/>
          </p:cNvSpPr>
          <p:nvPr>
            <p:ph type="sldNum" sz="quarter" idx="4294967295"/>
          </p:nvPr>
        </p:nvSpPr>
        <p:spPr>
          <a:xfrm>
            <a:off x="11183112" y="6473952"/>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tx2"/>
                </a:solidFill>
                <a:latin typeface="Consolas"/>
                <a:ea typeface="Consolas"/>
                <a:cs typeface="Consolas"/>
              </a:defRPr>
            </a:lvl1pPr>
          </a:lstStyle>
          <a:p>
            <a:pPr algn="r"/>
            <a:fld id="{F7021451-1387-4CA6-816F-3879F97B5CBC}" type="slidenum">
              <a:rPr lang="en-US" b="0"/>
              <a:t>9</a:t>
            </a:fld>
            <a:endParaRPr lang="en-US"/>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74320"/>
            <a:ext cx="7315200" cy="201168"/>
          </a:xfrm>
          <a:prstGeom prst="rect">
            <a:avLst/>
          </a:prstGeom>
          <a:noFill/>
          <a:ln/>
        </p:spPr>
        <p:txBody>
          <a:bodyPr wrap="square" lIns="0" tIns="0" rIns="0" bIns="0" rtlCol="0" anchor="t"/>
          <a:lstStyle/>
          <a:p>
            <a:pPr marL="0" indent="0">
              <a:buNone/>
            </a:pPr>
            <a:r>
              <a:rPr lang="en-US" sz="1000" b="1" dirty="0">
                <a:solidFill>
                  <a:schemeClr val="accent1"/>
                </a:solidFill>
                <a:latin typeface="Consolas" pitchFamily="34" charset="0"/>
                <a:ea typeface="Consolas" pitchFamily="34" charset="-122"/>
                <a:cs typeface="Consolas" pitchFamily="34" charset="-120"/>
              </a:rPr>
              <a:t>PHASE 07 · LIMITATIONS &amp; FUTURE SCOPE</a:t>
            </a:r>
            <a:endParaRPr lang="en-US" sz="1000" dirty="0"/>
          </a:p>
        </p:txBody>
      </p:sp>
      <p:sp>
        <p:nvSpPr>
          <p:cNvPr id="3" name="Shape 1"/>
          <p:cNvSpPr/>
          <p:nvPr/>
        </p:nvSpPr>
        <p:spPr>
          <a:xfrm>
            <a:off x="10314432" y="301752"/>
            <a:ext cx="109728" cy="109728"/>
          </a:xfrm>
          <a:prstGeom prst="rect">
            <a:avLst/>
          </a:prstGeom>
          <a:solidFill>
            <a:schemeClr val="accent1"/>
          </a:solidFill>
          <a:ln w="12700">
            <a:solidFill>
              <a:schemeClr val="accent1"/>
            </a:solidFill>
            <a:prstDash val="solid"/>
          </a:ln>
        </p:spPr>
      </p:sp>
      <p:sp>
        <p:nvSpPr>
          <p:cNvPr id="4" name="Shape 2"/>
          <p:cNvSpPr/>
          <p:nvPr/>
        </p:nvSpPr>
        <p:spPr>
          <a:xfrm>
            <a:off x="10488168" y="301752"/>
            <a:ext cx="109728" cy="109728"/>
          </a:xfrm>
          <a:prstGeom prst="rect">
            <a:avLst/>
          </a:prstGeom>
          <a:solidFill>
            <a:schemeClr val="accent1"/>
          </a:solidFill>
          <a:ln w="12700">
            <a:solidFill>
              <a:schemeClr val="accent1"/>
            </a:solidFill>
            <a:prstDash val="solid"/>
          </a:ln>
        </p:spPr>
      </p:sp>
      <p:sp>
        <p:nvSpPr>
          <p:cNvPr id="5" name="Shape 3"/>
          <p:cNvSpPr/>
          <p:nvPr/>
        </p:nvSpPr>
        <p:spPr>
          <a:xfrm>
            <a:off x="10661904" y="301752"/>
            <a:ext cx="109728" cy="109728"/>
          </a:xfrm>
          <a:prstGeom prst="rect">
            <a:avLst/>
          </a:prstGeom>
          <a:solidFill>
            <a:schemeClr val="accent1"/>
          </a:solidFill>
          <a:ln w="12700">
            <a:solidFill>
              <a:schemeClr val="accent1"/>
            </a:solidFill>
            <a:prstDash val="solid"/>
          </a:ln>
        </p:spPr>
      </p:sp>
      <p:sp>
        <p:nvSpPr>
          <p:cNvPr id="6" name="Shape 4"/>
          <p:cNvSpPr/>
          <p:nvPr/>
        </p:nvSpPr>
        <p:spPr>
          <a:xfrm>
            <a:off x="10835640" y="301752"/>
            <a:ext cx="109728" cy="109728"/>
          </a:xfrm>
          <a:prstGeom prst="rect">
            <a:avLst/>
          </a:prstGeom>
          <a:solidFill>
            <a:schemeClr val="accent1"/>
          </a:solidFill>
          <a:ln w="12700">
            <a:solidFill>
              <a:schemeClr val="accent1"/>
            </a:solidFill>
            <a:prstDash val="solid"/>
          </a:ln>
        </p:spPr>
      </p:sp>
      <p:sp>
        <p:nvSpPr>
          <p:cNvPr id="7" name="Shape 5"/>
          <p:cNvSpPr/>
          <p:nvPr/>
        </p:nvSpPr>
        <p:spPr>
          <a:xfrm>
            <a:off x="11009376" y="301752"/>
            <a:ext cx="109728" cy="109728"/>
          </a:xfrm>
          <a:prstGeom prst="rect">
            <a:avLst/>
          </a:prstGeom>
          <a:solidFill>
            <a:schemeClr val="accent1"/>
          </a:solidFill>
          <a:ln w="12700">
            <a:solidFill>
              <a:schemeClr val="accent1"/>
            </a:solidFill>
            <a:prstDash val="solid"/>
          </a:ln>
        </p:spPr>
      </p:sp>
      <p:sp>
        <p:nvSpPr>
          <p:cNvPr id="8" name="Shape 6"/>
          <p:cNvSpPr/>
          <p:nvPr/>
        </p:nvSpPr>
        <p:spPr>
          <a:xfrm>
            <a:off x="11183112" y="301752"/>
            <a:ext cx="109728" cy="109728"/>
          </a:xfrm>
          <a:prstGeom prst="rect">
            <a:avLst/>
          </a:prstGeom>
          <a:solidFill>
            <a:schemeClr val="accent1"/>
          </a:solidFill>
          <a:ln w="12700">
            <a:solidFill>
              <a:schemeClr val="accent1"/>
            </a:solidFill>
            <a:prstDash val="solid"/>
          </a:ln>
        </p:spPr>
      </p:sp>
      <p:sp>
        <p:nvSpPr>
          <p:cNvPr id="9" name="Shape 7"/>
          <p:cNvSpPr/>
          <p:nvPr/>
        </p:nvSpPr>
        <p:spPr>
          <a:xfrm>
            <a:off x="11356848" y="301752"/>
            <a:ext cx="109728" cy="109728"/>
          </a:xfrm>
          <a:prstGeom prst="rect">
            <a:avLst/>
          </a:prstGeom>
          <a:solidFill>
            <a:schemeClr val="accent1"/>
          </a:solidFill>
          <a:ln w="12700">
            <a:solidFill>
              <a:schemeClr val="accent1"/>
            </a:solidFill>
            <a:prstDash val="solid"/>
          </a:ln>
        </p:spPr>
      </p:sp>
      <p:sp>
        <p:nvSpPr>
          <p:cNvPr id="10" name="Shape 8"/>
          <p:cNvSpPr/>
          <p:nvPr/>
        </p:nvSpPr>
        <p:spPr>
          <a:xfrm>
            <a:off x="11530584" y="301752"/>
            <a:ext cx="109728" cy="109728"/>
          </a:xfrm>
          <a:prstGeom prst="rect">
            <a:avLst/>
          </a:prstGeom>
          <a:solidFill>
            <a:schemeClr val="accent5"/>
          </a:solidFill>
          <a:ln w="12700">
            <a:solidFill>
              <a:schemeClr val="accent5"/>
            </a:solidFill>
            <a:prstDash val="solid"/>
          </a:ln>
        </p:spPr>
      </p:sp>
      <p:sp>
        <p:nvSpPr>
          <p:cNvPr id="11" name="Text 0"/>
          <p:cNvSpPr>
            <a:spLocks noGrp="1"/>
          </p:cNvSpPr>
          <p:nvPr>
            <p:ph type="title" idx="100" hasCustomPrompt="1"/>
          </p:nvPr>
        </p:nvSpPr>
        <p:spPr>
          <a:xfrm>
            <a:off x="548640" y="530352"/>
            <a:ext cx="11091672" cy="640080"/>
          </a:xfrm>
          <a:prstGeom prst="rect">
            <a:avLst/>
          </a:prstGeom>
          <a:noFill/>
          <a:ln/>
        </p:spPr>
        <p:txBody>
          <a:bodyPr wrap="square" lIns="0" tIns="0" rIns="0" bIns="0" rtlCol="0" anchor="ctr"/>
          <a:lstStyle/>
          <a:p>
            <a:pPr marL="0" indent="0" algn="l">
              <a:buNone/>
            </a:pPr>
            <a:r>
              <a:rPr lang="en-US" sz="3200" b="1" dirty="0">
                <a:solidFill>
                  <a:schemeClr val="tx1"/>
                </a:solidFill>
              </a:rPr>
              <a:t>Limitations and where we go next</a:t>
            </a:r>
            <a:endParaRPr lang="en-US" sz="3200" dirty="0"/>
          </a:p>
        </p:txBody>
      </p:sp>
      <p:sp>
        <p:nvSpPr>
          <p:cNvPr id="12" name="Text 10"/>
          <p:cNvSpPr txBox="1"/>
          <p:nvPr/>
        </p:nvSpPr>
        <p:spPr>
          <a:xfrm>
            <a:off x="548640" y="1371600"/>
            <a:ext cx="2743200" cy="201168"/>
          </a:xfrm>
          <a:prstGeom prst="rect">
            <a:avLst/>
          </a:prstGeom>
          <a:noFill/>
          <a:ln/>
        </p:spPr>
        <p:txBody>
          <a:bodyPr wrap="square" lIns="0" tIns="0" rIns="0" bIns="0" rtlCol="0" anchor="t"/>
          <a:lstStyle/>
          <a:p>
            <a:pPr marL="0" indent="0">
              <a:buNone/>
            </a:pPr>
            <a:r>
              <a:rPr lang="en-US" sz="1000" b="1" dirty="0">
                <a:solidFill>
                  <a:schemeClr val="accent2"/>
                </a:solidFill>
                <a:latin typeface="Consolas" pitchFamily="34" charset="0"/>
                <a:ea typeface="Consolas" pitchFamily="34" charset="-122"/>
                <a:cs typeface="Consolas" pitchFamily="34" charset="-120"/>
              </a:rPr>
              <a:t>CHALLENGE</a:t>
            </a:r>
            <a:endParaRPr lang="en-US" sz="1000" dirty="0"/>
          </a:p>
        </p:txBody>
      </p:sp>
      <p:sp>
        <p:nvSpPr>
          <p:cNvPr id="13" name="Text 11"/>
          <p:cNvSpPr txBox="1"/>
          <p:nvPr/>
        </p:nvSpPr>
        <p:spPr>
          <a:xfrm>
            <a:off x="3931920" y="1371600"/>
            <a:ext cx="2743200" cy="201168"/>
          </a:xfrm>
          <a:prstGeom prst="rect">
            <a:avLst/>
          </a:prstGeom>
          <a:noFill/>
          <a:ln/>
        </p:spPr>
        <p:txBody>
          <a:bodyPr wrap="square" lIns="0" tIns="0" rIns="0" bIns="0" rtlCol="0" anchor="t"/>
          <a:lstStyle/>
          <a:p>
            <a:pPr marL="0" indent="0">
              <a:buNone/>
            </a:pPr>
            <a:r>
              <a:rPr lang="en-US" sz="1000" b="1" dirty="0">
                <a:solidFill>
                  <a:schemeClr val="accent1"/>
                </a:solidFill>
                <a:latin typeface="Consolas" pitchFamily="34" charset="0"/>
                <a:ea typeface="Consolas" pitchFamily="34" charset="-122"/>
                <a:cs typeface="Consolas" pitchFamily="34" charset="-120"/>
              </a:rPr>
              <a:t>NEXT STEP</a:t>
            </a:r>
            <a:endParaRPr lang="en-US" sz="1000" dirty="0"/>
          </a:p>
        </p:txBody>
      </p:sp>
      <p:sp>
        <p:nvSpPr>
          <p:cNvPr id="14" name="Shape 12"/>
          <p:cNvSpPr/>
          <p:nvPr/>
        </p:nvSpPr>
        <p:spPr>
          <a:xfrm>
            <a:off x="548640" y="1691640"/>
            <a:ext cx="2834640" cy="676656"/>
          </a:xfrm>
          <a:prstGeom prst="roundRect">
            <a:avLst>
              <a:gd name="adj" fmla="val 10811"/>
            </a:avLst>
          </a:prstGeom>
          <a:solidFill>
            <a:schemeClr val="bg2"/>
          </a:solidFill>
          <a:ln w="15875">
            <a:solidFill>
              <a:schemeClr val="accent2"/>
            </a:solidFill>
            <a:prstDash val="solid"/>
          </a:ln>
        </p:spPr>
      </p:sp>
      <p:pic>
        <p:nvPicPr>
          <p:cNvPr id="15" name="Image 0" descr="preencoded.png"/>
          <p:cNvPicPr>
            <a:picLocks noChangeAspect="1"/>
          </p:cNvPicPr>
          <p:nvPr/>
        </p:nvPicPr>
        <p:blipFill>
          <a:blip r:embed="rId3"/>
          <a:stretch>
            <a:fillRect/>
          </a:stretch>
        </p:blipFill>
        <p:spPr>
          <a:xfrm>
            <a:off x="713232" y="1874520"/>
            <a:ext cx="310896" cy="310896"/>
          </a:xfrm>
          <a:prstGeom prst="rect">
            <a:avLst/>
          </a:prstGeom>
        </p:spPr>
      </p:pic>
      <p:sp>
        <p:nvSpPr>
          <p:cNvPr id="16" name="Text 13"/>
          <p:cNvSpPr txBox="1"/>
          <p:nvPr/>
        </p:nvSpPr>
        <p:spPr>
          <a:xfrm>
            <a:off x="1143000" y="1691640"/>
            <a:ext cx="2194560" cy="676656"/>
          </a:xfrm>
          <a:prstGeom prst="rect">
            <a:avLst/>
          </a:prstGeom>
          <a:noFill/>
          <a:ln/>
        </p:spPr>
        <p:txBody>
          <a:bodyPr wrap="square" lIns="0" tIns="0" rIns="0" bIns="0" rtlCol="0" anchor="ctr"/>
          <a:lstStyle/>
          <a:p>
            <a:pPr marL="0" indent="0">
              <a:buNone/>
            </a:pPr>
            <a:r>
              <a:rPr lang="en-US" sz="1400" dirty="0">
                <a:solidFill>
                  <a:schemeClr val="tx1"/>
                </a:solidFill>
              </a:rPr>
              <a:t>Battery limits</a:t>
            </a:r>
            <a:endParaRPr lang="en-US" sz="1400" dirty="0"/>
          </a:p>
        </p:txBody>
      </p:sp>
      <p:sp>
        <p:nvSpPr>
          <p:cNvPr id="17" name="Shape 14"/>
          <p:cNvSpPr/>
          <p:nvPr/>
        </p:nvSpPr>
        <p:spPr>
          <a:xfrm>
            <a:off x="3456432" y="2029968"/>
            <a:ext cx="411480" cy="0"/>
          </a:xfrm>
          <a:prstGeom prst="line">
            <a:avLst/>
          </a:prstGeom>
          <a:noFill/>
          <a:ln w="19050">
            <a:solidFill>
              <a:schemeClr val="accent1"/>
            </a:solidFill>
            <a:prstDash val="dash"/>
            <a:tailEnd type="triangle"/>
          </a:ln>
        </p:spPr>
      </p:sp>
      <p:sp>
        <p:nvSpPr>
          <p:cNvPr id="18" name="Shape 15"/>
          <p:cNvSpPr/>
          <p:nvPr/>
        </p:nvSpPr>
        <p:spPr>
          <a:xfrm>
            <a:off x="3931920" y="1691640"/>
            <a:ext cx="3017520" cy="676656"/>
          </a:xfrm>
          <a:prstGeom prst="roundRect">
            <a:avLst>
              <a:gd name="adj" fmla="val 10811"/>
            </a:avLst>
          </a:prstGeom>
          <a:solidFill>
            <a:schemeClr val="accent1">
              <a:alpha val="10000"/>
            </a:schemeClr>
          </a:solidFill>
          <a:ln w="15875">
            <a:solidFill>
              <a:schemeClr val="accent1"/>
            </a:solidFill>
            <a:prstDash val="solid"/>
          </a:ln>
        </p:spPr>
      </p:sp>
      <p:pic>
        <p:nvPicPr>
          <p:cNvPr id="19" name="Image 1" descr="preencoded.png"/>
          <p:cNvPicPr>
            <a:picLocks noChangeAspect="1"/>
          </p:cNvPicPr>
          <p:nvPr/>
        </p:nvPicPr>
        <p:blipFill>
          <a:blip r:embed="rId4"/>
          <a:stretch>
            <a:fillRect/>
          </a:stretch>
        </p:blipFill>
        <p:spPr>
          <a:xfrm>
            <a:off x="4078224" y="1874520"/>
            <a:ext cx="310896" cy="310896"/>
          </a:xfrm>
          <a:prstGeom prst="rect">
            <a:avLst/>
          </a:prstGeom>
        </p:spPr>
      </p:pic>
      <p:sp>
        <p:nvSpPr>
          <p:cNvPr id="20" name="Text 16"/>
          <p:cNvSpPr txBox="1"/>
          <p:nvPr/>
        </p:nvSpPr>
        <p:spPr>
          <a:xfrm>
            <a:off x="4498848" y="1709928"/>
            <a:ext cx="2377440" cy="640080"/>
          </a:xfrm>
          <a:prstGeom prst="rect">
            <a:avLst/>
          </a:prstGeom>
          <a:noFill/>
          <a:ln/>
        </p:spPr>
        <p:txBody>
          <a:bodyPr wrap="square" lIns="0" tIns="0" rIns="0" bIns="0" rtlCol="0" anchor="ctr"/>
          <a:lstStyle/>
          <a:p>
            <a:pPr marL="0" indent="0">
              <a:buNone/>
            </a:pPr>
            <a:r>
              <a:rPr lang="en-US" sz="1400" b="1" dirty="0">
                <a:solidFill>
                  <a:schemeClr val="tx1"/>
                </a:solidFill>
              </a:rPr>
              <a:t>Multi-drone coordination</a:t>
            </a:r>
            <a:endParaRPr lang="en-US" sz="1400" dirty="0"/>
          </a:p>
          <a:p>
            <a:pPr marL="0" indent="0">
              <a:buNone/>
            </a:pPr>
            <a:r>
              <a:rPr lang="en-US" sz="1000" dirty="0">
                <a:solidFill>
                  <a:schemeClr val="tx2"/>
                </a:solidFill>
              </a:rPr>
              <a:t>Share the search area</a:t>
            </a:r>
            <a:endParaRPr lang="en-US" sz="1400" dirty="0"/>
          </a:p>
        </p:txBody>
      </p:sp>
      <p:sp>
        <p:nvSpPr>
          <p:cNvPr id="21" name="Shape 17"/>
          <p:cNvSpPr/>
          <p:nvPr/>
        </p:nvSpPr>
        <p:spPr>
          <a:xfrm>
            <a:off x="548640" y="2514600"/>
            <a:ext cx="2834640" cy="676656"/>
          </a:xfrm>
          <a:prstGeom prst="roundRect">
            <a:avLst>
              <a:gd name="adj" fmla="val 10811"/>
            </a:avLst>
          </a:prstGeom>
          <a:solidFill>
            <a:schemeClr val="bg2"/>
          </a:solidFill>
          <a:ln w="15875">
            <a:solidFill>
              <a:schemeClr val="accent2"/>
            </a:solidFill>
            <a:prstDash val="solid"/>
          </a:ln>
        </p:spPr>
      </p:sp>
      <p:pic>
        <p:nvPicPr>
          <p:cNvPr id="22" name="Image 2" descr="preencoded.png"/>
          <p:cNvPicPr>
            <a:picLocks noChangeAspect="1"/>
          </p:cNvPicPr>
          <p:nvPr/>
        </p:nvPicPr>
        <p:blipFill>
          <a:blip r:embed="rId5"/>
          <a:stretch>
            <a:fillRect/>
          </a:stretch>
        </p:blipFill>
        <p:spPr>
          <a:xfrm>
            <a:off x="713232" y="2697480"/>
            <a:ext cx="310896" cy="310896"/>
          </a:xfrm>
          <a:prstGeom prst="rect">
            <a:avLst/>
          </a:prstGeom>
        </p:spPr>
      </p:pic>
      <p:sp>
        <p:nvSpPr>
          <p:cNvPr id="23" name="Text 18"/>
          <p:cNvSpPr txBox="1"/>
          <p:nvPr/>
        </p:nvSpPr>
        <p:spPr>
          <a:xfrm>
            <a:off x="1143000" y="2514600"/>
            <a:ext cx="2194560" cy="676656"/>
          </a:xfrm>
          <a:prstGeom prst="rect">
            <a:avLst/>
          </a:prstGeom>
          <a:noFill/>
          <a:ln/>
        </p:spPr>
        <p:txBody>
          <a:bodyPr wrap="square" lIns="0" tIns="0" rIns="0" bIns="0" rtlCol="0" anchor="ctr"/>
          <a:lstStyle/>
          <a:p>
            <a:pPr marL="0" indent="0">
              <a:buNone/>
            </a:pPr>
            <a:r>
              <a:rPr lang="en-US" sz="1400" dirty="0">
                <a:solidFill>
                  <a:schemeClr val="tx1"/>
                </a:solidFill>
              </a:rPr>
              <a:t>Weather conditions</a:t>
            </a:r>
            <a:endParaRPr lang="en-US" sz="1400" dirty="0"/>
          </a:p>
        </p:txBody>
      </p:sp>
      <p:sp>
        <p:nvSpPr>
          <p:cNvPr id="24" name="Shape 19"/>
          <p:cNvSpPr/>
          <p:nvPr/>
        </p:nvSpPr>
        <p:spPr>
          <a:xfrm>
            <a:off x="3456432" y="2852928"/>
            <a:ext cx="411480" cy="0"/>
          </a:xfrm>
          <a:prstGeom prst="line">
            <a:avLst/>
          </a:prstGeom>
          <a:noFill/>
          <a:ln w="19050">
            <a:solidFill>
              <a:schemeClr val="accent1"/>
            </a:solidFill>
            <a:prstDash val="dash"/>
            <a:tailEnd type="triangle"/>
          </a:ln>
        </p:spPr>
      </p:sp>
      <p:sp>
        <p:nvSpPr>
          <p:cNvPr id="25" name="Shape 20"/>
          <p:cNvSpPr/>
          <p:nvPr/>
        </p:nvSpPr>
        <p:spPr>
          <a:xfrm>
            <a:off x="3931920" y="2514600"/>
            <a:ext cx="3017520" cy="676656"/>
          </a:xfrm>
          <a:prstGeom prst="roundRect">
            <a:avLst>
              <a:gd name="adj" fmla="val 10811"/>
            </a:avLst>
          </a:prstGeom>
          <a:solidFill>
            <a:schemeClr val="accent1">
              <a:alpha val="10000"/>
            </a:schemeClr>
          </a:solidFill>
          <a:ln w="15875">
            <a:solidFill>
              <a:schemeClr val="accent1"/>
            </a:solidFill>
            <a:prstDash val="solid"/>
          </a:ln>
        </p:spPr>
      </p:sp>
      <p:pic>
        <p:nvPicPr>
          <p:cNvPr id="26" name="Image 3" descr="preencoded.png"/>
          <p:cNvPicPr>
            <a:picLocks noChangeAspect="1"/>
          </p:cNvPicPr>
          <p:nvPr/>
        </p:nvPicPr>
        <p:blipFill>
          <a:blip r:embed="rId6"/>
          <a:stretch>
            <a:fillRect/>
          </a:stretch>
        </p:blipFill>
        <p:spPr>
          <a:xfrm>
            <a:off x="4078224" y="2697480"/>
            <a:ext cx="310896" cy="310896"/>
          </a:xfrm>
          <a:prstGeom prst="rect">
            <a:avLst/>
          </a:prstGeom>
        </p:spPr>
      </p:pic>
      <p:sp>
        <p:nvSpPr>
          <p:cNvPr id="27" name="Text 21"/>
          <p:cNvSpPr txBox="1"/>
          <p:nvPr/>
        </p:nvSpPr>
        <p:spPr>
          <a:xfrm>
            <a:off x="4498848" y="2532888"/>
            <a:ext cx="2377440" cy="640080"/>
          </a:xfrm>
          <a:prstGeom prst="rect">
            <a:avLst/>
          </a:prstGeom>
          <a:noFill/>
          <a:ln/>
        </p:spPr>
        <p:txBody>
          <a:bodyPr wrap="square" lIns="0" tIns="0" rIns="0" bIns="0" rtlCol="0" anchor="ctr"/>
          <a:lstStyle/>
          <a:p>
            <a:pPr marL="0" indent="0">
              <a:buNone/>
            </a:pPr>
            <a:r>
              <a:rPr lang="en-US" sz="1400" b="1" dirty="0">
                <a:solidFill>
                  <a:schemeClr val="tx1"/>
                </a:solidFill>
              </a:rPr>
              <a:t>More robust detection</a:t>
            </a:r>
            <a:endParaRPr lang="en-US" sz="1400" dirty="0"/>
          </a:p>
          <a:p>
            <a:pPr marL="0" indent="0">
              <a:buNone/>
            </a:pPr>
            <a:r>
              <a:rPr lang="en-US" sz="1000" dirty="0">
                <a:solidFill>
                  <a:schemeClr val="tx2"/>
                </a:solidFill>
              </a:rPr>
              <a:t>Improved computer vision</a:t>
            </a:r>
            <a:endParaRPr lang="en-US" sz="1400" dirty="0"/>
          </a:p>
        </p:txBody>
      </p:sp>
      <p:sp>
        <p:nvSpPr>
          <p:cNvPr id="28" name="Shape 22"/>
          <p:cNvSpPr/>
          <p:nvPr/>
        </p:nvSpPr>
        <p:spPr>
          <a:xfrm>
            <a:off x="548640" y="3337560"/>
            <a:ext cx="2834640" cy="676656"/>
          </a:xfrm>
          <a:prstGeom prst="roundRect">
            <a:avLst>
              <a:gd name="adj" fmla="val 10811"/>
            </a:avLst>
          </a:prstGeom>
          <a:solidFill>
            <a:schemeClr val="bg2"/>
          </a:solidFill>
          <a:ln w="15875">
            <a:solidFill>
              <a:schemeClr val="accent2"/>
            </a:solidFill>
            <a:prstDash val="solid"/>
          </a:ln>
        </p:spPr>
      </p:sp>
      <p:pic>
        <p:nvPicPr>
          <p:cNvPr id="29" name="Image 4" descr="preencoded.png"/>
          <p:cNvPicPr>
            <a:picLocks noChangeAspect="1"/>
          </p:cNvPicPr>
          <p:nvPr/>
        </p:nvPicPr>
        <p:blipFill>
          <a:blip r:embed="rId7"/>
          <a:stretch>
            <a:fillRect/>
          </a:stretch>
        </p:blipFill>
        <p:spPr>
          <a:xfrm>
            <a:off x="713232" y="3520440"/>
            <a:ext cx="310896" cy="310896"/>
          </a:xfrm>
          <a:prstGeom prst="rect">
            <a:avLst/>
          </a:prstGeom>
        </p:spPr>
      </p:pic>
      <p:sp>
        <p:nvSpPr>
          <p:cNvPr id="30" name="Text 23"/>
          <p:cNvSpPr txBox="1"/>
          <p:nvPr/>
        </p:nvSpPr>
        <p:spPr>
          <a:xfrm>
            <a:off x="1143000" y="3337560"/>
            <a:ext cx="2194560" cy="676656"/>
          </a:xfrm>
          <a:prstGeom prst="rect">
            <a:avLst/>
          </a:prstGeom>
          <a:noFill/>
          <a:ln/>
        </p:spPr>
        <p:txBody>
          <a:bodyPr wrap="square" lIns="0" tIns="0" rIns="0" bIns="0" rtlCol="0" anchor="ctr"/>
          <a:lstStyle/>
          <a:p>
            <a:pPr marL="0" indent="0">
              <a:buNone/>
            </a:pPr>
            <a:r>
              <a:rPr lang="en-US" sz="1400" dirty="0">
                <a:solidFill>
                  <a:schemeClr val="tx1"/>
                </a:solidFill>
              </a:rPr>
              <a:t>Damaged or uncertain maps</a:t>
            </a:r>
            <a:endParaRPr lang="en-US" sz="1400" dirty="0"/>
          </a:p>
        </p:txBody>
      </p:sp>
      <p:sp>
        <p:nvSpPr>
          <p:cNvPr id="31" name="Shape 24"/>
          <p:cNvSpPr/>
          <p:nvPr/>
        </p:nvSpPr>
        <p:spPr>
          <a:xfrm>
            <a:off x="3456432" y="3675888"/>
            <a:ext cx="411480" cy="0"/>
          </a:xfrm>
          <a:prstGeom prst="line">
            <a:avLst/>
          </a:prstGeom>
          <a:noFill/>
          <a:ln w="19050">
            <a:solidFill>
              <a:schemeClr val="accent1"/>
            </a:solidFill>
            <a:prstDash val="dash"/>
            <a:tailEnd type="triangle"/>
          </a:ln>
        </p:spPr>
      </p:sp>
      <p:sp>
        <p:nvSpPr>
          <p:cNvPr id="32" name="Shape 25"/>
          <p:cNvSpPr/>
          <p:nvPr/>
        </p:nvSpPr>
        <p:spPr>
          <a:xfrm>
            <a:off x="3931920" y="3337560"/>
            <a:ext cx="3017520" cy="676656"/>
          </a:xfrm>
          <a:prstGeom prst="roundRect">
            <a:avLst>
              <a:gd name="adj" fmla="val 10811"/>
            </a:avLst>
          </a:prstGeom>
          <a:solidFill>
            <a:schemeClr val="accent1">
              <a:alpha val="10000"/>
            </a:schemeClr>
          </a:solidFill>
          <a:ln w="15875">
            <a:solidFill>
              <a:schemeClr val="accent1"/>
            </a:solidFill>
            <a:prstDash val="solid"/>
          </a:ln>
        </p:spPr>
      </p:sp>
      <p:pic>
        <p:nvPicPr>
          <p:cNvPr id="33" name="Image 5" descr="preencoded.png"/>
          <p:cNvPicPr>
            <a:picLocks noChangeAspect="1"/>
          </p:cNvPicPr>
          <p:nvPr/>
        </p:nvPicPr>
        <p:blipFill>
          <a:blip r:embed="rId8"/>
          <a:stretch>
            <a:fillRect/>
          </a:stretch>
        </p:blipFill>
        <p:spPr>
          <a:xfrm>
            <a:off x="4078224" y="3520440"/>
            <a:ext cx="310896" cy="310896"/>
          </a:xfrm>
          <a:prstGeom prst="rect">
            <a:avLst/>
          </a:prstGeom>
        </p:spPr>
      </p:pic>
      <p:sp>
        <p:nvSpPr>
          <p:cNvPr id="34" name="Text 26"/>
          <p:cNvSpPr txBox="1"/>
          <p:nvPr/>
        </p:nvSpPr>
        <p:spPr>
          <a:xfrm>
            <a:off x="4498848" y="3355848"/>
            <a:ext cx="2377440" cy="640080"/>
          </a:xfrm>
          <a:prstGeom prst="rect">
            <a:avLst/>
          </a:prstGeom>
          <a:noFill/>
          <a:ln/>
        </p:spPr>
        <p:txBody>
          <a:bodyPr wrap="square" lIns="0" tIns="0" rIns="0" bIns="0" rtlCol="0" anchor="ctr"/>
          <a:lstStyle/>
          <a:p>
            <a:pPr marL="0" indent="0">
              <a:buNone/>
            </a:pPr>
            <a:r>
              <a:rPr lang="en-US" sz="1400" b="1" dirty="0">
                <a:solidFill>
                  <a:schemeClr val="tx1"/>
                </a:solidFill>
              </a:rPr>
              <a:t>Dynamic path planning</a:t>
            </a:r>
            <a:endParaRPr lang="en-US" sz="1400" dirty="0"/>
          </a:p>
          <a:p>
            <a:pPr marL="0" indent="0">
              <a:buNone/>
            </a:pPr>
            <a:r>
              <a:rPr lang="en-US" sz="1000" dirty="0">
                <a:solidFill>
                  <a:schemeClr val="tx2"/>
                </a:solidFill>
              </a:rPr>
              <a:t>Re-plan when the map changes</a:t>
            </a:r>
            <a:endParaRPr lang="en-US" sz="1400" dirty="0"/>
          </a:p>
        </p:txBody>
      </p:sp>
      <p:sp>
        <p:nvSpPr>
          <p:cNvPr id="35" name="Shape 27"/>
          <p:cNvSpPr/>
          <p:nvPr/>
        </p:nvSpPr>
        <p:spPr>
          <a:xfrm>
            <a:off x="548640" y="4160520"/>
            <a:ext cx="2834640" cy="676656"/>
          </a:xfrm>
          <a:prstGeom prst="roundRect">
            <a:avLst>
              <a:gd name="adj" fmla="val 10811"/>
            </a:avLst>
          </a:prstGeom>
          <a:solidFill>
            <a:schemeClr val="bg2"/>
          </a:solidFill>
          <a:ln w="15875">
            <a:solidFill>
              <a:schemeClr val="accent2"/>
            </a:solidFill>
            <a:prstDash val="solid"/>
          </a:ln>
        </p:spPr>
      </p:sp>
      <p:pic>
        <p:nvPicPr>
          <p:cNvPr id="36" name="Image 6" descr="preencoded.png"/>
          <p:cNvPicPr>
            <a:picLocks noChangeAspect="1"/>
          </p:cNvPicPr>
          <p:nvPr/>
        </p:nvPicPr>
        <p:blipFill>
          <a:blip r:embed="rId9"/>
          <a:stretch>
            <a:fillRect/>
          </a:stretch>
        </p:blipFill>
        <p:spPr>
          <a:xfrm>
            <a:off x="713232" y="4343400"/>
            <a:ext cx="310896" cy="310896"/>
          </a:xfrm>
          <a:prstGeom prst="rect">
            <a:avLst/>
          </a:prstGeom>
        </p:spPr>
      </p:pic>
      <p:sp>
        <p:nvSpPr>
          <p:cNvPr id="37" name="Text 28"/>
          <p:cNvSpPr txBox="1"/>
          <p:nvPr/>
        </p:nvSpPr>
        <p:spPr>
          <a:xfrm>
            <a:off x="1143000" y="4160520"/>
            <a:ext cx="2194560" cy="676656"/>
          </a:xfrm>
          <a:prstGeom prst="rect">
            <a:avLst/>
          </a:prstGeom>
          <a:noFill/>
          <a:ln/>
        </p:spPr>
        <p:txBody>
          <a:bodyPr wrap="square" lIns="0" tIns="0" rIns="0" bIns="0" rtlCol="0" anchor="ctr"/>
          <a:lstStyle/>
          <a:p>
            <a:pPr marL="0" indent="0">
              <a:buNone/>
            </a:pPr>
            <a:r>
              <a:rPr lang="en-US" sz="1400" dirty="0">
                <a:solidFill>
                  <a:schemeClr val="tx1"/>
                </a:solidFill>
              </a:rPr>
              <a:t>Communication loss</a:t>
            </a:r>
            <a:endParaRPr lang="en-US" sz="1400" dirty="0"/>
          </a:p>
        </p:txBody>
      </p:sp>
      <p:sp>
        <p:nvSpPr>
          <p:cNvPr id="38" name="Shape 29"/>
          <p:cNvSpPr/>
          <p:nvPr/>
        </p:nvSpPr>
        <p:spPr>
          <a:xfrm>
            <a:off x="3456432" y="4498848"/>
            <a:ext cx="411480" cy="0"/>
          </a:xfrm>
          <a:prstGeom prst="line">
            <a:avLst/>
          </a:prstGeom>
          <a:noFill/>
          <a:ln w="19050">
            <a:solidFill>
              <a:schemeClr val="accent1"/>
            </a:solidFill>
            <a:prstDash val="dash"/>
            <a:tailEnd type="triangle"/>
          </a:ln>
        </p:spPr>
      </p:sp>
      <p:sp>
        <p:nvSpPr>
          <p:cNvPr id="39" name="Shape 30"/>
          <p:cNvSpPr/>
          <p:nvPr/>
        </p:nvSpPr>
        <p:spPr>
          <a:xfrm>
            <a:off x="3931920" y="4160520"/>
            <a:ext cx="3017520" cy="676656"/>
          </a:xfrm>
          <a:prstGeom prst="roundRect">
            <a:avLst>
              <a:gd name="adj" fmla="val 10811"/>
            </a:avLst>
          </a:prstGeom>
          <a:solidFill>
            <a:schemeClr val="accent1">
              <a:alpha val="10000"/>
            </a:schemeClr>
          </a:solidFill>
          <a:ln w="15875">
            <a:solidFill>
              <a:schemeClr val="accent1"/>
            </a:solidFill>
            <a:prstDash val="solid"/>
          </a:ln>
        </p:spPr>
      </p:sp>
      <p:pic>
        <p:nvPicPr>
          <p:cNvPr id="40" name="Image 7" descr="preencoded.png"/>
          <p:cNvPicPr>
            <a:picLocks noChangeAspect="1"/>
          </p:cNvPicPr>
          <p:nvPr/>
        </p:nvPicPr>
        <p:blipFill>
          <a:blip r:embed="rId10"/>
          <a:stretch>
            <a:fillRect/>
          </a:stretch>
        </p:blipFill>
        <p:spPr>
          <a:xfrm>
            <a:off x="4078224" y="4343400"/>
            <a:ext cx="310896" cy="310896"/>
          </a:xfrm>
          <a:prstGeom prst="rect">
            <a:avLst/>
          </a:prstGeom>
        </p:spPr>
      </p:pic>
      <p:sp>
        <p:nvSpPr>
          <p:cNvPr id="41" name="Text 31"/>
          <p:cNvSpPr txBox="1"/>
          <p:nvPr/>
        </p:nvSpPr>
        <p:spPr>
          <a:xfrm>
            <a:off x="4498848" y="4178808"/>
            <a:ext cx="2377440" cy="640080"/>
          </a:xfrm>
          <a:prstGeom prst="rect">
            <a:avLst/>
          </a:prstGeom>
          <a:noFill/>
          <a:ln/>
        </p:spPr>
        <p:txBody>
          <a:bodyPr wrap="square" lIns="0" tIns="0" rIns="0" bIns="0" rtlCol="0" anchor="ctr"/>
          <a:lstStyle/>
          <a:p>
            <a:pPr marL="0" indent="0">
              <a:buNone/>
            </a:pPr>
            <a:r>
              <a:rPr lang="en-US" sz="1400" b="1" dirty="0">
                <a:solidFill>
                  <a:schemeClr val="tx1"/>
                </a:solidFill>
              </a:rPr>
              <a:t>Onboard real-time mapping</a:t>
            </a:r>
            <a:endParaRPr lang="en-US" sz="1400" dirty="0"/>
          </a:p>
          <a:p>
            <a:pPr marL="0" indent="0">
              <a:buNone/>
            </a:pPr>
            <a:r>
              <a:rPr lang="en-US" sz="1000" dirty="0">
                <a:solidFill>
                  <a:schemeClr val="tx2"/>
                </a:solidFill>
              </a:rPr>
              <a:t>Build the map on the drone</a:t>
            </a:r>
            <a:endParaRPr lang="en-US" sz="1400" dirty="0"/>
          </a:p>
        </p:txBody>
      </p:sp>
      <p:sp>
        <p:nvSpPr>
          <p:cNvPr id="42" name="Shape 32"/>
          <p:cNvSpPr/>
          <p:nvPr/>
        </p:nvSpPr>
        <p:spPr>
          <a:xfrm>
            <a:off x="548640" y="4983480"/>
            <a:ext cx="2834640" cy="676656"/>
          </a:xfrm>
          <a:prstGeom prst="roundRect">
            <a:avLst>
              <a:gd name="adj" fmla="val 10811"/>
            </a:avLst>
          </a:prstGeom>
          <a:solidFill>
            <a:schemeClr val="bg2"/>
          </a:solidFill>
          <a:ln w="15875">
            <a:solidFill>
              <a:schemeClr val="accent2"/>
            </a:solidFill>
            <a:prstDash val="solid"/>
          </a:ln>
        </p:spPr>
      </p:sp>
      <p:pic>
        <p:nvPicPr>
          <p:cNvPr id="43" name="Image 8" descr="preencoded.png"/>
          <p:cNvPicPr>
            <a:picLocks noChangeAspect="1"/>
          </p:cNvPicPr>
          <p:nvPr/>
        </p:nvPicPr>
        <p:blipFill>
          <a:blip r:embed="rId11"/>
          <a:stretch>
            <a:fillRect/>
          </a:stretch>
        </p:blipFill>
        <p:spPr>
          <a:xfrm>
            <a:off x="713232" y="5166360"/>
            <a:ext cx="310896" cy="310896"/>
          </a:xfrm>
          <a:prstGeom prst="rect">
            <a:avLst/>
          </a:prstGeom>
        </p:spPr>
      </p:pic>
      <p:sp>
        <p:nvSpPr>
          <p:cNvPr id="44" name="Text 33"/>
          <p:cNvSpPr txBox="1"/>
          <p:nvPr/>
        </p:nvSpPr>
        <p:spPr>
          <a:xfrm>
            <a:off x="1143000" y="4983480"/>
            <a:ext cx="2194560" cy="676656"/>
          </a:xfrm>
          <a:prstGeom prst="rect">
            <a:avLst/>
          </a:prstGeom>
          <a:noFill/>
          <a:ln/>
        </p:spPr>
        <p:txBody>
          <a:bodyPr wrap="square" lIns="0" tIns="0" rIns="0" bIns="0" rtlCol="0" anchor="ctr"/>
          <a:lstStyle/>
          <a:p>
            <a:pPr marL="0" indent="0">
              <a:buNone/>
            </a:pPr>
            <a:r>
              <a:rPr lang="en-US" sz="1400" dirty="0">
                <a:solidFill>
                  <a:schemeClr val="tx1"/>
                </a:solidFill>
              </a:rPr>
              <a:t>False survivor detection</a:t>
            </a:r>
            <a:endParaRPr lang="en-US" sz="1400" dirty="0"/>
          </a:p>
        </p:txBody>
      </p:sp>
      <p:sp>
        <p:nvSpPr>
          <p:cNvPr id="45" name="Shape 34"/>
          <p:cNvSpPr/>
          <p:nvPr/>
        </p:nvSpPr>
        <p:spPr>
          <a:xfrm>
            <a:off x="3456432" y="5321808"/>
            <a:ext cx="411480" cy="0"/>
          </a:xfrm>
          <a:prstGeom prst="line">
            <a:avLst/>
          </a:prstGeom>
          <a:noFill/>
          <a:ln w="19050">
            <a:solidFill>
              <a:schemeClr val="accent1"/>
            </a:solidFill>
            <a:prstDash val="dash"/>
            <a:tailEnd type="triangle"/>
          </a:ln>
        </p:spPr>
      </p:sp>
      <p:sp>
        <p:nvSpPr>
          <p:cNvPr id="46" name="Shape 35"/>
          <p:cNvSpPr/>
          <p:nvPr/>
        </p:nvSpPr>
        <p:spPr>
          <a:xfrm>
            <a:off x="3931920" y="4983480"/>
            <a:ext cx="3017520" cy="676656"/>
          </a:xfrm>
          <a:prstGeom prst="roundRect">
            <a:avLst>
              <a:gd name="adj" fmla="val 10811"/>
            </a:avLst>
          </a:prstGeom>
          <a:solidFill>
            <a:schemeClr val="accent1">
              <a:alpha val="10000"/>
            </a:schemeClr>
          </a:solidFill>
          <a:ln w="15875">
            <a:solidFill>
              <a:schemeClr val="accent1"/>
            </a:solidFill>
            <a:prstDash val="solid"/>
          </a:ln>
        </p:spPr>
      </p:sp>
      <p:pic>
        <p:nvPicPr>
          <p:cNvPr id="47" name="Image 9" descr="preencoded.png"/>
          <p:cNvPicPr>
            <a:picLocks noChangeAspect="1"/>
          </p:cNvPicPr>
          <p:nvPr/>
        </p:nvPicPr>
        <p:blipFill>
          <a:blip r:embed="rId12"/>
          <a:stretch>
            <a:fillRect/>
          </a:stretch>
        </p:blipFill>
        <p:spPr>
          <a:xfrm>
            <a:off x="4078224" y="5166360"/>
            <a:ext cx="310896" cy="310896"/>
          </a:xfrm>
          <a:prstGeom prst="rect">
            <a:avLst/>
          </a:prstGeom>
        </p:spPr>
      </p:pic>
      <p:sp>
        <p:nvSpPr>
          <p:cNvPr id="48" name="Text 36"/>
          <p:cNvSpPr txBox="1"/>
          <p:nvPr/>
        </p:nvSpPr>
        <p:spPr>
          <a:xfrm>
            <a:off x="4498848" y="5001768"/>
            <a:ext cx="2377440" cy="640080"/>
          </a:xfrm>
          <a:prstGeom prst="rect">
            <a:avLst/>
          </a:prstGeom>
          <a:noFill/>
          <a:ln/>
        </p:spPr>
        <p:txBody>
          <a:bodyPr wrap="square" lIns="0" tIns="0" rIns="0" bIns="0" rtlCol="0" anchor="ctr"/>
          <a:lstStyle/>
          <a:p>
            <a:pPr marL="0" indent="0">
              <a:buNone/>
            </a:pPr>
            <a:r>
              <a:rPr lang="en-US" sz="1400" b="1" dirty="0">
                <a:solidFill>
                  <a:schemeClr val="tx1"/>
                </a:solidFill>
              </a:rPr>
              <a:t>Human confirmation</a:t>
            </a:r>
            <a:endParaRPr lang="en-US" sz="1400" dirty="0"/>
          </a:p>
          <a:p>
            <a:pPr marL="0" indent="0">
              <a:buNone/>
            </a:pPr>
            <a:r>
              <a:rPr lang="en-US" sz="1000" dirty="0">
                <a:solidFill>
                  <a:schemeClr val="tx2"/>
                </a:solidFill>
              </a:rPr>
              <a:t>Confidence thresholds + coordinator check</a:t>
            </a:r>
            <a:endParaRPr lang="en-US" sz="1400" dirty="0"/>
          </a:p>
        </p:txBody>
      </p:sp>
      <p:pic>
        <p:nvPicPr>
          <p:cNvPr id="49" name="Mission control" descr="Mission-control screens showing mission status, planned A* path and a possible survivor on the camera feed"/>
          <p:cNvPicPr>
            <a:picLocks noChangeAspect="1"/>
          </p:cNvPicPr>
          <p:nvPr/>
        </p:nvPicPr>
        <p:blipFill>
          <a:blip r:embed="rId13"/>
          <a:stretch>
            <a:fillRect/>
          </a:stretch>
        </p:blipFill>
        <p:spPr>
          <a:xfrm>
            <a:off x="7269480" y="1417320"/>
            <a:ext cx="4370832" cy="2788920"/>
          </a:xfrm>
          <a:prstGeom prst="rect">
            <a:avLst/>
          </a:prstGeom>
        </p:spPr>
      </p:pic>
      <p:sp>
        <p:nvSpPr>
          <p:cNvPr id="50" name="Shape 37"/>
          <p:cNvSpPr/>
          <p:nvPr/>
        </p:nvSpPr>
        <p:spPr>
          <a:xfrm>
            <a:off x="7205472" y="1353312"/>
            <a:ext cx="274320" cy="0"/>
          </a:xfrm>
          <a:prstGeom prst="line">
            <a:avLst/>
          </a:prstGeom>
          <a:noFill/>
          <a:ln w="25400">
            <a:solidFill>
              <a:schemeClr val="accent1"/>
            </a:solidFill>
            <a:prstDash val="solid"/>
          </a:ln>
        </p:spPr>
      </p:sp>
      <p:sp>
        <p:nvSpPr>
          <p:cNvPr id="51" name="Shape 38"/>
          <p:cNvSpPr/>
          <p:nvPr/>
        </p:nvSpPr>
        <p:spPr>
          <a:xfrm>
            <a:off x="7205472" y="1353312"/>
            <a:ext cx="0" cy="274320"/>
          </a:xfrm>
          <a:prstGeom prst="line">
            <a:avLst/>
          </a:prstGeom>
          <a:noFill/>
          <a:ln w="25400">
            <a:solidFill>
              <a:schemeClr val="accent1"/>
            </a:solidFill>
            <a:prstDash val="solid"/>
          </a:ln>
        </p:spPr>
      </p:sp>
      <p:sp>
        <p:nvSpPr>
          <p:cNvPr id="52" name="Shape 39"/>
          <p:cNvSpPr/>
          <p:nvPr/>
        </p:nvSpPr>
        <p:spPr>
          <a:xfrm>
            <a:off x="11430000" y="1353312"/>
            <a:ext cx="274320" cy="0"/>
          </a:xfrm>
          <a:prstGeom prst="line">
            <a:avLst/>
          </a:prstGeom>
          <a:noFill/>
          <a:ln w="25400">
            <a:solidFill>
              <a:schemeClr val="accent1"/>
            </a:solidFill>
            <a:prstDash val="solid"/>
          </a:ln>
        </p:spPr>
      </p:sp>
      <p:sp>
        <p:nvSpPr>
          <p:cNvPr id="53" name="Shape 40"/>
          <p:cNvSpPr/>
          <p:nvPr/>
        </p:nvSpPr>
        <p:spPr>
          <a:xfrm>
            <a:off x="11704320" y="1353312"/>
            <a:ext cx="0" cy="274320"/>
          </a:xfrm>
          <a:prstGeom prst="line">
            <a:avLst/>
          </a:prstGeom>
          <a:noFill/>
          <a:ln w="25400">
            <a:solidFill>
              <a:schemeClr val="accent1"/>
            </a:solidFill>
            <a:prstDash val="solid"/>
          </a:ln>
        </p:spPr>
      </p:sp>
      <p:sp>
        <p:nvSpPr>
          <p:cNvPr id="54" name="Shape 41"/>
          <p:cNvSpPr/>
          <p:nvPr/>
        </p:nvSpPr>
        <p:spPr>
          <a:xfrm>
            <a:off x="7205472" y="4270248"/>
            <a:ext cx="274320" cy="0"/>
          </a:xfrm>
          <a:prstGeom prst="line">
            <a:avLst/>
          </a:prstGeom>
          <a:noFill/>
          <a:ln w="25400">
            <a:solidFill>
              <a:schemeClr val="accent1"/>
            </a:solidFill>
            <a:prstDash val="solid"/>
          </a:ln>
        </p:spPr>
      </p:sp>
      <p:sp>
        <p:nvSpPr>
          <p:cNvPr id="55" name="Shape 42"/>
          <p:cNvSpPr/>
          <p:nvPr/>
        </p:nvSpPr>
        <p:spPr>
          <a:xfrm>
            <a:off x="7205472" y="3995928"/>
            <a:ext cx="0" cy="274320"/>
          </a:xfrm>
          <a:prstGeom prst="line">
            <a:avLst/>
          </a:prstGeom>
          <a:noFill/>
          <a:ln w="25400">
            <a:solidFill>
              <a:schemeClr val="accent1"/>
            </a:solidFill>
            <a:prstDash val="solid"/>
          </a:ln>
        </p:spPr>
      </p:sp>
      <p:sp>
        <p:nvSpPr>
          <p:cNvPr id="56" name="Shape 43"/>
          <p:cNvSpPr/>
          <p:nvPr/>
        </p:nvSpPr>
        <p:spPr>
          <a:xfrm>
            <a:off x="11430000" y="4270248"/>
            <a:ext cx="274320" cy="0"/>
          </a:xfrm>
          <a:prstGeom prst="line">
            <a:avLst/>
          </a:prstGeom>
          <a:noFill/>
          <a:ln w="25400">
            <a:solidFill>
              <a:schemeClr val="accent1"/>
            </a:solidFill>
            <a:prstDash val="solid"/>
          </a:ln>
        </p:spPr>
      </p:sp>
      <p:sp>
        <p:nvSpPr>
          <p:cNvPr id="57" name="Shape 44"/>
          <p:cNvSpPr/>
          <p:nvPr/>
        </p:nvSpPr>
        <p:spPr>
          <a:xfrm>
            <a:off x="11704320" y="3995928"/>
            <a:ext cx="0" cy="274320"/>
          </a:xfrm>
          <a:prstGeom prst="line">
            <a:avLst/>
          </a:prstGeom>
          <a:noFill/>
          <a:ln w="25400">
            <a:solidFill>
              <a:schemeClr val="accent1"/>
            </a:solidFill>
            <a:prstDash val="solid"/>
          </a:ln>
        </p:spPr>
      </p:sp>
      <p:sp>
        <p:nvSpPr>
          <p:cNvPr id="58" name="Shape 45"/>
          <p:cNvSpPr/>
          <p:nvPr/>
        </p:nvSpPr>
        <p:spPr>
          <a:xfrm>
            <a:off x="7406640" y="3840480"/>
            <a:ext cx="2926080" cy="246888"/>
          </a:xfrm>
          <a:prstGeom prst="roundRect">
            <a:avLst>
              <a:gd name="adj" fmla="val 18519"/>
            </a:avLst>
          </a:prstGeom>
          <a:solidFill>
            <a:schemeClr val="bg1">
              <a:alpha val="75000"/>
            </a:schemeClr>
          </a:solidFill>
          <a:ln w="12700">
            <a:solidFill>
              <a:srgbClr val="22D3EE"/>
            </a:solidFill>
            <a:prstDash val="solid"/>
          </a:ln>
        </p:spPr>
      </p:sp>
      <p:sp>
        <p:nvSpPr>
          <p:cNvPr id="59" name="Text 46"/>
          <p:cNvSpPr txBox="1"/>
          <p:nvPr/>
        </p:nvSpPr>
        <p:spPr>
          <a:xfrm>
            <a:off x="7406640" y="3840480"/>
            <a:ext cx="2926080" cy="246888"/>
          </a:xfrm>
          <a:prstGeom prst="rect">
            <a:avLst/>
          </a:prstGeom>
          <a:noFill/>
          <a:ln/>
        </p:spPr>
        <p:txBody>
          <a:bodyPr wrap="square" lIns="0" tIns="0" rIns="0" bIns="0" rtlCol="0" anchor="ctr"/>
          <a:lstStyle/>
          <a:p>
            <a:pPr marL="0" indent="0" algn="ctr">
              <a:buNone/>
            </a:pPr>
            <a:r>
              <a:rPr lang="en-US" sz="900" b="1" dirty="0">
                <a:solidFill>
                  <a:srgbClr val="22D3EE"/>
                </a:solidFill>
                <a:latin typeface="Consolas" pitchFamily="34" charset="0"/>
                <a:ea typeface="Consolas" pitchFamily="34" charset="-122"/>
                <a:cs typeface="Consolas" pitchFamily="34" charset="-120"/>
              </a:rPr>
              <a:t>MISSION CONTROL · COORDINATOR VIEW</a:t>
            </a:r>
            <a:endParaRPr lang="en-US" sz="900" dirty="0"/>
          </a:p>
        </p:txBody>
      </p:sp>
      <p:sp>
        <p:nvSpPr>
          <p:cNvPr id="60" name="Human in the loop"/>
          <p:cNvSpPr/>
          <p:nvPr/>
        </p:nvSpPr>
        <p:spPr>
          <a:xfrm>
            <a:off x="7269480" y="4434840"/>
            <a:ext cx="4370832" cy="1417320"/>
          </a:xfrm>
          <a:prstGeom prst="roundRect">
            <a:avLst>
              <a:gd name="adj" fmla="val 5161"/>
            </a:avLst>
          </a:prstGeom>
          <a:solidFill>
            <a:schemeClr val="bg2"/>
          </a:solidFill>
          <a:ln w="12700">
            <a:solidFill>
              <a:schemeClr val="accent5"/>
            </a:solidFill>
            <a:prstDash val="solid"/>
          </a:ln>
        </p:spPr>
      </p:sp>
      <p:sp>
        <p:nvSpPr>
          <p:cNvPr id="61" name="Text 48"/>
          <p:cNvSpPr txBox="1"/>
          <p:nvPr/>
        </p:nvSpPr>
        <p:spPr>
          <a:xfrm>
            <a:off x="7452360" y="4572000"/>
            <a:ext cx="3840480" cy="201168"/>
          </a:xfrm>
          <a:prstGeom prst="rect">
            <a:avLst/>
          </a:prstGeom>
          <a:noFill/>
          <a:ln/>
        </p:spPr>
        <p:txBody>
          <a:bodyPr wrap="square" lIns="0" tIns="0" rIns="0" bIns="0" rtlCol="0" anchor="t"/>
          <a:lstStyle/>
          <a:p>
            <a:pPr marL="0" indent="0">
              <a:buNone/>
            </a:pPr>
            <a:r>
              <a:rPr lang="en-US" sz="1000" b="1" dirty="0">
                <a:solidFill>
                  <a:schemeClr val="accent1"/>
                </a:solidFill>
                <a:latin typeface="Consolas" pitchFamily="34" charset="0"/>
                <a:ea typeface="Consolas" pitchFamily="34" charset="-122"/>
                <a:cs typeface="Consolas" pitchFamily="34" charset="-120"/>
              </a:rPr>
              <a:t>HUMAN-IN-THE-LOOP</a:t>
            </a:r>
            <a:endParaRPr lang="en-US" sz="1000" dirty="0"/>
          </a:p>
        </p:txBody>
      </p:sp>
      <p:sp>
        <p:nvSpPr>
          <p:cNvPr id="62" name="Text 49"/>
          <p:cNvSpPr txBox="1"/>
          <p:nvPr/>
        </p:nvSpPr>
        <p:spPr>
          <a:xfrm>
            <a:off x="7452360" y="4846320"/>
            <a:ext cx="4023360" cy="822960"/>
          </a:xfrm>
          <a:prstGeom prst="rect">
            <a:avLst/>
          </a:prstGeom>
          <a:noFill/>
          <a:ln/>
        </p:spPr>
        <p:txBody>
          <a:bodyPr wrap="square" lIns="0" tIns="0" rIns="0" bIns="0" rtlCol="0" anchor="t"/>
          <a:lstStyle/>
          <a:p>
            <a:pPr marL="0" indent="0">
              <a:buNone/>
            </a:pPr>
            <a:r>
              <a:rPr lang="en-US" sz="1400" dirty="0">
                <a:solidFill>
                  <a:schemeClr val="tx1"/>
                </a:solidFill>
              </a:rPr>
              <a:t>The drone only reports a possible survivor. A coordinator confirms it on the mission screen before rescuers move.</a:t>
            </a:r>
            <a:endParaRPr lang="en-US" sz="1400" dirty="0"/>
          </a:p>
        </p:txBody>
      </p:sp>
      <p:sp>
        <p:nvSpPr>
          <p:cNvPr id="63" name="Text 50"/>
          <p:cNvSpPr txBox="1"/>
          <p:nvPr/>
        </p:nvSpPr>
        <p:spPr>
          <a:xfrm>
            <a:off x="5852160" y="6473952"/>
            <a:ext cx="5212080" cy="228600"/>
          </a:xfrm>
          <a:prstGeom prst="rect">
            <a:avLst/>
          </a:prstGeom>
          <a:noFill/>
          <a:ln/>
        </p:spPr>
        <p:txBody>
          <a:bodyPr wrap="square" lIns="0" tIns="0" rIns="0" bIns="0" rtlCol="0" anchor="ctr"/>
          <a:lstStyle/>
          <a:p>
            <a:pPr marL="0" indent="0" algn="r">
              <a:buNone/>
            </a:pPr>
            <a:r>
              <a:rPr lang="en-US" sz="900" b="1" dirty="0">
                <a:solidFill>
                  <a:schemeClr val="accent2"/>
                </a:solidFill>
                <a:latin typeface="Consolas" pitchFamily="34" charset="0"/>
                <a:ea typeface="Consolas" pitchFamily="34" charset="-122"/>
                <a:cs typeface="Consolas" pitchFamily="34" charset="-120"/>
              </a:rPr>
              <a:t>RUBRIC · LIMITATIONS &amp; FUTURE SCOPE</a:t>
            </a:r>
            <a:endParaRPr lang="en-US" sz="900" dirty="0"/>
          </a:p>
        </p:txBody>
      </p:sp>
      <p:sp>
        <p:nvSpPr>
          <p:cNvPr id="64" name="Slide Number Placeholder 0"/>
          <p:cNvSpPr>
            <a:spLocks noGrp="1"/>
          </p:cNvSpPr>
          <p:nvPr>
            <p:ph type="sldNum" sz="quarter" idx="4294967295"/>
          </p:nvPr>
        </p:nvSpPr>
        <p:spPr>
          <a:xfrm>
            <a:off x="11183112" y="6473952"/>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tx2"/>
                </a:solidFill>
                <a:latin typeface="Consolas"/>
                <a:ea typeface="Consolas"/>
                <a:cs typeface="Consolas"/>
              </a:defRPr>
            </a:lvl1pPr>
          </a:lstStyle>
          <a:p>
            <a:pPr algn="r"/>
            <a:fld id="{F7021451-1387-4CA6-816F-3879F97B5CBC}" type="slidenum">
              <a:rPr lang="en-US" b="0"/>
              <a:t>10</a:t>
            </a:fld>
            <a:endParaRPr lang="en-US"/>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74320"/>
            <a:ext cx="7315200" cy="201168"/>
          </a:xfrm>
          <a:prstGeom prst="rect">
            <a:avLst/>
          </a:prstGeom>
          <a:noFill/>
          <a:ln/>
        </p:spPr>
        <p:txBody>
          <a:bodyPr wrap="square" lIns="0" tIns="0" rIns="0" bIns="0" rtlCol="0" anchor="t"/>
          <a:lstStyle/>
          <a:p>
            <a:pPr marL="0" indent="0">
              <a:buNone/>
            </a:pPr>
            <a:r>
              <a:rPr lang="en-US" sz="1000" b="1" dirty="0">
                <a:solidFill>
                  <a:schemeClr val="accent1"/>
                </a:solidFill>
                <a:latin typeface="Consolas" pitchFamily="34" charset="0"/>
                <a:ea typeface="Consolas" pitchFamily="34" charset="-122"/>
                <a:cs typeface="Consolas" pitchFamily="34" charset="-120"/>
              </a:rPr>
              <a:t>PHASE 08 · EXPECTED IMPACT</a:t>
            </a:r>
            <a:endParaRPr lang="en-US" sz="1000" dirty="0"/>
          </a:p>
        </p:txBody>
      </p:sp>
      <p:sp>
        <p:nvSpPr>
          <p:cNvPr id="3" name="Shape 1"/>
          <p:cNvSpPr/>
          <p:nvPr/>
        </p:nvSpPr>
        <p:spPr>
          <a:xfrm>
            <a:off x="10314432" y="301752"/>
            <a:ext cx="109728" cy="109728"/>
          </a:xfrm>
          <a:prstGeom prst="rect">
            <a:avLst/>
          </a:prstGeom>
          <a:solidFill>
            <a:schemeClr val="accent1"/>
          </a:solidFill>
          <a:ln w="12700">
            <a:solidFill>
              <a:schemeClr val="accent1"/>
            </a:solidFill>
            <a:prstDash val="solid"/>
          </a:ln>
        </p:spPr>
      </p:sp>
      <p:sp>
        <p:nvSpPr>
          <p:cNvPr id="4" name="Shape 2"/>
          <p:cNvSpPr/>
          <p:nvPr/>
        </p:nvSpPr>
        <p:spPr>
          <a:xfrm>
            <a:off x="10488168" y="301752"/>
            <a:ext cx="109728" cy="109728"/>
          </a:xfrm>
          <a:prstGeom prst="rect">
            <a:avLst/>
          </a:prstGeom>
          <a:solidFill>
            <a:schemeClr val="accent1"/>
          </a:solidFill>
          <a:ln w="12700">
            <a:solidFill>
              <a:schemeClr val="accent1"/>
            </a:solidFill>
            <a:prstDash val="solid"/>
          </a:ln>
        </p:spPr>
      </p:sp>
      <p:sp>
        <p:nvSpPr>
          <p:cNvPr id="5" name="Shape 3"/>
          <p:cNvSpPr/>
          <p:nvPr/>
        </p:nvSpPr>
        <p:spPr>
          <a:xfrm>
            <a:off x="10661904" y="301752"/>
            <a:ext cx="109728" cy="109728"/>
          </a:xfrm>
          <a:prstGeom prst="rect">
            <a:avLst/>
          </a:prstGeom>
          <a:solidFill>
            <a:schemeClr val="accent1"/>
          </a:solidFill>
          <a:ln w="12700">
            <a:solidFill>
              <a:schemeClr val="accent1"/>
            </a:solidFill>
            <a:prstDash val="solid"/>
          </a:ln>
        </p:spPr>
      </p:sp>
      <p:sp>
        <p:nvSpPr>
          <p:cNvPr id="6" name="Shape 4"/>
          <p:cNvSpPr/>
          <p:nvPr/>
        </p:nvSpPr>
        <p:spPr>
          <a:xfrm>
            <a:off x="10835640" y="301752"/>
            <a:ext cx="109728" cy="109728"/>
          </a:xfrm>
          <a:prstGeom prst="rect">
            <a:avLst/>
          </a:prstGeom>
          <a:solidFill>
            <a:schemeClr val="accent1"/>
          </a:solidFill>
          <a:ln w="12700">
            <a:solidFill>
              <a:schemeClr val="accent1"/>
            </a:solidFill>
            <a:prstDash val="solid"/>
          </a:ln>
        </p:spPr>
      </p:sp>
      <p:sp>
        <p:nvSpPr>
          <p:cNvPr id="7" name="Shape 5"/>
          <p:cNvSpPr/>
          <p:nvPr/>
        </p:nvSpPr>
        <p:spPr>
          <a:xfrm>
            <a:off x="11009376" y="301752"/>
            <a:ext cx="109728" cy="109728"/>
          </a:xfrm>
          <a:prstGeom prst="rect">
            <a:avLst/>
          </a:prstGeom>
          <a:solidFill>
            <a:schemeClr val="accent1"/>
          </a:solidFill>
          <a:ln w="12700">
            <a:solidFill>
              <a:schemeClr val="accent1"/>
            </a:solidFill>
            <a:prstDash val="solid"/>
          </a:ln>
        </p:spPr>
      </p:sp>
      <p:sp>
        <p:nvSpPr>
          <p:cNvPr id="8" name="Shape 6"/>
          <p:cNvSpPr/>
          <p:nvPr/>
        </p:nvSpPr>
        <p:spPr>
          <a:xfrm>
            <a:off x="11183112" y="301752"/>
            <a:ext cx="109728" cy="109728"/>
          </a:xfrm>
          <a:prstGeom prst="rect">
            <a:avLst/>
          </a:prstGeom>
          <a:solidFill>
            <a:schemeClr val="accent1"/>
          </a:solidFill>
          <a:ln w="12700">
            <a:solidFill>
              <a:schemeClr val="accent1"/>
            </a:solidFill>
            <a:prstDash val="solid"/>
          </a:ln>
        </p:spPr>
      </p:sp>
      <p:sp>
        <p:nvSpPr>
          <p:cNvPr id="9" name="Shape 7"/>
          <p:cNvSpPr/>
          <p:nvPr/>
        </p:nvSpPr>
        <p:spPr>
          <a:xfrm>
            <a:off x="11356848" y="301752"/>
            <a:ext cx="109728" cy="109728"/>
          </a:xfrm>
          <a:prstGeom prst="rect">
            <a:avLst/>
          </a:prstGeom>
          <a:solidFill>
            <a:schemeClr val="accent1"/>
          </a:solidFill>
          <a:ln w="12700">
            <a:solidFill>
              <a:schemeClr val="accent1"/>
            </a:solidFill>
            <a:prstDash val="solid"/>
          </a:ln>
        </p:spPr>
      </p:sp>
      <p:sp>
        <p:nvSpPr>
          <p:cNvPr id="10" name="Shape 8"/>
          <p:cNvSpPr/>
          <p:nvPr/>
        </p:nvSpPr>
        <p:spPr>
          <a:xfrm>
            <a:off x="11530584" y="301752"/>
            <a:ext cx="109728" cy="109728"/>
          </a:xfrm>
          <a:prstGeom prst="rect">
            <a:avLst/>
          </a:prstGeom>
          <a:solidFill>
            <a:schemeClr val="accent1"/>
          </a:solidFill>
          <a:ln w="12700">
            <a:solidFill>
              <a:schemeClr val="accent1"/>
            </a:solidFill>
            <a:prstDash val="solid"/>
          </a:ln>
        </p:spPr>
      </p:sp>
      <p:sp>
        <p:nvSpPr>
          <p:cNvPr id="11" name="Text 0"/>
          <p:cNvSpPr>
            <a:spLocks noGrp="1"/>
          </p:cNvSpPr>
          <p:nvPr>
            <p:ph type="title" idx="100" hasCustomPrompt="1"/>
          </p:nvPr>
        </p:nvSpPr>
        <p:spPr>
          <a:xfrm>
            <a:off x="548640" y="530352"/>
            <a:ext cx="11091672" cy="640080"/>
          </a:xfrm>
          <a:prstGeom prst="rect">
            <a:avLst/>
          </a:prstGeom>
          <a:noFill/>
          <a:ln/>
        </p:spPr>
        <p:txBody>
          <a:bodyPr wrap="square" lIns="0" tIns="0" rIns="0" bIns="0" rtlCol="0" anchor="ctr"/>
          <a:lstStyle/>
          <a:p>
            <a:pPr marL="0" indent="0" algn="l">
              <a:buNone/>
            </a:pPr>
            <a:r>
              <a:rPr lang="en-US" sz="3200" b="1" dirty="0">
                <a:solidFill>
                  <a:schemeClr val="tx1"/>
                </a:solidFill>
              </a:rPr>
              <a:t>Expected impact of the proposed system</a:t>
            </a:r>
            <a:endParaRPr lang="en-US" sz="3200" dirty="0"/>
          </a:p>
        </p:txBody>
      </p:sp>
      <p:pic>
        <p:nvPicPr>
          <p:cNvPr id="12" name="Closing scene" descr="Rescuer greeting a survivor as a drone delivers a rescue kit at sunset"/>
          <p:cNvPicPr>
            <a:picLocks noChangeAspect="1"/>
          </p:cNvPicPr>
          <p:nvPr/>
        </p:nvPicPr>
        <p:blipFill>
          <a:blip r:embed="rId3"/>
          <a:stretch>
            <a:fillRect/>
          </a:stretch>
        </p:blipFill>
        <p:spPr>
          <a:xfrm>
            <a:off x="548640" y="1463040"/>
            <a:ext cx="5669280" cy="3630168"/>
          </a:xfrm>
          <a:prstGeom prst="rect">
            <a:avLst/>
          </a:prstGeom>
        </p:spPr>
      </p:pic>
      <p:sp>
        <p:nvSpPr>
          <p:cNvPr id="13" name="Shape 10"/>
          <p:cNvSpPr/>
          <p:nvPr/>
        </p:nvSpPr>
        <p:spPr>
          <a:xfrm>
            <a:off x="484632" y="1399032"/>
            <a:ext cx="274320" cy="0"/>
          </a:xfrm>
          <a:prstGeom prst="line">
            <a:avLst/>
          </a:prstGeom>
          <a:noFill/>
          <a:ln w="25400">
            <a:solidFill>
              <a:schemeClr val="accent1"/>
            </a:solidFill>
            <a:prstDash val="solid"/>
          </a:ln>
        </p:spPr>
      </p:sp>
      <p:sp>
        <p:nvSpPr>
          <p:cNvPr id="14" name="Shape 11"/>
          <p:cNvSpPr/>
          <p:nvPr/>
        </p:nvSpPr>
        <p:spPr>
          <a:xfrm>
            <a:off x="484632" y="1399032"/>
            <a:ext cx="0" cy="274320"/>
          </a:xfrm>
          <a:prstGeom prst="line">
            <a:avLst/>
          </a:prstGeom>
          <a:noFill/>
          <a:ln w="25400">
            <a:solidFill>
              <a:schemeClr val="accent1"/>
            </a:solidFill>
            <a:prstDash val="solid"/>
          </a:ln>
        </p:spPr>
      </p:sp>
      <p:sp>
        <p:nvSpPr>
          <p:cNvPr id="15" name="Shape 12"/>
          <p:cNvSpPr/>
          <p:nvPr/>
        </p:nvSpPr>
        <p:spPr>
          <a:xfrm>
            <a:off x="6007608" y="1399032"/>
            <a:ext cx="274320" cy="0"/>
          </a:xfrm>
          <a:prstGeom prst="line">
            <a:avLst/>
          </a:prstGeom>
          <a:noFill/>
          <a:ln w="25400">
            <a:solidFill>
              <a:schemeClr val="accent1"/>
            </a:solidFill>
            <a:prstDash val="solid"/>
          </a:ln>
        </p:spPr>
      </p:sp>
      <p:sp>
        <p:nvSpPr>
          <p:cNvPr id="16" name="Shape 13"/>
          <p:cNvSpPr/>
          <p:nvPr/>
        </p:nvSpPr>
        <p:spPr>
          <a:xfrm>
            <a:off x="6281928" y="1399032"/>
            <a:ext cx="0" cy="274320"/>
          </a:xfrm>
          <a:prstGeom prst="line">
            <a:avLst/>
          </a:prstGeom>
          <a:noFill/>
          <a:ln w="25400">
            <a:solidFill>
              <a:schemeClr val="accent1"/>
            </a:solidFill>
            <a:prstDash val="solid"/>
          </a:ln>
        </p:spPr>
      </p:sp>
      <p:sp>
        <p:nvSpPr>
          <p:cNvPr id="17" name="Shape 14"/>
          <p:cNvSpPr/>
          <p:nvPr/>
        </p:nvSpPr>
        <p:spPr>
          <a:xfrm>
            <a:off x="484632" y="5157216"/>
            <a:ext cx="274320" cy="0"/>
          </a:xfrm>
          <a:prstGeom prst="line">
            <a:avLst/>
          </a:prstGeom>
          <a:noFill/>
          <a:ln w="25400">
            <a:solidFill>
              <a:schemeClr val="accent1"/>
            </a:solidFill>
            <a:prstDash val="solid"/>
          </a:ln>
        </p:spPr>
      </p:sp>
      <p:sp>
        <p:nvSpPr>
          <p:cNvPr id="18" name="Shape 15"/>
          <p:cNvSpPr/>
          <p:nvPr/>
        </p:nvSpPr>
        <p:spPr>
          <a:xfrm>
            <a:off x="484632" y="4882896"/>
            <a:ext cx="0" cy="274320"/>
          </a:xfrm>
          <a:prstGeom prst="line">
            <a:avLst/>
          </a:prstGeom>
          <a:noFill/>
          <a:ln w="25400">
            <a:solidFill>
              <a:schemeClr val="accent1"/>
            </a:solidFill>
            <a:prstDash val="solid"/>
          </a:ln>
        </p:spPr>
      </p:sp>
      <p:sp>
        <p:nvSpPr>
          <p:cNvPr id="19" name="Shape 16"/>
          <p:cNvSpPr/>
          <p:nvPr/>
        </p:nvSpPr>
        <p:spPr>
          <a:xfrm>
            <a:off x="6007608" y="5157216"/>
            <a:ext cx="274320" cy="0"/>
          </a:xfrm>
          <a:prstGeom prst="line">
            <a:avLst/>
          </a:prstGeom>
          <a:noFill/>
          <a:ln w="25400">
            <a:solidFill>
              <a:schemeClr val="accent1"/>
            </a:solidFill>
            <a:prstDash val="solid"/>
          </a:ln>
        </p:spPr>
      </p:sp>
      <p:sp>
        <p:nvSpPr>
          <p:cNvPr id="20" name="Shape 17"/>
          <p:cNvSpPr/>
          <p:nvPr/>
        </p:nvSpPr>
        <p:spPr>
          <a:xfrm>
            <a:off x="6281928" y="4882896"/>
            <a:ext cx="0" cy="274320"/>
          </a:xfrm>
          <a:prstGeom prst="line">
            <a:avLst/>
          </a:prstGeom>
          <a:noFill/>
          <a:ln w="25400">
            <a:solidFill>
              <a:schemeClr val="accent1"/>
            </a:solidFill>
            <a:prstDash val="solid"/>
          </a:ln>
        </p:spPr>
      </p:sp>
      <p:sp>
        <p:nvSpPr>
          <p:cNvPr id="21" name="Shape 18"/>
          <p:cNvSpPr/>
          <p:nvPr/>
        </p:nvSpPr>
        <p:spPr>
          <a:xfrm>
            <a:off x="713232" y="4727448"/>
            <a:ext cx="2377440" cy="246888"/>
          </a:xfrm>
          <a:prstGeom prst="roundRect">
            <a:avLst>
              <a:gd name="adj" fmla="val 18519"/>
            </a:avLst>
          </a:prstGeom>
          <a:solidFill>
            <a:schemeClr val="bg1">
              <a:alpha val="75000"/>
            </a:schemeClr>
          </a:solidFill>
          <a:ln w="12700">
            <a:solidFill>
              <a:srgbClr val="F59E0B"/>
            </a:solidFill>
            <a:prstDash val="solid"/>
          </a:ln>
        </p:spPr>
      </p:sp>
      <p:sp>
        <p:nvSpPr>
          <p:cNvPr id="22" name="Text 19"/>
          <p:cNvSpPr txBox="1"/>
          <p:nvPr/>
        </p:nvSpPr>
        <p:spPr>
          <a:xfrm>
            <a:off x="713232" y="4727448"/>
            <a:ext cx="2377440" cy="246888"/>
          </a:xfrm>
          <a:prstGeom prst="rect">
            <a:avLst/>
          </a:prstGeom>
          <a:noFill/>
          <a:ln/>
        </p:spPr>
        <p:txBody>
          <a:bodyPr wrap="square" lIns="0" tIns="0" rIns="0" bIns="0" rtlCol="0" anchor="ctr"/>
          <a:lstStyle/>
          <a:p>
            <a:pPr marL="0" indent="0" algn="ctr">
              <a:buNone/>
            </a:pPr>
            <a:r>
              <a:rPr lang="en-US" sz="900" b="1" dirty="0">
                <a:solidFill>
                  <a:srgbClr val="F59E0B"/>
                </a:solidFill>
                <a:latin typeface="Consolas" pitchFamily="34" charset="0"/>
                <a:ea typeface="Consolas" pitchFamily="34" charset="-122"/>
                <a:cs typeface="Consolas" pitchFamily="34" charset="-120"/>
              </a:rPr>
              <a:t>OUTCOME · ILLUSTRATIVE</a:t>
            </a:r>
            <a:endParaRPr lang="en-US" sz="900" dirty="0"/>
          </a:p>
        </p:txBody>
      </p:sp>
      <p:sp>
        <p:nvSpPr>
          <p:cNvPr id="23" name="Shape 20"/>
          <p:cNvSpPr/>
          <p:nvPr/>
        </p:nvSpPr>
        <p:spPr>
          <a:xfrm>
            <a:off x="548640" y="5349240"/>
            <a:ext cx="5669280" cy="777240"/>
          </a:xfrm>
          <a:prstGeom prst="roundRect">
            <a:avLst>
              <a:gd name="adj" fmla="val 9412"/>
            </a:avLst>
          </a:prstGeom>
          <a:solidFill>
            <a:schemeClr val="bg1"/>
          </a:solidFill>
          <a:ln w="15875">
            <a:solidFill>
              <a:schemeClr val="accent2"/>
            </a:solidFill>
            <a:prstDash val="solid"/>
          </a:ln>
        </p:spPr>
      </p:sp>
      <p:sp>
        <p:nvSpPr>
          <p:cNvPr id="24" name="Text 21"/>
          <p:cNvSpPr txBox="1"/>
          <p:nvPr/>
        </p:nvSpPr>
        <p:spPr>
          <a:xfrm>
            <a:off x="731520" y="5349240"/>
            <a:ext cx="5303520" cy="777240"/>
          </a:xfrm>
          <a:prstGeom prst="rect">
            <a:avLst/>
          </a:prstGeom>
          <a:noFill/>
          <a:ln/>
        </p:spPr>
        <p:txBody>
          <a:bodyPr wrap="square" lIns="0" tIns="0" rIns="0" bIns="0" rtlCol="0" anchor="ctr"/>
          <a:lstStyle/>
          <a:p>
            <a:pPr marL="0" indent="0">
              <a:buNone/>
            </a:pPr>
            <a:r>
              <a:rPr lang="en-US" sz="1300" dirty="0">
                <a:solidFill>
                  <a:schemeClr val="accent2"/>
                </a:solidFill>
              </a:rPr>
              <a:t>Expected benefits of the proposed design, to be validated through simulation or field testing. No figures are claimed.</a:t>
            </a:r>
            <a:endParaRPr lang="en-US" sz="1300" dirty="0"/>
          </a:p>
        </p:txBody>
      </p:sp>
      <p:sp>
        <p:nvSpPr>
          <p:cNvPr id="25" name="Text 22"/>
          <p:cNvSpPr txBox="1"/>
          <p:nvPr/>
        </p:nvSpPr>
        <p:spPr>
          <a:xfrm>
            <a:off x="6537960" y="1417320"/>
            <a:ext cx="5029200" cy="201168"/>
          </a:xfrm>
          <a:prstGeom prst="rect">
            <a:avLst/>
          </a:prstGeom>
          <a:noFill/>
          <a:ln/>
        </p:spPr>
        <p:txBody>
          <a:bodyPr wrap="square" lIns="0" tIns="0" rIns="0" bIns="0" rtlCol="0" anchor="t"/>
          <a:lstStyle/>
          <a:p>
            <a:pPr marL="0" indent="0">
              <a:buNone/>
            </a:pPr>
            <a:r>
              <a:rPr lang="en-US" sz="1000" b="1" dirty="0">
                <a:solidFill>
                  <a:schemeClr val="accent1"/>
                </a:solidFill>
                <a:latin typeface="Consolas" pitchFamily="34" charset="0"/>
                <a:ea typeface="Consolas" pitchFamily="34" charset="-122"/>
                <a:cs typeface="Consolas" pitchFamily="34" charset="-120"/>
              </a:rPr>
              <a:t>EXPECTED OUTCOMES · TO BE VALIDATED</a:t>
            </a:r>
            <a:endParaRPr lang="en-US" sz="1000" dirty="0"/>
          </a:p>
        </p:txBody>
      </p:sp>
      <p:sp>
        <p:nvSpPr>
          <p:cNvPr id="26" name="Impact tile 1"/>
          <p:cNvSpPr/>
          <p:nvPr/>
        </p:nvSpPr>
        <p:spPr>
          <a:xfrm>
            <a:off x="6537960" y="1737360"/>
            <a:ext cx="2496312" cy="1325880"/>
          </a:xfrm>
          <a:prstGeom prst="roundRect">
            <a:avLst>
              <a:gd name="adj" fmla="val 5517"/>
            </a:avLst>
          </a:prstGeom>
          <a:solidFill>
            <a:schemeClr val="bg2"/>
          </a:solidFill>
          <a:ln w="12700">
            <a:solidFill>
              <a:schemeClr val="accent5"/>
            </a:solidFill>
            <a:prstDash val="solid"/>
          </a:ln>
        </p:spPr>
      </p:sp>
      <p:sp>
        <p:nvSpPr>
          <p:cNvPr id="27" name="Shape 24"/>
          <p:cNvSpPr/>
          <p:nvPr/>
        </p:nvSpPr>
        <p:spPr>
          <a:xfrm>
            <a:off x="6675120" y="1874520"/>
            <a:ext cx="402336" cy="402336"/>
          </a:xfrm>
          <a:prstGeom prst="ellipse">
            <a:avLst/>
          </a:prstGeom>
          <a:solidFill>
            <a:schemeClr val="bg1"/>
          </a:solidFill>
          <a:ln w="19050">
            <a:solidFill>
              <a:schemeClr val="accent1"/>
            </a:solidFill>
            <a:prstDash val="solid"/>
          </a:ln>
        </p:spPr>
      </p:sp>
      <p:pic>
        <p:nvPicPr>
          <p:cNvPr id="28" name="Image 1" descr="preencoded.png"/>
          <p:cNvPicPr>
            <a:picLocks noChangeAspect="1"/>
          </p:cNvPicPr>
          <p:nvPr/>
        </p:nvPicPr>
        <p:blipFill>
          <a:blip r:embed="rId4"/>
          <a:stretch>
            <a:fillRect/>
          </a:stretch>
        </p:blipFill>
        <p:spPr>
          <a:xfrm>
            <a:off x="6775704" y="1975104"/>
            <a:ext cx="201168" cy="201168"/>
          </a:xfrm>
          <a:prstGeom prst="rect">
            <a:avLst/>
          </a:prstGeom>
        </p:spPr>
      </p:pic>
      <p:sp>
        <p:nvSpPr>
          <p:cNvPr id="29" name="Text 25"/>
          <p:cNvSpPr txBox="1"/>
          <p:nvPr/>
        </p:nvSpPr>
        <p:spPr>
          <a:xfrm>
            <a:off x="7178040" y="1847088"/>
            <a:ext cx="1783080" cy="457200"/>
          </a:xfrm>
          <a:prstGeom prst="rect">
            <a:avLst/>
          </a:prstGeom>
          <a:noFill/>
          <a:ln/>
        </p:spPr>
        <p:txBody>
          <a:bodyPr wrap="square" lIns="0" tIns="0" rIns="0" bIns="0" rtlCol="0" anchor="ctr"/>
          <a:lstStyle/>
          <a:p>
            <a:pPr marL="0" indent="0">
              <a:buNone/>
            </a:pPr>
            <a:r>
              <a:rPr lang="en-US" sz="1400" b="1" dirty="0">
                <a:solidFill>
                  <a:schemeClr val="tx1"/>
                </a:solidFill>
              </a:rPr>
              <a:t>Faster search</a:t>
            </a:r>
            <a:endParaRPr lang="en-US" sz="1400" dirty="0"/>
          </a:p>
        </p:txBody>
      </p:sp>
      <p:sp>
        <p:nvSpPr>
          <p:cNvPr id="30" name="Text 26"/>
          <p:cNvSpPr txBox="1"/>
          <p:nvPr/>
        </p:nvSpPr>
        <p:spPr>
          <a:xfrm>
            <a:off x="6675120" y="2395728"/>
            <a:ext cx="2240280" cy="594360"/>
          </a:xfrm>
          <a:prstGeom prst="rect">
            <a:avLst/>
          </a:prstGeom>
          <a:noFill/>
          <a:ln/>
        </p:spPr>
        <p:txBody>
          <a:bodyPr wrap="square" lIns="0" tIns="0" rIns="0" bIns="0" rtlCol="0" anchor="t"/>
          <a:lstStyle/>
          <a:p>
            <a:pPr marL="0" indent="0">
              <a:buNone/>
            </a:pPr>
            <a:r>
              <a:rPr lang="en-US" sz="1200" dirty="0">
                <a:solidFill>
                  <a:schemeClr val="tx2"/>
                </a:solidFill>
              </a:rPr>
              <a:t>Aerial scouting covers ground before teams enter</a:t>
            </a:r>
            <a:endParaRPr lang="en-US" sz="1200" dirty="0"/>
          </a:p>
        </p:txBody>
      </p:sp>
      <p:sp>
        <p:nvSpPr>
          <p:cNvPr id="31" name="Impact tile 2"/>
          <p:cNvSpPr/>
          <p:nvPr/>
        </p:nvSpPr>
        <p:spPr>
          <a:xfrm>
            <a:off x="9189720" y="1737360"/>
            <a:ext cx="2496312" cy="1325880"/>
          </a:xfrm>
          <a:prstGeom prst="roundRect">
            <a:avLst>
              <a:gd name="adj" fmla="val 5517"/>
            </a:avLst>
          </a:prstGeom>
          <a:solidFill>
            <a:schemeClr val="bg2"/>
          </a:solidFill>
          <a:ln w="12700">
            <a:solidFill>
              <a:schemeClr val="accent5"/>
            </a:solidFill>
            <a:prstDash val="solid"/>
          </a:ln>
        </p:spPr>
      </p:sp>
      <p:sp>
        <p:nvSpPr>
          <p:cNvPr id="32" name="Shape 28"/>
          <p:cNvSpPr/>
          <p:nvPr/>
        </p:nvSpPr>
        <p:spPr>
          <a:xfrm>
            <a:off x="9326880" y="1874520"/>
            <a:ext cx="402336" cy="402336"/>
          </a:xfrm>
          <a:prstGeom prst="ellipse">
            <a:avLst/>
          </a:prstGeom>
          <a:solidFill>
            <a:schemeClr val="bg1"/>
          </a:solidFill>
          <a:ln w="19050">
            <a:solidFill>
              <a:schemeClr val="accent1"/>
            </a:solidFill>
            <a:prstDash val="solid"/>
          </a:ln>
        </p:spPr>
      </p:sp>
      <p:pic>
        <p:nvPicPr>
          <p:cNvPr id="33" name="Image 2" descr="preencoded.png"/>
          <p:cNvPicPr>
            <a:picLocks noChangeAspect="1"/>
          </p:cNvPicPr>
          <p:nvPr/>
        </p:nvPicPr>
        <p:blipFill>
          <a:blip r:embed="rId5"/>
          <a:stretch>
            <a:fillRect/>
          </a:stretch>
        </p:blipFill>
        <p:spPr>
          <a:xfrm>
            <a:off x="9427464" y="1975104"/>
            <a:ext cx="201168" cy="201168"/>
          </a:xfrm>
          <a:prstGeom prst="rect">
            <a:avLst/>
          </a:prstGeom>
        </p:spPr>
      </p:pic>
      <p:sp>
        <p:nvSpPr>
          <p:cNvPr id="34" name="Text 29"/>
          <p:cNvSpPr txBox="1"/>
          <p:nvPr/>
        </p:nvSpPr>
        <p:spPr>
          <a:xfrm>
            <a:off x="9829800" y="1847088"/>
            <a:ext cx="1783080" cy="457200"/>
          </a:xfrm>
          <a:prstGeom prst="rect">
            <a:avLst/>
          </a:prstGeom>
          <a:noFill/>
          <a:ln/>
        </p:spPr>
        <p:txBody>
          <a:bodyPr wrap="square" lIns="0" tIns="0" rIns="0" bIns="0" rtlCol="0" anchor="ctr"/>
          <a:lstStyle/>
          <a:p>
            <a:pPr marL="0" indent="0">
              <a:buNone/>
            </a:pPr>
            <a:r>
              <a:rPr lang="en-US" sz="1400" b="1" dirty="0">
                <a:solidFill>
                  <a:schemeClr val="tx1"/>
                </a:solidFill>
              </a:rPr>
              <a:t>Efficient navigation</a:t>
            </a:r>
            <a:endParaRPr lang="en-US" sz="1400" dirty="0"/>
          </a:p>
        </p:txBody>
      </p:sp>
      <p:sp>
        <p:nvSpPr>
          <p:cNvPr id="35" name="Text 30"/>
          <p:cNvSpPr txBox="1"/>
          <p:nvPr/>
        </p:nvSpPr>
        <p:spPr>
          <a:xfrm>
            <a:off x="9326880" y="2395728"/>
            <a:ext cx="2240280" cy="594360"/>
          </a:xfrm>
          <a:prstGeom prst="rect">
            <a:avLst/>
          </a:prstGeom>
          <a:noFill/>
          <a:ln/>
        </p:spPr>
        <p:txBody>
          <a:bodyPr wrap="square" lIns="0" tIns="0" rIns="0" bIns="0" rtlCol="0" anchor="t"/>
          <a:lstStyle/>
          <a:p>
            <a:pPr marL="0" indent="0">
              <a:buNone/>
            </a:pPr>
            <a:r>
              <a:rPr lang="en-US" sz="1200" dirty="0">
                <a:solidFill>
                  <a:schemeClr val="tx2"/>
                </a:solidFill>
              </a:rPr>
              <a:t>A* plans a minimum-cost route to each target</a:t>
            </a:r>
            <a:endParaRPr lang="en-US" sz="1200" dirty="0"/>
          </a:p>
        </p:txBody>
      </p:sp>
      <p:sp>
        <p:nvSpPr>
          <p:cNvPr id="36" name="Impact tile 3"/>
          <p:cNvSpPr/>
          <p:nvPr/>
        </p:nvSpPr>
        <p:spPr>
          <a:xfrm>
            <a:off x="6537960" y="3200400"/>
            <a:ext cx="2496312" cy="1325880"/>
          </a:xfrm>
          <a:prstGeom prst="roundRect">
            <a:avLst>
              <a:gd name="adj" fmla="val 5517"/>
            </a:avLst>
          </a:prstGeom>
          <a:solidFill>
            <a:schemeClr val="bg2"/>
          </a:solidFill>
          <a:ln w="12700">
            <a:solidFill>
              <a:schemeClr val="accent5"/>
            </a:solidFill>
            <a:prstDash val="solid"/>
          </a:ln>
        </p:spPr>
      </p:sp>
      <p:sp>
        <p:nvSpPr>
          <p:cNvPr id="37" name="Shape 32"/>
          <p:cNvSpPr/>
          <p:nvPr/>
        </p:nvSpPr>
        <p:spPr>
          <a:xfrm>
            <a:off x="6675120" y="3337560"/>
            <a:ext cx="402336" cy="402336"/>
          </a:xfrm>
          <a:prstGeom prst="ellipse">
            <a:avLst/>
          </a:prstGeom>
          <a:solidFill>
            <a:schemeClr val="bg1"/>
          </a:solidFill>
          <a:ln w="19050">
            <a:solidFill>
              <a:schemeClr val="accent1"/>
            </a:solidFill>
            <a:prstDash val="solid"/>
          </a:ln>
        </p:spPr>
      </p:sp>
      <p:pic>
        <p:nvPicPr>
          <p:cNvPr id="38" name="Image 3" descr="preencoded.png"/>
          <p:cNvPicPr>
            <a:picLocks noChangeAspect="1"/>
          </p:cNvPicPr>
          <p:nvPr/>
        </p:nvPicPr>
        <p:blipFill>
          <a:blip r:embed="rId6"/>
          <a:stretch>
            <a:fillRect/>
          </a:stretch>
        </p:blipFill>
        <p:spPr>
          <a:xfrm>
            <a:off x="6775704" y="3438144"/>
            <a:ext cx="201168" cy="201168"/>
          </a:xfrm>
          <a:prstGeom prst="rect">
            <a:avLst/>
          </a:prstGeom>
        </p:spPr>
      </p:pic>
      <p:sp>
        <p:nvSpPr>
          <p:cNvPr id="39" name="Text 33"/>
          <p:cNvSpPr txBox="1"/>
          <p:nvPr/>
        </p:nvSpPr>
        <p:spPr>
          <a:xfrm>
            <a:off x="7178040" y="3310128"/>
            <a:ext cx="1783080" cy="457200"/>
          </a:xfrm>
          <a:prstGeom prst="rect">
            <a:avLst/>
          </a:prstGeom>
          <a:noFill/>
          <a:ln/>
        </p:spPr>
        <p:txBody>
          <a:bodyPr wrap="square" lIns="0" tIns="0" rIns="0" bIns="0" rtlCol="0" anchor="ctr"/>
          <a:lstStyle/>
          <a:p>
            <a:pPr marL="0" indent="0">
              <a:buNone/>
            </a:pPr>
            <a:r>
              <a:rPr lang="en-US" sz="1400" b="1" dirty="0">
                <a:solidFill>
                  <a:schemeClr val="tx1"/>
                </a:solidFill>
              </a:rPr>
              <a:t>Reduced search area</a:t>
            </a:r>
            <a:endParaRPr lang="en-US" sz="1400" dirty="0"/>
          </a:p>
        </p:txBody>
      </p:sp>
      <p:sp>
        <p:nvSpPr>
          <p:cNvPr id="40" name="Text 34"/>
          <p:cNvSpPr txBox="1"/>
          <p:nvPr/>
        </p:nvSpPr>
        <p:spPr>
          <a:xfrm>
            <a:off x="6675120" y="3858768"/>
            <a:ext cx="2240280" cy="594360"/>
          </a:xfrm>
          <a:prstGeom prst="rect">
            <a:avLst/>
          </a:prstGeom>
          <a:noFill/>
          <a:ln/>
        </p:spPr>
        <p:txBody>
          <a:bodyPr wrap="square" lIns="0" tIns="0" rIns="0" bIns="0" rtlCol="0" anchor="t"/>
          <a:lstStyle/>
          <a:p>
            <a:pPr marL="0" indent="0">
              <a:buNone/>
            </a:pPr>
            <a:r>
              <a:rPr lang="en-US" sz="1200" dirty="0">
                <a:solidFill>
                  <a:schemeClr val="tx2"/>
                </a:solidFill>
              </a:rPr>
              <a:t>Heuristic guidance avoids exploring everything</a:t>
            </a:r>
            <a:endParaRPr lang="en-US" sz="1200" dirty="0"/>
          </a:p>
        </p:txBody>
      </p:sp>
      <p:sp>
        <p:nvSpPr>
          <p:cNvPr id="41" name="Impact tile 4"/>
          <p:cNvSpPr/>
          <p:nvPr/>
        </p:nvSpPr>
        <p:spPr>
          <a:xfrm>
            <a:off x="9189720" y="3200400"/>
            <a:ext cx="2496312" cy="1325880"/>
          </a:xfrm>
          <a:prstGeom prst="roundRect">
            <a:avLst>
              <a:gd name="adj" fmla="val 5517"/>
            </a:avLst>
          </a:prstGeom>
          <a:solidFill>
            <a:schemeClr val="bg2"/>
          </a:solidFill>
          <a:ln w="12700">
            <a:solidFill>
              <a:schemeClr val="accent5"/>
            </a:solidFill>
            <a:prstDash val="solid"/>
          </a:ln>
        </p:spPr>
      </p:sp>
      <p:sp>
        <p:nvSpPr>
          <p:cNvPr id="42" name="Shape 36"/>
          <p:cNvSpPr/>
          <p:nvPr/>
        </p:nvSpPr>
        <p:spPr>
          <a:xfrm>
            <a:off x="9326880" y="3337560"/>
            <a:ext cx="402336" cy="402336"/>
          </a:xfrm>
          <a:prstGeom prst="ellipse">
            <a:avLst/>
          </a:prstGeom>
          <a:solidFill>
            <a:schemeClr val="bg1"/>
          </a:solidFill>
          <a:ln w="19050">
            <a:solidFill>
              <a:schemeClr val="accent1"/>
            </a:solidFill>
            <a:prstDash val="solid"/>
          </a:ln>
        </p:spPr>
      </p:sp>
      <p:pic>
        <p:nvPicPr>
          <p:cNvPr id="43" name="Image 4" descr="preencoded.png"/>
          <p:cNvPicPr>
            <a:picLocks noChangeAspect="1"/>
          </p:cNvPicPr>
          <p:nvPr/>
        </p:nvPicPr>
        <p:blipFill>
          <a:blip r:embed="rId7"/>
          <a:stretch>
            <a:fillRect/>
          </a:stretch>
        </p:blipFill>
        <p:spPr>
          <a:xfrm>
            <a:off x="9427464" y="3438144"/>
            <a:ext cx="201168" cy="201168"/>
          </a:xfrm>
          <a:prstGeom prst="rect">
            <a:avLst/>
          </a:prstGeom>
        </p:spPr>
      </p:pic>
      <p:sp>
        <p:nvSpPr>
          <p:cNvPr id="44" name="Text 37"/>
          <p:cNvSpPr txBox="1"/>
          <p:nvPr/>
        </p:nvSpPr>
        <p:spPr>
          <a:xfrm>
            <a:off x="9829800" y="3310128"/>
            <a:ext cx="1783080" cy="457200"/>
          </a:xfrm>
          <a:prstGeom prst="rect">
            <a:avLst/>
          </a:prstGeom>
          <a:noFill/>
          <a:ln/>
        </p:spPr>
        <p:txBody>
          <a:bodyPr wrap="square" lIns="0" tIns="0" rIns="0" bIns="0" rtlCol="0" anchor="ctr"/>
          <a:lstStyle/>
          <a:p>
            <a:pPr marL="0" indent="0">
              <a:buNone/>
            </a:pPr>
            <a:r>
              <a:rPr lang="en-US" sz="1400" b="1" dirty="0">
                <a:solidFill>
                  <a:schemeClr val="tx1"/>
                </a:solidFill>
              </a:rPr>
              <a:t>Lower rescuer exposure</a:t>
            </a:r>
            <a:endParaRPr lang="en-US" sz="1400" dirty="0"/>
          </a:p>
        </p:txBody>
      </p:sp>
      <p:sp>
        <p:nvSpPr>
          <p:cNvPr id="45" name="Text 38"/>
          <p:cNvSpPr txBox="1"/>
          <p:nvPr/>
        </p:nvSpPr>
        <p:spPr>
          <a:xfrm>
            <a:off x="9326880" y="3858768"/>
            <a:ext cx="2240280" cy="594360"/>
          </a:xfrm>
          <a:prstGeom prst="rect">
            <a:avLst/>
          </a:prstGeom>
          <a:noFill/>
          <a:ln/>
        </p:spPr>
        <p:txBody>
          <a:bodyPr wrap="square" lIns="0" tIns="0" rIns="0" bIns="0" rtlCol="0" anchor="t"/>
          <a:lstStyle/>
          <a:p>
            <a:pPr marL="0" indent="0">
              <a:buNone/>
            </a:pPr>
            <a:r>
              <a:rPr lang="en-US" sz="1200" dirty="0">
                <a:solidFill>
                  <a:schemeClr val="tx2"/>
                </a:solidFill>
              </a:rPr>
              <a:t>The drone checks unsafe zones first</a:t>
            </a:r>
            <a:endParaRPr lang="en-US" sz="1200" dirty="0"/>
          </a:p>
        </p:txBody>
      </p:sp>
      <p:sp>
        <p:nvSpPr>
          <p:cNvPr id="46" name="Impact tile 5"/>
          <p:cNvSpPr/>
          <p:nvPr/>
        </p:nvSpPr>
        <p:spPr>
          <a:xfrm>
            <a:off x="6537960" y="4663440"/>
            <a:ext cx="2496312" cy="1325880"/>
          </a:xfrm>
          <a:prstGeom prst="roundRect">
            <a:avLst>
              <a:gd name="adj" fmla="val 5517"/>
            </a:avLst>
          </a:prstGeom>
          <a:solidFill>
            <a:schemeClr val="bg2"/>
          </a:solidFill>
          <a:ln w="12700">
            <a:solidFill>
              <a:schemeClr val="accent5"/>
            </a:solidFill>
            <a:prstDash val="solid"/>
          </a:ln>
        </p:spPr>
      </p:sp>
      <p:sp>
        <p:nvSpPr>
          <p:cNvPr id="47" name="Shape 40"/>
          <p:cNvSpPr/>
          <p:nvPr/>
        </p:nvSpPr>
        <p:spPr>
          <a:xfrm>
            <a:off x="6675120" y="4800600"/>
            <a:ext cx="402336" cy="402336"/>
          </a:xfrm>
          <a:prstGeom prst="ellipse">
            <a:avLst/>
          </a:prstGeom>
          <a:solidFill>
            <a:schemeClr val="bg1"/>
          </a:solidFill>
          <a:ln w="19050">
            <a:solidFill>
              <a:schemeClr val="accent1"/>
            </a:solidFill>
            <a:prstDash val="solid"/>
          </a:ln>
        </p:spPr>
      </p:sp>
      <p:pic>
        <p:nvPicPr>
          <p:cNvPr id="48" name="Image 5" descr="preencoded.png"/>
          <p:cNvPicPr>
            <a:picLocks noChangeAspect="1"/>
          </p:cNvPicPr>
          <p:nvPr/>
        </p:nvPicPr>
        <p:blipFill>
          <a:blip r:embed="rId8"/>
          <a:stretch>
            <a:fillRect/>
          </a:stretch>
        </p:blipFill>
        <p:spPr>
          <a:xfrm>
            <a:off x="6775704" y="4901184"/>
            <a:ext cx="201168" cy="201168"/>
          </a:xfrm>
          <a:prstGeom prst="rect">
            <a:avLst/>
          </a:prstGeom>
        </p:spPr>
      </p:pic>
      <p:sp>
        <p:nvSpPr>
          <p:cNvPr id="49" name="Text 41"/>
          <p:cNvSpPr txBox="1"/>
          <p:nvPr/>
        </p:nvSpPr>
        <p:spPr>
          <a:xfrm>
            <a:off x="7178040" y="4773168"/>
            <a:ext cx="1783080" cy="457200"/>
          </a:xfrm>
          <a:prstGeom prst="rect">
            <a:avLst/>
          </a:prstGeom>
          <a:noFill/>
          <a:ln/>
        </p:spPr>
        <p:txBody>
          <a:bodyPr wrap="square" lIns="0" tIns="0" rIns="0" bIns="0" rtlCol="0" anchor="ctr"/>
          <a:lstStyle/>
          <a:p>
            <a:pPr marL="0" indent="0">
              <a:buNone/>
            </a:pPr>
            <a:r>
              <a:rPr lang="en-US" sz="1400" b="1" dirty="0">
                <a:solidFill>
                  <a:schemeClr val="tx1"/>
                </a:solidFill>
              </a:rPr>
              <a:t>Better emergency response</a:t>
            </a:r>
            <a:endParaRPr lang="en-US" sz="1400" dirty="0"/>
          </a:p>
        </p:txBody>
      </p:sp>
      <p:sp>
        <p:nvSpPr>
          <p:cNvPr id="50" name="Text 42"/>
          <p:cNvSpPr txBox="1"/>
          <p:nvPr/>
        </p:nvSpPr>
        <p:spPr>
          <a:xfrm>
            <a:off x="6675120" y="5321808"/>
            <a:ext cx="2240280" cy="594360"/>
          </a:xfrm>
          <a:prstGeom prst="rect">
            <a:avLst/>
          </a:prstGeom>
          <a:noFill/>
          <a:ln/>
        </p:spPr>
        <p:txBody>
          <a:bodyPr wrap="square" lIns="0" tIns="0" rIns="0" bIns="0" rtlCol="0" anchor="t"/>
          <a:lstStyle/>
          <a:p>
            <a:pPr marL="0" indent="0">
              <a:buNone/>
            </a:pPr>
            <a:r>
              <a:rPr lang="en-US" sz="1200" dirty="0">
                <a:solidFill>
                  <a:schemeClr val="tx2"/>
                </a:solidFill>
              </a:rPr>
              <a:t>A clearer picture for coordinators</a:t>
            </a:r>
            <a:endParaRPr lang="en-US" sz="1200" dirty="0"/>
          </a:p>
        </p:txBody>
      </p:sp>
      <p:sp>
        <p:nvSpPr>
          <p:cNvPr id="51" name="Impact tile 6"/>
          <p:cNvSpPr/>
          <p:nvPr/>
        </p:nvSpPr>
        <p:spPr>
          <a:xfrm>
            <a:off x="9189720" y="4663440"/>
            <a:ext cx="2496312" cy="1325880"/>
          </a:xfrm>
          <a:prstGeom prst="roundRect">
            <a:avLst>
              <a:gd name="adj" fmla="val 5517"/>
            </a:avLst>
          </a:prstGeom>
          <a:solidFill>
            <a:schemeClr val="bg2"/>
          </a:solidFill>
          <a:ln w="12700">
            <a:solidFill>
              <a:schemeClr val="accent5"/>
            </a:solidFill>
            <a:prstDash val="solid"/>
          </a:ln>
        </p:spPr>
      </p:sp>
      <p:sp>
        <p:nvSpPr>
          <p:cNvPr id="52" name="Shape 44"/>
          <p:cNvSpPr/>
          <p:nvPr/>
        </p:nvSpPr>
        <p:spPr>
          <a:xfrm>
            <a:off x="9326880" y="4800600"/>
            <a:ext cx="402336" cy="402336"/>
          </a:xfrm>
          <a:prstGeom prst="ellipse">
            <a:avLst/>
          </a:prstGeom>
          <a:solidFill>
            <a:schemeClr val="bg1"/>
          </a:solidFill>
          <a:ln w="19050">
            <a:solidFill>
              <a:schemeClr val="accent1"/>
            </a:solidFill>
            <a:prstDash val="solid"/>
          </a:ln>
        </p:spPr>
      </p:sp>
      <p:pic>
        <p:nvPicPr>
          <p:cNvPr id="53" name="Image 6" descr="preencoded.png"/>
          <p:cNvPicPr>
            <a:picLocks noChangeAspect="1"/>
          </p:cNvPicPr>
          <p:nvPr/>
        </p:nvPicPr>
        <p:blipFill>
          <a:blip r:embed="rId9"/>
          <a:stretch>
            <a:fillRect/>
          </a:stretch>
        </p:blipFill>
        <p:spPr>
          <a:xfrm>
            <a:off x="9427464" y="4901184"/>
            <a:ext cx="201168" cy="201168"/>
          </a:xfrm>
          <a:prstGeom prst="rect">
            <a:avLst/>
          </a:prstGeom>
        </p:spPr>
      </p:pic>
      <p:sp>
        <p:nvSpPr>
          <p:cNvPr id="54" name="Text 45"/>
          <p:cNvSpPr txBox="1"/>
          <p:nvPr/>
        </p:nvSpPr>
        <p:spPr>
          <a:xfrm>
            <a:off x="9829800" y="4773168"/>
            <a:ext cx="1783080" cy="457200"/>
          </a:xfrm>
          <a:prstGeom prst="rect">
            <a:avLst/>
          </a:prstGeom>
          <a:noFill/>
          <a:ln/>
        </p:spPr>
        <p:txBody>
          <a:bodyPr wrap="square" lIns="0" tIns="0" rIns="0" bIns="0" rtlCol="0" anchor="ctr"/>
          <a:lstStyle/>
          <a:p>
            <a:pPr marL="0" indent="0">
              <a:buNone/>
            </a:pPr>
            <a:r>
              <a:rPr lang="en-US" sz="1400" b="1" dirty="0">
                <a:solidFill>
                  <a:schemeClr val="tx1"/>
                </a:solidFill>
              </a:rPr>
              <a:t>Scalable assistance</a:t>
            </a:r>
            <a:endParaRPr lang="en-US" sz="1400" dirty="0"/>
          </a:p>
        </p:txBody>
      </p:sp>
      <p:sp>
        <p:nvSpPr>
          <p:cNvPr id="55" name="Text 46"/>
          <p:cNvSpPr txBox="1"/>
          <p:nvPr/>
        </p:nvSpPr>
        <p:spPr>
          <a:xfrm>
            <a:off x="9326880" y="5321808"/>
            <a:ext cx="2240280" cy="594360"/>
          </a:xfrm>
          <a:prstGeom prst="rect">
            <a:avLst/>
          </a:prstGeom>
          <a:noFill/>
          <a:ln/>
        </p:spPr>
        <p:txBody>
          <a:bodyPr wrap="square" lIns="0" tIns="0" rIns="0" bIns="0" rtlCol="0" anchor="t"/>
          <a:lstStyle/>
          <a:p>
            <a:pPr marL="0" indent="0">
              <a:buNone/>
            </a:pPr>
            <a:r>
              <a:rPr lang="en-US" sz="1200" dirty="0">
                <a:solidFill>
                  <a:schemeClr val="tx2"/>
                </a:solidFill>
              </a:rPr>
              <a:t>Larger zones, more drones, same planning idea</a:t>
            </a:r>
            <a:endParaRPr lang="en-US" sz="1200" dirty="0"/>
          </a:p>
        </p:txBody>
      </p:sp>
      <p:sp>
        <p:nvSpPr>
          <p:cNvPr id="56" name="Text 47"/>
          <p:cNvSpPr txBox="1"/>
          <p:nvPr/>
        </p:nvSpPr>
        <p:spPr>
          <a:xfrm>
            <a:off x="5852160" y="6473952"/>
            <a:ext cx="5212080" cy="228600"/>
          </a:xfrm>
          <a:prstGeom prst="rect">
            <a:avLst/>
          </a:prstGeom>
          <a:noFill/>
          <a:ln/>
        </p:spPr>
        <p:txBody>
          <a:bodyPr wrap="square" lIns="0" tIns="0" rIns="0" bIns="0" rtlCol="0" anchor="ctr"/>
          <a:lstStyle/>
          <a:p>
            <a:pPr marL="0" indent="0" algn="r">
              <a:buNone/>
            </a:pPr>
            <a:r>
              <a:rPr lang="en-US" sz="900" b="1" dirty="0">
                <a:solidFill>
                  <a:schemeClr val="accent2"/>
                </a:solidFill>
                <a:latin typeface="Consolas" pitchFamily="34" charset="0"/>
                <a:ea typeface="Consolas" pitchFamily="34" charset="-122"/>
                <a:cs typeface="Consolas" pitchFamily="34" charset="-120"/>
              </a:rPr>
              <a:t>RUBRIC · SOLUTION IMPACT · 3 MARKS</a:t>
            </a:r>
            <a:endParaRPr lang="en-US" sz="900" dirty="0"/>
          </a:p>
        </p:txBody>
      </p:sp>
      <p:sp>
        <p:nvSpPr>
          <p:cNvPr id="57" name="Slide Number Placeholder 0"/>
          <p:cNvSpPr>
            <a:spLocks noGrp="1"/>
          </p:cNvSpPr>
          <p:nvPr>
            <p:ph type="sldNum" sz="quarter" idx="4294967295"/>
          </p:nvPr>
        </p:nvSpPr>
        <p:spPr>
          <a:xfrm>
            <a:off x="11183112" y="6473952"/>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tx2"/>
                </a:solidFill>
                <a:latin typeface="Consolas"/>
                <a:ea typeface="Consolas"/>
                <a:cs typeface="Consolas"/>
              </a:defRPr>
            </a:lvl1pPr>
          </a:lstStyle>
          <a:p>
            <a:pPr algn="r"/>
            <a:fld id="{F7021451-1387-4CA6-816F-3879F97B5CBC}" type="slidenum">
              <a:rPr lang="en-US" b="0"/>
              <a:t>11</a:t>
            </a:fld>
            <a:endParaRPr lang="en-US"/>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48640" y="301752"/>
            <a:ext cx="128016" cy="128016"/>
          </a:xfrm>
          <a:prstGeom prst="ellipse">
            <a:avLst/>
          </a:prstGeom>
          <a:solidFill>
            <a:srgbClr val="22C55E"/>
          </a:solidFill>
          <a:ln w="12700">
            <a:solidFill>
              <a:srgbClr val="22C55E"/>
            </a:solidFill>
            <a:prstDash val="solid"/>
          </a:ln>
        </p:spPr>
      </p:sp>
      <p:sp>
        <p:nvSpPr>
          <p:cNvPr id="3" name="Text 1"/>
          <p:cNvSpPr txBox="1"/>
          <p:nvPr/>
        </p:nvSpPr>
        <p:spPr>
          <a:xfrm>
            <a:off x="777240" y="274320"/>
            <a:ext cx="3657600" cy="201168"/>
          </a:xfrm>
          <a:prstGeom prst="rect">
            <a:avLst/>
          </a:prstGeom>
          <a:noFill/>
          <a:ln/>
        </p:spPr>
        <p:txBody>
          <a:bodyPr wrap="square" lIns="0" tIns="0" rIns="0" bIns="0" rtlCol="0" anchor="t"/>
          <a:lstStyle/>
          <a:p>
            <a:pPr marL="0" indent="0">
              <a:buNone/>
            </a:pPr>
            <a:r>
              <a:rPr lang="en-US" sz="1000" b="1" dirty="0">
                <a:solidFill>
                  <a:schemeClr val="accent4"/>
                </a:solidFill>
                <a:latin typeface="Consolas" pitchFamily="34" charset="0"/>
                <a:ea typeface="Consolas" pitchFamily="34" charset="-122"/>
                <a:cs typeface="Consolas" pitchFamily="34" charset="-120"/>
              </a:rPr>
              <a:t>MISSION COMPLETE</a:t>
            </a:r>
            <a:endParaRPr lang="en-US" sz="1000" dirty="0"/>
          </a:p>
        </p:txBody>
      </p:sp>
      <p:sp>
        <p:nvSpPr>
          <p:cNvPr id="4" name="Shape 2"/>
          <p:cNvSpPr/>
          <p:nvPr/>
        </p:nvSpPr>
        <p:spPr>
          <a:xfrm>
            <a:off x="10314432" y="301752"/>
            <a:ext cx="109728" cy="109728"/>
          </a:xfrm>
          <a:prstGeom prst="rect">
            <a:avLst/>
          </a:prstGeom>
          <a:solidFill>
            <a:schemeClr val="accent4"/>
          </a:solidFill>
          <a:ln w="12700">
            <a:solidFill>
              <a:schemeClr val="accent4"/>
            </a:solidFill>
            <a:prstDash val="solid"/>
          </a:ln>
        </p:spPr>
      </p:sp>
      <p:sp>
        <p:nvSpPr>
          <p:cNvPr id="5" name="Shape 3"/>
          <p:cNvSpPr/>
          <p:nvPr/>
        </p:nvSpPr>
        <p:spPr>
          <a:xfrm>
            <a:off x="10488168" y="301752"/>
            <a:ext cx="109728" cy="109728"/>
          </a:xfrm>
          <a:prstGeom prst="rect">
            <a:avLst/>
          </a:prstGeom>
          <a:solidFill>
            <a:schemeClr val="accent4"/>
          </a:solidFill>
          <a:ln w="12700">
            <a:solidFill>
              <a:schemeClr val="accent4"/>
            </a:solidFill>
            <a:prstDash val="solid"/>
          </a:ln>
        </p:spPr>
      </p:sp>
      <p:sp>
        <p:nvSpPr>
          <p:cNvPr id="6" name="Shape 4"/>
          <p:cNvSpPr/>
          <p:nvPr/>
        </p:nvSpPr>
        <p:spPr>
          <a:xfrm>
            <a:off x="10661904" y="301752"/>
            <a:ext cx="109728" cy="109728"/>
          </a:xfrm>
          <a:prstGeom prst="rect">
            <a:avLst/>
          </a:prstGeom>
          <a:solidFill>
            <a:schemeClr val="accent4"/>
          </a:solidFill>
          <a:ln w="12700">
            <a:solidFill>
              <a:schemeClr val="accent4"/>
            </a:solidFill>
            <a:prstDash val="solid"/>
          </a:ln>
        </p:spPr>
      </p:sp>
      <p:sp>
        <p:nvSpPr>
          <p:cNvPr id="7" name="Shape 5"/>
          <p:cNvSpPr/>
          <p:nvPr/>
        </p:nvSpPr>
        <p:spPr>
          <a:xfrm>
            <a:off x="10835640" y="301752"/>
            <a:ext cx="109728" cy="109728"/>
          </a:xfrm>
          <a:prstGeom prst="rect">
            <a:avLst/>
          </a:prstGeom>
          <a:solidFill>
            <a:schemeClr val="accent4"/>
          </a:solidFill>
          <a:ln w="12700">
            <a:solidFill>
              <a:schemeClr val="accent4"/>
            </a:solidFill>
            <a:prstDash val="solid"/>
          </a:ln>
        </p:spPr>
      </p:sp>
      <p:sp>
        <p:nvSpPr>
          <p:cNvPr id="8" name="Shape 6"/>
          <p:cNvSpPr/>
          <p:nvPr/>
        </p:nvSpPr>
        <p:spPr>
          <a:xfrm>
            <a:off x="11009376" y="301752"/>
            <a:ext cx="109728" cy="109728"/>
          </a:xfrm>
          <a:prstGeom prst="rect">
            <a:avLst/>
          </a:prstGeom>
          <a:solidFill>
            <a:schemeClr val="accent4"/>
          </a:solidFill>
          <a:ln w="12700">
            <a:solidFill>
              <a:schemeClr val="accent4"/>
            </a:solidFill>
            <a:prstDash val="solid"/>
          </a:ln>
        </p:spPr>
      </p:sp>
      <p:sp>
        <p:nvSpPr>
          <p:cNvPr id="9" name="Shape 7"/>
          <p:cNvSpPr/>
          <p:nvPr/>
        </p:nvSpPr>
        <p:spPr>
          <a:xfrm>
            <a:off x="11183112" y="301752"/>
            <a:ext cx="109728" cy="109728"/>
          </a:xfrm>
          <a:prstGeom prst="rect">
            <a:avLst/>
          </a:prstGeom>
          <a:solidFill>
            <a:schemeClr val="accent4"/>
          </a:solidFill>
          <a:ln w="12700">
            <a:solidFill>
              <a:schemeClr val="accent4"/>
            </a:solidFill>
            <a:prstDash val="solid"/>
          </a:ln>
        </p:spPr>
      </p:sp>
      <p:sp>
        <p:nvSpPr>
          <p:cNvPr id="10" name="Shape 8"/>
          <p:cNvSpPr/>
          <p:nvPr/>
        </p:nvSpPr>
        <p:spPr>
          <a:xfrm>
            <a:off x="11356848" y="301752"/>
            <a:ext cx="109728" cy="109728"/>
          </a:xfrm>
          <a:prstGeom prst="rect">
            <a:avLst/>
          </a:prstGeom>
          <a:solidFill>
            <a:schemeClr val="accent4"/>
          </a:solidFill>
          <a:ln w="12700">
            <a:solidFill>
              <a:schemeClr val="accent4"/>
            </a:solidFill>
            <a:prstDash val="solid"/>
          </a:ln>
        </p:spPr>
      </p:sp>
      <p:sp>
        <p:nvSpPr>
          <p:cNvPr id="11" name="Shape 9"/>
          <p:cNvSpPr/>
          <p:nvPr/>
        </p:nvSpPr>
        <p:spPr>
          <a:xfrm>
            <a:off x="11530584" y="301752"/>
            <a:ext cx="109728" cy="109728"/>
          </a:xfrm>
          <a:prstGeom prst="rect">
            <a:avLst/>
          </a:prstGeom>
          <a:solidFill>
            <a:schemeClr val="accent4"/>
          </a:solidFill>
          <a:ln w="12700">
            <a:solidFill>
              <a:schemeClr val="accent4"/>
            </a:solidFill>
            <a:prstDash val="solid"/>
          </a:ln>
        </p:spPr>
      </p:sp>
      <p:sp>
        <p:nvSpPr>
          <p:cNvPr id="12" name="Text 0"/>
          <p:cNvSpPr>
            <a:spLocks noGrp="1"/>
          </p:cNvSpPr>
          <p:nvPr>
            <p:ph type="title" idx="100" hasCustomPrompt="1"/>
          </p:nvPr>
        </p:nvSpPr>
        <p:spPr>
          <a:xfrm>
            <a:off x="548640" y="530352"/>
            <a:ext cx="11091672" cy="640080"/>
          </a:xfrm>
          <a:prstGeom prst="rect">
            <a:avLst/>
          </a:prstGeom>
          <a:noFill/>
          <a:ln/>
        </p:spPr>
        <p:txBody>
          <a:bodyPr wrap="square" lIns="0" tIns="0" rIns="0" bIns="0" rtlCol="0" anchor="ctr"/>
          <a:lstStyle/>
          <a:p>
            <a:pPr marL="0" indent="0" algn="l">
              <a:buNone/>
            </a:pPr>
            <a:r>
              <a:rPr lang="en-US" sz="3200" b="1" dirty="0">
                <a:solidFill>
                  <a:schemeClr val="tx1"/>
                </a:solidFill>
              </a:rPr>
              <a:t>AI + Drone + A* = Intelligent Disaster Response</a:t>
            </a:r>
            <a:endParaRPr lang="en-US" sz="3200" dirty="0"/>
          </a:p>
        </p:txBody>
      </p:sp>
      <p:sp>
        <p:nvSpPr>
          <p:cNvPr id="13" name="Shape 11"/>
          <p:cNvSpPr/>
          <p:nvPr/>
        </p:nvSpPr>
        <p:spPr>
          <a:xfrm>
            <a:off x="2304288" y="2240280"/>
            <a:ext cx="1042416" cy="0"/>
          </a:xfrm>
          <a:prstGeom prst="line">
            <a:avLst/>
          </a:prstGeom>
          <a:noFill/>
          <a:ln w="19050">
            <a:solidFill>
              <a:schemeClr val="accent1"/>
            </a:solidFill>
            <a:prstDash val="solid"/>
            <a:tailEnd type="triangle"/>
          </a:ln>
        </p:spPr>
      </p:sp>
      <p:sp>
        <p:nvSpPr>
          <p:cNvPr id="14" name="Shape 12"/>
          <p:cNvSpPr/>
          <p:nvPr/>
        </p:nvSpPr>
        <p:spPr>
          <a:xfrm>
            <a:off x="1280160" y="1783080"/>
            <a:ext cx="914400" cy="914400"/>
          </a:xfrm>
          <a:prstGeom prst="ellipse">
            <a:avLst/>
          </a:prstGeom>
          <a:solidFill>
            <a:schemeClr val="bg2"/>
          </a:solidFill>
          <a:ln w="28575">
            <a:solidFill>
              <a:schemeClr val="accent1"/>
            </a:solidFill>
            <a:prstDash val="solid"/>
          </a:ln>
        </p:spPr>
      </p:sp>
      <p:pic>
        <p:nvPicPr>
          <p:cNvPr id="15" name="Image 0" descr="preencoded.png"/>
          <p:cNvPicPr>
            <a:picLocks noChangeAspect="1"/>
          </p:cNvPicPr>
          <p:nvPr/>
        </p:nvPicPr>
        <p:blipFill>
          <a:blip r:embed="rId3"/>
          <a:stretch>
            <a:fillRect/>
          </a:stretch>
        </p:blipFill>
        <p:spPr>
          <a:xfrm>
            <a:off x="1536192" y="2039112"/>
            <a:ext cx="402336" cy="402336"/>
          </a:xfrm>
          <a:prstGeom prst="rect">
            <a:avLst/>
          </a:prstGeom>
        </p:spPr>
      </p:pic>
      <p:sp>
        <p:nvSpPr>
          <p:cNvPr id="16" name="Text 13"/>
          <p:cNvSpPr txBox="1"/>
          <p:nvPr/>
        </p:nvSpPr>
        <p:spPr>
          <a:xfrm>
            <a:off x="822960" y="2816352"/>
            <a:ext cx="1828800" cy="256032"/>
          </a:xfrm>
          <a:prstGeom prst="rect">
            <a:avLst/>
          </a:prstGeom>
          <a:noFill/>
          <a:ln/>
        </p:spPr>
        <p:txBody>
          <a:bodyPr wrap="square" lIns="0" tIns="0" rIns="0" bIns="0" rtlCol="0" anchor="t"/>
          <a:lstStyle/>
          <a:p>
            <a:pPr marL="0" indent="0" algn="ctr">
              <a:buNone/>
            </a:pPr>
            <a:r>
              <a:rPr lang="en-US" sz="1400" b="1" dirty="0">
                <a:solidFill>
                  <a:schemeClr val="accent1"/>
                </a:solidFill>
                <a:latin typeface="Consolas" pitchFamily="34" charset="0"/>
                <a:ea typeface="Consolas" pitchFamily="34" charset="-122"/>
                <a:cs typeface="Consolas" pitchFamily="34" charset="-120"/>
              </a:rPr>
              <a:t>SENSE</a:t>
            </a:r>
            <a:endParaRPr lang="en-US" sz="1400" dirty="0"/>
          </a:p>
        </p:txBody>
      </p:sp>
      <p:sp>
        <p:nvSpPr>
          <p:cNvPr id="17" name="Text 14"/>
          <p:cNvSpPr txBox="1"/>
          <p:nvPr/>
        </p:nvSpPr>
        <p:spPr>
          <a:xfrm>
            <a:off x="731520" y="3108960"/>
            <a:ext cx="2011680" cy="457200"/>
          </a:xfrm>
          <a:prstGeom prst="rect">
            <a:avLst/>
          </a:prstGeom>
          <a:noFill/>
          <a:ln/>
        </p:spPr>
        <p:txBody>
          <a:bodyPr wrap="square" lIns="0" tIns="0" rIns="0" bIns="0" rtlCol="0" anchor="t"/>
          <a:lstStyle/>
          <a:p>
            <a:pPr marL="0" indent="0" algn="ctr">
              <a:buNone/>
            </a:pPr>
            <a:r>
              <a:rPr lang="en-US" sz="1300" dirty="0">
                <a:solidFill>
                  <a:schemeClr val="tx2"/>
                </a:solidFill>
              </a:rPr>
              <a:t>Camera sees the zone</a:t>
            </a:r>
            <a:endParaRPr lang="en-US" sz="1300" dirty="0"/>
          </a:p>
        </p:txBody>
      </p:sp>
      <p:sp>
        <p:nvSpPr>
          <p:cNvPr id="18" name="Shape 15"/>
          <p:cNvSpPr/>
          <p:nvPr/>
        </p:nvSpPr>
        <p:spPr>
          <a:xfrm>
            <a:off x="4480560" y="2240280"/>
            <a:ext cx="1042416" cy="0"/>
          </a:xfrm>
          <a:prstGeom prst="line">
            <a:avLst/>
          </a:prstGeom>
          <a:noFill/>
          <a:ln w="19050">
            <a:solidFill>
              <a:schemeClr val="accent1"/>
            </a:solidFill>
            <a:prstDash val="solid"/>
            <a:tailEnd type="triangle"/>
          </a:ln>
        </p:spPr>
      </p:sp>
      <p:sp>
        <p:nvSpPr>
          <p:cNvPr id="19" name="Shape 16"/>
          <p:cNvSpPr/>
          <p:nvPr/>
        </p:nvSpPr>
        <p:spPr>
          <a:xfrm>
            <a:off x="3456432" y="1783080"/>
            <a:ext cx="914400" cy="914400"/>
          </a:xfrm>
          <a:prstGeom prst="ellipse">
            <a:avLst/>
          </a:prstGeom>
          <a:solidFill>
            <a:schemeClr val="bg2"/>
          </a:solidFill>
          <a:ln w="28575">
            <a:solidFill>
              <a:schemeClr val="accent1"/>
            </a:solidFill>
            <a:prstDash val="solid"/>
          </a:ln>
        </p:spPr>
      </p:sp>
      <p:pic>
        <p:nvPicPr>
          <p:cNvPr id="20" name="Image 1" descr="preencoded.png"/>
          <p:cNvPicPr>
            <a:picLocks noChangeAspect="1"/>
          </p:cNvPicPr>
          <p:nvPr/>
        </p:nvPicPr>
        <p:blipFill>
          <a:blip r:embed="rId4"/>
          <a:stretch>
            <a:fillRect/>
          </a:stretch>
        </p:blipFill>
        <p:spPr>
          <a:xfrm>
            <a:off x="3712464" y="2039112"/>
            <a:ext cx="402336" cy="402336"/>
          </a:xfrm>
          <a:prstGeom prst="rect">
            <a:avLst/>
          </a:prstGeom>
        </p:spPr>
      </p:pic>
      <p:sp>
        <p:nvSpPr>
          <p:cNvPr id="21" name="Text 17"/>
          <p:cNvSpPr txBox="1"/>
          <p:nvPr/>
        </p:nvSpPr>
        <p:spPr>
          <a:xfrm>
            <a:off x="2999232" y="2816352"/>
            <a:ext cx="1828800" cy="256032"/>
          </a:xfrm>
          <a:prstGeom prst="rect">
            <a:avLst/>
          </a:prstGeom>
          <a:noFill/>
          <a:ln/>
        </p:spPr>
        <p:txBody>
          <a:bodyPr wrap="square" lIns="0" tIns="0" rIns="0" bIns="0" rtlCol="0" anchor="t"/>
          <a:lstStyle/>
          <a:p>
            <a:pPr marL="0" indent="0" algn="ctr">
              <a:buNone/>
            </a:pPr>
            <a:r>
              <a:rPr lang="en-US" sz="1400" b="1" dirty="0">
                <a:solidFill>
                  <a:schemeClr val="accent1"/>
                </a:solidFill>
                <a:latin typeface="Consolas" pitchFamily="34" charset="0"/>
                <a:ea typeface="Consolas" pitchFamily="34" charset="-122"/>
                <a:cs typeface="Consolas" pitchFamily="34" charset="-120"/>
              </a:rPr>
              <a:t>THINK</a:t>
            </a:r>
            <a:endParaRPr lang="en-US" sz="1400" dirty="0"/>
          </a:p>
        </p:txBody>
      </p:sp>
      <p:sp>
        <p:nvSpPr>
          <p:cNvPr id="22" name="Text 18"/>
          <p:cNvSpPr txBox="1"/>
          <p:nvPr/>
        </p:nvSpPr>
        <p:spPr>
          <a:xfrm>
            <a:off x="2907792" y="3108960"/>
            <a:ext cx="2011680" cy="457200"/>
          </a:xfrm>
          <a:prstGeom prst="rect">
            <a:avLst/>
          </a:prstGeom>
          <a:noFill/>
          <a:ln/>
        </p:spPr>
        <p:txBody>
          <a:bodyPr wrap="square" lIns="0" tIns="0" rIns="0" bIns="0" rtlCol="0" anchor="t"/>
          <a:lstStyle/>
          <a:p>
            <a:pPr marL="0" indent="0" algn="ctr">
              <a:buNone/>
            </a:pPr>
            <a:r>
              <a:rPr lang="en-US" sz="1300" dirty="0">
                <a:solidFill>
                  <a:schemeClr val="tx2"/>
                </a:solidFill>
              </a:rPr>
              <a:t>State space + goal</a:t>
            </a:r>
            <a:endParaRPr lang="en-US" sz="1300" dirty="0"/>
          </a:p>
        </p:txBody>
      </p:sp>
      <p:sp>
        <p:nvSpPr>
          <p:cNvPr id="23" name="Shape 19"/>
          <p:cNvSpPr/>
          <p:nvPr/>
        </p:nvSpPr>
        <p:spPr>
          <a:xfrm>
            <a:off x="6656832" y="2240280"/>
            <a:ext cx="1042416" cy="0"/>
          </a:xfrm>
          <a:prstGeom prst="line">
            <a:avLst/>
          </a:prstGeom>
          <a:noFill/>
          <a:ln w="19050">
            <a:solidFill>
              <a:schemeClr val="accent1"/>
            </a:solidFill>
            <a:prstDash val="solid"/>
            <a:tailEnd type="triangle"/>
          </a:ln>
        </p:spPr>
      </p:sp>
      <p:sp>
        <p:nvSpPr>
          <p:cNvPr id="24" name="Shape 20"/>
          <p:cNvSpPr/>
          <p:nvPr/>
        </p:nvSpPr>
        <p:spPr>
          <a:xfrm>
            <a:off x="5632704" y="1783080"/>
            <a:ext cx="914400" cy="914400"/>
          </a:xfrm>
          <a:prstGeom prst="ellipse">
            <a:avLst/>
          </a:prstGeom>
          <a:solidFill>
            <a:schemeClr val="bg2"/>
          </a:solidFill>
          <a:ln w="28575">
            <a:solidFill>
              <a:schemeClr val="accent1"/>
            </a:solidFill>
            <a:prstDash val="solid"/>
          </a:ln>
        </p:spPr>
      </p:sp>
      <p:pic>
        <p:nvPicPr>
          <p:cNvPr id="25" name="Image 2" descr="preencoded.png"/>
          <p:cNvPicPr>
            <a:picLocks noChangeAspect="1"/>
          </p:cNvPicPr>
          <p:nvPr/>
        </p:nvPicPr>
        <p:blipFill>
          <a:blip r:embed="rId5"/>
          <a:stretch>
            <a:fillRect/>
          </a:stretch>
        </p:blipFill>
        <p:spPr>
          <a:xfrm>
            <a:off x="5888736" y="2039112"/>
            <a:ext cx="402336" cy="402336"/>
          </a:xfrm>
          <a:prstGeom prst="rect">
            <a:avLst/>
          </a:prstGeom>
        </p:spPr>
      </p:pic>
      <p:sp>
        <p:nvSpPr>
          <p:cNvPr id="26" name="Text 21"/>
          <p:cNvSpPr txBox="1"/>
          <p:nvPr/>
        </p:nvSpPr>
        <p:spPr>
          <a:xfrm>
            <a:off x="5175504" y="2816352"/>
            <a:ext cx="1828800" cy="256032"/>
          </a:xfrm>
          <a:prstGeom prst="rect">
            <a:avLst/>
          </a:prstGeom>
          <a:noFill/>
          <a:ln/>
        </p:spPr>
        <p:txBody>
          <a:bodyPr wrap="square" lIns="0" tIns="0" rIns="0" bIns="0" rtlCol="0" anchor="t"/>
          <a:lstStyle/>
          <a:p>
            <a:pPr marL="0" indent="0" algn="ctr">
              <a:buNone/>
            </a:pPr>
            <a:r>
              <a:rPr lang="en-US" sz="1400" b="1" dirty="0">
                <a:solidFill>
                  <a:schemeClr val="accent1"/>
                </a:solidFill>
                <a:latin typeface="Consolas" pitchFamily="34" charset="0"/>
                <a:ea typeface="Consolas" pitchFamily="34" charset="-122"/>
                <a:cs typeface="Consolas" pitchFamily="34" charset="-120"/>
              </a:rPr>
              <a:t>SEARCH</a:t>
            </a:r>
            <a:endParaRPr lang="en-US" sz="1400" dirty="0"/>
          </a:p>
        </p:txBody>
      </p:sp>
      <p:sp>
        <p:nvSpPr>
          <p:cNvPr id="27" name="Text 22"/>
          <p:cNvSpPr txBox="1"/>
          <p:nvPr/>
        </p:nvSpPr>
        <p:spPr>
          <a:xfrm>
            <a:off x="5084064" y="3108960"/>
            <a:ext cx="2011680" cy="457200"/>
          </a:xfrm>
          <a:prstGeom prst="rect">
            <a:avLst/>
          </a:prstGeom>
          <a:noFill/>
          <a:ln/>
        </p:spPr>
        <p:txBody>
          <a:bodyPr wrap="square" lIns="0" tIns="0" rIns="0" bIns="0" rtlCol="0" anchor="t"/>
          <a:lstStyle/>
          <a:p>
            <a:pPr marL="0" indent="0" algn="ctr">
              <a:buNone/>
            </a:pPr>
            <a:r>
              <a:rPr lang="en-US" sz="1300" dirty="0">
                <a:solidFill>
                  <a:schemeClr val="tx2"/>
                </a:solidFill>
              </a:rPr>
              <a:t>A* with f = g + h</a:t>
            </a:r>
            <a:endParaRPr lang="en-US" sz="1300" dirty="0"/>
          </a:p>
        </p:txBody>
      </p:sp>
      <p:sp>
        <p:nvSpPr>
          <p:cNvPr id="28" name="Shape 23"/>
          <p:cNvSpPr/>
          <p:nvPr/>
        </p:nvSpPr>
        <p:spPr>
          <a:xfrm>
            <a:off x="8833104" y="2240280"/>
            <a:ext cx="1042416" cy="0"/>
          </a:xfrm>
          <a:prstGeom prst="line">
            <a:avLst/>
          </a:prstGeom>
          <a:noFill/>
          <a:ln w="19050">
            <a:solidFill>
              <a:schemeClr val="accent1"/>
            </a:solidFill>
            <a:prstDash val="solid"/>
            <a:tailEnd type="triangle"/>
          </a:ln>
        </p:spPr>
      </p:sp>
      <p:sp>
        <p:nvSpPr>
          <p:cNvPr id="29" name="Shape 24"/>
          <p:cNvSpPr/>
          <p:nvPr/>
        </p:nvSpPr>
        <p:spPr>
          <a:xfrm>
            <a:off x="7808976" y="1783080"/>
            <a:ext cx="914400" cy="914400"/>
          </a:xfrm>
          <a:prstGeom prst="ellipse">
            <a:avLst/>
          </a:prstGeom>
          <a:solidFill>
            <a:schemeClr val="bg2"/>
          </a:solidFill>
          <a:ln w="28575">
            <a:solidFill>
              <a:schemeClr val="accent2"/>
            </a:solidFill>
            <a:prstDash val="solid"/>
          </a:ln>
        </p:spPr>
      </p:sp>
      <p:pic>
        <p:nvPicPr>
          <p:cNvPr id="30" name="Image 3" descr="preencoded.png"/>
          <p:cNvPicPr>
            <a:picLocks noChangeAspect="1"/>
          </p:cNvPicPr>
          <p:nvPr/>
        </p:nvPicPr>
        <p:blipFill>
          <a:blip r:embed="rId6"/>
          <a:stretch>
            <a:fillRect/>
          </a:stretch>
        </p:blipFill>
        <p:spPr>
          <a:xfrm>
            <a:off x="8065008" y="2039112"/>
            <a:ext cx="402336" cy="402336"/>
          </a:xfrm>
          <a:prstGeom prst="rect">
            <a:avLst/>
          </a:prstGeom>
        </p:spPr>
      </p:pic>
      <p:sp>
        <p:nvSpPr>
          <p:cNvPr id="31" name="Text 25"/>
          <p:cNvSpPr txBox="1"/>
          <p:nvPr/>
        </p:nvSpPr>
        <p:spPr>
          <a:xfrm>
            <a:off x="7351776" y="2816352"/>
            <a:ext cx="1828800" cy="256032"/>
          </a:xfrm>
          <a:prstGeom prst="rect">
            <a:avLst/>
          </a:prstGeom>
          <a:noFill/>
          <a:ln/>
        </p:spPr>
        <p:txBody>
          <a:bodyPr wrap="square" lIns="0" tIns="0" rIns="0" bIns="0" rtlCol="0" anchor="t"/>
          <a:lstStyle/>
          <a:p>
            <a:pPr marL="0" indent="0" algn="ctr">
              <a:buNone/>
            </a:pPr>
            <a:r>
              <a:rPr lang="en-US" sz="1400" b="1" dirty="0">
                <a:solidFill>
                  <a:schemeClr val="accent2"/>
                </a:solidFill>
                <a:latin typeface="Consolas" pitchFamily="34" charset="0"/>
                <a:ea typeface="Consolas" pitchFamily="34" charset="-122"/>
                <a:cs typeface="Consolas" pitchFamily="34" charset="-120"/>
              </a:rPr>
              <a:t>REACH</a:t>
            </a:r>
            <a:endParaRPr lang="en-US" sz="1400" dirty="0"/>
          </a:p>
        </p:txBody>
      </p:sp>
      <p:sp>
        <p:nvSpPr>
          <p:cNvPr id="32" name="Text 26"/>
          <p:cNvSpPr txBox="1"/>
          <p:nvPr/>
        </p:nvSpPr>
        <p:spPr>
          <a:xfrm>
            <a:off x="7260336" y="3108960"/>
            <a:ext cx="2011680" cy="457200"/>
          </a:xfrm>
          <a:prstGeom prst="rect">
            <a:avLst/>
          </a:prstGeom>
          <a:noFill/>
          <a:ln/>
        </p:spPr>
        <p:txBody>
          <a:bodyPr wrap="square" lIns="0" tIns="0" rIns="0" bIns="0" rtlCol="0" anchor="t"/>
          <a:lstStyle/>
          <a:p>
            <a:pPr marL="0" indent="0" algn="ctr">
              <a:buNone/>
            </a:pPr>
            <a:r>
              <a:rPr lang="en-US" sz="1300" dirty="0">
                <a:solidFill>
                  <a:schemeClr val="tx2"/>
                </a:solidFill>
              </a:rPr>
              <a:t>Survivor located</a:t>
            </a:r>
            <a:endParaRPr lang="en-US" sz="1300" dirty="0"/>
          </a:p>
        </p:txBody>
      </p:sp>
      <p:sp>
        <p:nvSpPr>
          <p:cNvPr id="33" name="Shape 27"/>
          <p:cNvSpPr/>
          <p:nvPr/>
        </p:nvSpPr>
        <p:spPr>
          <a:xfrm>
            <a:off x="9985248" y="1783080"/>
            <a:ext cx="914400" cy="914400"/>
          </a:xfrm>
          <a:prstGeom prst="ellipse">
            <a:avLst/>
          </a:prstGeom>
          <a:solidFill>
            <a:schemeClr val="bg2"/>
          </a:solidFill>
          <a:ln w="28575">
            <a:solidFill>
              <a:schemeClr val="accent2"/>
            </a:solidFill>
            <a:prstDash val="solid"/>
          </a:ln>
        </p:spPr>
      </p:sp>
      <p:pic>
        <p:nvPicPr>
          <p:cNvPr id="34" name="Image 4" descr="preencoded.png"/>
          <p:cNvPicPr>
            <a:picLocks noChangeAspect="1"/>
          </p:cNvPicPr>
          <p:nvPr/>
        </p:nvPicPr>
        <p:blipFill>
          <a:blip r:embed="rId7"/>
          <a:stretch>
            <a:fillRect/>
          </a:stretch>
        </p:blipFill>
        <p:spPr>
          <a:xfrm>
            <a:off x="10241280" y="2039112"/>
            <a:ext cx="402336" cy="402336"/>
          </a:xfrm>
          <a:prstGeom prst="rect">
            <a:avLst/>
          </a:prstGeom>
        </p:spPr>
      </p:pic>
      <p:sp>
        <p:nvSpPr>
          <p:cNvPr id="35" name="Text 28"/>
          <p:cNvSpPr txBox="1"/>
          <p:nvPr/>
        </p:nvSpPr>
        <p:spPr>
          <a:xfrm>
            <a:off x="9528048" y="2816352"/>
            <a:ext cx="1828800" cy="256032"/>
          </a:xfrm>
          <a:prstGeom prst="rect">
            <a:avLst/>
          </a:prstGeom>
          <a:noFill/>
          <a:ln/>
        </p:spPr>
        <p:txBody>
          <a:bodyPr wrap="square" lIns="0" tIns="0" rIns="0" bIns="0" rtlCol="0" anchor="t"/>
          <a:lstStyle/>
          <a:p>
            <a:pPr marL="0" indent="0" algn="ctr">
              <a:buNone/>
            </a:pPr>
            <a:r>
              <a:rPr lang="en-US" sz="1400" b="1" dirty="0">
                <a:solidFill>
                  <a:schemeClr val="accent2"/>
                </a:solidFill>
                <a:latin typeface="Consolas" pitchFamily="34" charset="0"/>
                <a:ea typeface="Consolas" pitchFamily="34" charset="-122"/>
                <a:cs typeface="Consolas" pitchFamily="34" charset="-120"/>
              </a:rPr>
              <a:t>RESCUE</a:t>
            </a:r>
            <a:endParaRPr lang="en-US" sz="1400" dirty="0"/>
          </a:p>
        </p:txBody>
      </p:sp>
      <p:sp>
        <p:nvSpPr>
          <p:cNvPr id="36" name="Text 29"/>
          <p:cNvSpPr txBox="1"/>
          <p:nvPr/>
        </p:nvSpPr>
        <p:spPr>
          <a:xfrm>
            <a:off x="9436608" y="3108960"/>
            <a:ext cx="2011680" cy="457200"/>
          </a:xfrm>
          <a:prstGeom prst="rect">
            <a:avLst/>
          </a:prstGeom>
          <a:noFill/>
          <a:ln/>
        </p:spPr>
        <p:txBody>
          <a:bodyPr wrap="square" lIns="0" tIns="0" rIns="0" bIns="0" rtlCol="0" anchor="t"/>
          <a:lstStyle/>
          <a:p>
            <a:pPr marL="0" indent="0" algn="ctr">
              <a:buNone/>
            </a:pPr>
            <a:r>
              <a:rPr lang="en-US" sz="1300" dirty="0">
                <a:solidFill>
                  <a:schemeClr val="tx2"/>
                </a:solidFill>
              </a:rPr>
              <a:t>Human team takes over</a:t>
            </a:r>
            <a:endParaRPr lang="en-US" sz="1300" dirty="0"/>
          </a:p>
        </p:txBody>
      </p:sp>
      <p:sp>
        <p:nvSpPr>
          <p:cNvPr id="37" name="Text 30"/>
          <p:cNvSpPr txBox="1"/>
          <p:nvPr/>
        </p:nvSpPr>
        <p:spPr>
          <a:xfrm>
            <a:off x="548640" y="3840480"/>
            <a:ext cx="8229600" cy="411480"/>
          </a:xfrm>
          <a:prstGeom prst="rect">
            <a:avLst/>
          </a:prstGeom>
          <a:noFill/>
          <a:ln/>
        </p:spPr>
        <p:txBody>
          <a:bodyPr wrap="square" lIns="0" tIns="0" rIns="0" bIns="0" rtlCol="0" anchor="t"/>
          <a:lstStyle/>
          <a:p>
            <a:pPr marL="0" indent="0">
              <a:buNone/>
            </a:pPr>
            <a:r>
              <a:rPr lang="en-US" sz="2200" b="1" i="1" dirty="0">
                <a:solidFill>
                  <a:schemeClr val="accent1"/>
                </a:solidFill>
              </a:rPr>
              <a:t>AI perceives, A* plans, the drone acts, and people rescue.</a:t>
            </a:r>
            <a:endParaRPr lang="en-US" sz="2200" dirty="0"/>
          </a:p>
        </p:txBody>
      </p:sp>
      <p:sp>
        <p:nvSpPr>
          <p:cNvPr id="38" name="Shape 31"/>
          <p:cNvSpPr/>
          <p:nvPr/>
        </p:nvSpPr>
        <p:spPr>
          <a:xfrm>
            <a:off x="9601200" y="3904488"/>
            <a:ext cx="2039112" cy="310896"/>
          </a:xfrm>
          <a:prstGeom prst="roundRect">
            <a:avLst>
              <a:gd name="adj" fmla="val 14706"/>
            </a:avLst>
          </a:prstGeom>
          <a:solidFill>
            <a:schemeClr val="bg1">
              <a:alpha val="75000"/>
            </a:schemeClr>
          </a:solidFill>
          <a:ln w="12700">
            <a:solidFill>
              <a:srgbClr val="F59E0B"/>
            </a:solidFill>
            <a:prstDash val="solid"/>
          </a:ln>
        </p:spPr>
      </p:sp>
      <p:sp>
        <p:nvSpPr>
          <p:cNvPr id="39" name="Text 32"/>
          <p:cNvSpPr txBox="1"/>
          <p:nvPr/>
        </p:nvSpPr>
        <p:spPr>
          <a:xfrm>
            <a:off x="9601200" y="3904488"/>
            <a:ext cx="2039112" cy="310896"/>
          </a:xfrm>
          <a:prstGeom prst="rect">
            <a:avLst/>
          </a:prstGeom>
          <a:noFill/>
          <a:ln/>
        </p:spPr>
        <p:txBody>
          <a:bodyPr wrap="square" lIns="0" tIns="0" rIns="0" bIns="0" rtlCol="0" anchor="ctr"/>
          <a:lstStyle/>
          <a:p>
            <a:pPr marL="0" indent="0" algn="ctr">
              <a:buNone/>
            </a:pPr>
            <a:r>
              <a:rPr lang="en-US" sz="900" b="1" dirty="0">
                <a:solidFill>
                  <a:srgbClr val="F59E0B"/>
                </a:solidFill>
                <a:latin typeface="Consolas" pitchFamily="34" charset="0"/>
                <a:ea typeface="Consolas" pitchFamily="34" charset="-122"/>
                <a:cs typeface="Consolas" pitchFamily="34" charset="-120"/>
              </a:rPr>
              <a:t>QUESTIONS WELCOME</a:t>
            </a:r>
            <a:endParaRPr lang="en-US" sz="900" dirty="0"/>
          </a:p>
        </p:txBody>
      </p:sp>
      <p:sp>
        <p:nvSpPr>
          <p:cNvPr id="40" name="Rubric trail"/>
          <p:cNvSpPr/>
          <p:nvPr/>
        </p:nvSpPr>
        <p:spPr>
          <a:xfrm>
            <a:off x="548640" y="4572000"/>
            <a:ext cx="11091672" cy="1691640"/>
          </a:xfrm>
          <a:prstGeom prst="roundRect">
            <a:avLst>
              <a:gd name="adj" fmla="val 4324"/>
            </a:avLst>
          </a:prstGeom>
          <a:solidFill>
            <a:schemeClr val="bg2"/>
          </a:solidFill>
          <a:ln w="12700">
            <a:solidFill>
              <a:schemeClr val="accent5"/>
            </a:solidFill>
            <a:prstDash val="solid"/>
          </a:ln>
        </p:spPr>
      </p:sp>
      <p:sp>
        <p:nvSpPr>
          <p:cNvPr id="41" name="Text 34"/>
          <p:cNvSpPr txBox="1"/>
          <p:nvPr/>
        </p:nvSpPr>
        <p:spPr>
          <a:xfrm>
            <a:off x="731520" y="4681728"/>
            <a:ext cx="5486400" cy="201168"/>
          </a:xfrm>
          <a:prstGeom prst="rect">
            <a:avLst/>
          </a:prstGeom>
          <a:noFill/>
          <a:ln/>
        </p:spPr>
        <p:txBody>
          <a:bodyPr wrap="square" lIns="0" tIns="0" rIns="0" bIns="0" rtlCol="0" anchor="t"/>
          <a:lstStyle/>
          <a:p>
            <a:pPr marL="0" indent="0">
              <a:buNone/>
            </a:pPr>
            <a:r>
              <a:rPr lang="en-US" sz="900" b="1" dirty="0">
                <a:solidFill>
                  <a:schemeClr val="tx2"/>
                </a:solidFill>
                <a:latin typeface="Consolas" pitchFamily="34" charset="0"/>
                <a:ea typeface="Consolas" pitchFamily="34" charset="-122"/>
                <a:cs typeface="Consolas" pitchFamily="34" charset="-120"/>
              </a:rPr>
              <a:t>RUBRIC TRAIL · WHERE EACH PART WAS COVERED</a:t>
            </a:r>
            <a:endParaRPr lang="en-US" sz="900" dirty="0"/>
          </a:p>
        </p:txBody>
      </p:sp>
      <p:sp>
        <p:nvSpPr>
          <p:cNvPr id="42" name="Shape 35"/>
          <p:cNvSpPr/>
          <p:nvPr/>
        </p:nvSpPr>
        <p:spPr>
          <a:xfrm>
            <a:off x="731520" y="5029200"/>
            <a:ext cx="1444752" cy="822960"/>
          </a:xfrm>
          <a:prstGeom prst="roundRect">
            <a:avLst>
              <a:gd name="adj" fmla="val 8889"/>
            </a:avLst>
          </a:prstGeom>
          <a:solidFill>
            <a:schemeClr val="bg1"/>
          </a:solidFill>
          <a:ln w="12700">
            <a:solidFill>
              <a:schemeClr val="accent5"/>
            </a:solidFill>
            <a:prstDash val="solid"/>
          </a:ln>
        </p:spPr>
      </p:sp>
      <p:sp>
        <p:nvSpPr>
          <p:cNvPr id="43" name="Text 36"/>
          <p:cNvSpPr txBox="1"/>
          <p:nvPr/>
        </p:nvSpPr>
        <p:spPr>
          <a:xfrm>
            <a:off x="731520" y="5102352"/>
            <a:ext cx="1444752" cy="256032"/>
          </a:xfrm>
          <a:prstGeom prst="rect">
            <a:avLst/>
          </a:prstGeom>
          <a:noFill/>
          <a:ln/>
        </p:spPr>
        <p:txBody>
          <a:bodyPr wrap="square" lIns="0" tIns="0" rIns="0" bIns="0" rtlCol="0" anchor="ctr"/>
          <a:lstStyle/>
          <a:p>
            <a:pPr marL="0" indent="0" algn="ctr">
              <a:buNone/>
            </a:pPr>
            <a:r>
              <a:rPr lang="en-US" sz="900" b="1" dirty="0">
                <a:solidFill>
                  <a:schemeClr val="accent1"/>
                </a:solidFill>
                <a:latin typeface="Consolas" pitchFamily="34" charset="0"/>
                <a:ea typeface="Consolas" pitchFamily="34" charset="-122"/>
                <a:cs typeface="Consolas" pitchFamily="34" charset="-120"/>
              </a:rPr>
              <a:t>PROBLEM</a:t>
            </a:r>
            <a:endParaRPr lang="en-US" sz="900" dirty="0"/>
          </a:p>
        </p:txBody>
      </p:sp>
      <p:sp>
        <p:nvSpPr>
          <p:cNvPr id="44" name="Text 37"/>
          <p:cNvSpPr txBox="1"/>
          <p:nvPr/>
        </p:nvSpPr>
        <p:spPr>
          <a:xfrm>
            <a:off x="731520" y="5394960"/>
            <a:ext cx="1444752" cy="320040"/>
          </a:xfrm>
          <a:prstGeom prst="rect">
            <a:avLst/>
          </a:prstGeom>
          <a:noFill/>
          <a:ln/>
        </p:spPr>
        <p:txBody>
          <a:bodyPr wrap="square" lIns="0" tIns="0" rIns="0" bIns="0" rtlCol="0" anchor="ctr"/>
          <a:lstStyle/>
          <a:p>
            <a:pPr marL="0" indent="0" algn="ctr">
              <a:buNone/>
            </a:pPr>
            <a:r>
              <a:rPr lang="en-US" sz="1400" b="1" dirty="0">
                <a:solidFill>
                  <a:schemeClr val="tx1"/>
                </a:solidFill>
              </a:rPr>
              <a:t>slide 2</a:t>
            </a:r>
            <a:endParaRPr lang="en-US" sz="1400" dirty="0"/>
          </a:p>
        </p:txBody>
      </p:sp>
      <p:sp>
        <p:nvSpPr>
          <p:cNvPr id="45" name="Shape 38"/>
          <p:cNvSpPr/>
          <p:nvPr/>
        </p:nvSpPr>
        <p:spPr>
          <a:xfrm>
            <a:off x="2286000" y="5029200"/>
            <a:ext cx="1444752" cy="822960"/>
          </a:xfrm>
          <a:prstGeom prst="roundRect">
            <a:avLst>
              <a:gd name="adj" fmla="val 8889"/>
            </a:avLst>
          </a:prstGeom>
          <a:solidFill>
            <a:schemeClr val="bg1"/>
          </a:solidFill>
          <a:ln w="12700">
            <a:solidFill>
              <a:schemeClr val="accent5"/>
            </a:solidFill>
            <a:prstDash val="solid"/>
          </a:ln>
        </p:spPr>
      </p:sp>
      <p:sp>
        <p:nvSpPr>
          <p:cNvPr id="46" name="Text 39"/>
          <p:cNvSpPr txBox="1"/>
          <p:nvPr/>
        </p:nvSpPr>
        <p:spPr>
          <a:xfrm>
            <a:off x="2286000" y="5102352"/>
            <a:ext cx="1444752" cy="256032"/>
          </a:xfrm>
          <a:prstGeom prst="rect">
            <a:avLst/>
          </a:prstGeom>
          <a:noFill/>
          <a:ln/>
        </p:spPr>
        <p:txBody>
          <a:bodyPr wrap="square" lIns="0" tIns="0" rIns="0" bIns="0" rtlCol="0" anchor="ctr"/>
          <a:lstStyle/>
          <a:p>
            <a:pPr marL="0" indent="0" algn="ctr">
              <a:buNone/>
            </a:pPr>
            <a:r>
              <a:rPr lang="en-US" sz="900" b="1" dirty="0">
                <a:solidFill>
                  <a:schemeClr val="accent1"/>
                </a:solidFill>
                <a:latin typeface="Consolas" pitchFamily="34" charset="0"/>
                <a:ea typeface="Consolas" pitchFamily="34" charset="-122"/>
                <a:cs typeface="Consolas" pitchFamily="34" charset="-120"/>
              </a:rPr>
              <a:t>SOLUTION</a:t>
            </a:r>
            <a:endParaRPr lang="en-US" sz="900" dirty="0"/>
          </a:p>
        </p:txBody>
      </p:sp>
      <p:sp>
        <p:nvSpPr>
          <p:cNvPr id="47" name="Text 40"/>
          <p:cNvSpPr txBox="1"/>
          <p:nvPr/>
        </p:nvSpPr>
        <p:spPr>
          <a:xfrm>
            <a:off x="2286000" y="5394960"/>
            <a:ext cx="1444752" cy="320040"/>
          </a:xfrm>
          <a:prstGeom prst="rect">
            <a:avLst/>
          </a:prstGeom>
          <a:noFill/>
          <a:ln/>
        </p:spPr>
        <p:txBody>
          <a:bodyPr wrap="square" lIns="0" tIns="0" rIns="0" bIns="0" rtlCol="0" anchor="ctr"/>
          <a:lstStyle/>
          <a:p>
            <a:pPr marL="0" indent="0" algn="ctr">
              <a:buNone/>
            </a:pPr>
            <a:r>
              <a:rPr lang="en-US" sz="1400" b="1" dirty="0">
                <a:solidFill>
                  <a:schemeClr val="tx1"/>
                </a:solidFill>
              </a:rPr>
              <a:t>slide 3</a:t>
            </a:r>
            <a:endParaRPr lang="en-US" sz="1400" dirty="0"/>
          </a:p>
        </p:txBody>
      </p:sp>
      <p:sp>
        <p:nvSpPr>
          <p:cNvPr id="48" name="Shape 41"/>
          <p:cNvSpPr/>
          <p:nvPr/>
        </p:nvSpPr>
        <p:spPr>
          <a:xfrm>
            <a:off x="3840480" y="5029200"/>
            <a:ext cx="1444752" cy="822960"/>
          </a:xfrm>
          <a:prstGeom prst="roundRect">
            <a:avLst>
              <a:gd name="adj" fmla="val 8889"/>
            </a:avLst>
          </a:prstGeom>
          <a:solidFill>
            <a:schemeClr val="bg1"/>
          </a:solidFill>
          <a:ln w="12700">
            <a:solidFill>
              <a:schemeClr val="accent5"/>
            </a:solidFill>
            <a:prstDash val="solid"/>
          </a:ln>
        </p:spPr>
      </p:sp>
      <p:sp>
        <p:nvSpPr>
          <p:cNvPr id="49" name="Text 42"/>
          <p:cNvSpPr txBox="1"/>
          <p:nvPr/>
        </p:nvSpPr>
        <p:spPr>
          <a:xfrm>
            <a:off x="3840480" y="5102352"/>
            <a:ext cx="1444752" cy="256032"/>
          </a:xfrm>
          <a:prstGeom prst="rect">
            <a:avLst/>
          </a:prstGeom>
          <a:noFill/>
          <a:ln/>
        </p:spPr>
        <p:txBody>
          <a:bodyPr wrap="square" lIns="0" tIns="0" rIns="0" bIns="0" rtlCol="0" anchor="ctr"/>
          <a:lstStyle/>
          <a:p>
            <a:pPr marL="0" indent="0" algn="ctr">
              <a:buNone/>
            </a:pPr>
            <a:r>
              <a:rPr lang="en-US" sz="900" b="1" dirty="0">
                <a:solidFill>
                  <a:schemeClr val="accent1"/>
                </a:solidFill>
                <a:latin typeface="Consolas" pitchFamily="34" charset="0"/>
                <a:ea typeface="Consolas" pitchFamily="34" charset="-122"/>
                <a:cs typeface="Consolas" pitchFamily="34" charset="-120"/>
              </a:rPr>
              <a:t>AI CONCEPTS</a:t>
            </a:r>
            <a:endParaRPr lang="en-US" sz="900" dirty="0"/>
          </a:p>
        </p:txBody>
      </p:sp>
      <p:sp>
        <p:nvSpPr>
          <p:cNvPr id="50" name="Text 43"/>
          <p:cNvSpPr txBox="1"/>
          <p:nvPr/>
        </p:nvSpPr>
        <p:spPr>
          <a:xfrm>
            <a:off x="3840480" y="5394960"/>
            <a:ext cx="1444752" cy="320040"/>
          </a:xfrm>
          <a:prstGeom prst="rect">
            <a:avLst/>
          </a:prstGeom>
          <a:noFill/>
          <a:ln/>
        </p:spPr>
        <p:txBody>
          <a:bodyPr wrap="square" lIns="0" tIns="0" rIns="0" bIns="0" rtlCol="0" anchor="ctr"/>
          <a:lstStyle/>
          <a:p>
            <a:pPr marL="0" indent="0" algn="ctr">
              <a:buNone/>
            </a:pPr>
            <a:r>
              <a:rPr lang="en-US" sz="1400" b="1" dirty="0">
                <a:solidFill>
                  <a:schemeClr val="tx1"/>
                </a:solidFill>
              </a:rPr>
              <a:t>slides 4–5</a:t>
            </a:r>
            <a:endParaRPr lang="en-US" sz="1400" dirty="0"/>
          </a:p>
        </p:txBody>
      </p:sp>
      <p:sp>
        <p:nvSpPr>
          <p:cNvPr id="51" name="Shape 44"/>
          <p:cNvSpPr/>
          <p:nvPr/>
        </p:nvSpPr>
        <p:spPr>
          <a:xfrm>
            <a:off x="5394960" y="5029200"/>
            <a:ext cx="1444752" cy="822960"/>
          </a:xfrm>
          <a:prstGeom prst="roundRect">
            <a:avLst>
              <a:gd name="adj" fmla="val 8889"/>
            </a:avLst>
          </a:prstGeom>
          <a:solidFill>
            <a:schemeClr val="bg1"/>
          </a:solidFill>
          <a:ln w="12700">
            <a:solidFill>
              <a:schemeClr val="accent5"/>
            </a:solidFill>
            <a:prstDash val="solid"/>
          </a:ln>
        </p:spPr>
      </p:sp>
      <p:sp>
        <p:nvSpPr>
          <p:cNvPr id="52" name="Text 45"/>
          <p:cNvSpPr txBox="1"/>
          <p:nvPr/>
        </p:nvSpPr>
        <p:spPr>
          <a:xfrm>
            <a:off x="5394960" y="5102352"/>
            <a:ext cx="1444752" cy="256032"/>
          </a:xfrm>
          <a:prstGeom prst="rect">
            <a:avLst/>
          </a:prstGeom>
          <a:noFill/>
          <a:ln/>
        </p:spPr>
        <p:txBody>
          <a:bodyPr wrap="square" lIns="0" tIns="0" rIns="0" bIns="0" rtlCol="0" anchor="ctr"/>
          <a:lstStyle/>
          <a:p>
            <a:pPr marL="0" indent="0" algn="ctr">
              <a:buNone/>
            </a:pPr>
            <a:r>
              <a:rPr lang="en-US" sz="900" b="1" dirty="0">
                <a:solidFill>
                  <a:schemeClr val="accent1"/>
                </a:solidFill>
                <a:latin typeface="Consolas" pitchFamily="34" charset="0"/>
                <a:ea typeface="Consolas" pitchFamily="34" charset="-122"/>
                <a:cs typeface="Consolas" pitchFamily="34" charset="-120"/>
              </a:rPr>
              <a:t>A* IDENTIFIED</a:t>
            </a:r>
            <a:endParaRPr lang="en-US" sz="900" dirty="0"/>
          </a:p>
        </p:txBody>
      </p:sp>
      <p:sp>
        <p:nvSpPr>
          <p:cNvPr id="53" name="Text 46"/>
          <p:cNvSpPr txBox="1"/>
          <p:nvPr/>
        </p:nvSpPr>
        <p:spPr>
          <a:xfrm>
            <a:off x="5394960" y="5394960"/>
            <a:ext cx="1444752" cy="320040"/>
          </a:xfrm>
          <a:prstGeom prst="rect">
            <a:avLst/>
          </a:prstGeom>
          <a:noFill/>
          <a:ln/>
        </p:spPr>
        <p:txBody>
          <a:bodyPr wrap="square" lIns="0" tIns="0" rIns="0" bIns="0" rtlCol="0" anchor="ctr"/>
          <a:lstStyle/>
          <a:p>
            <a:pPr marL="0" indent="0" algn="ctr">
              <a:buNone/>
            </a:pPr>
            <a:r>
              <a:rPr lang="en-US" sz="1400" b="1" dirty="0">
                <a:solidFill>
                  <a:schemeClr val="tx1"/>
                </a:solidFill>
              </a:rPr>
              <a:t>slide 6</a:t>
            </a:r>
            <a:endParaRPr lang="en-US" sz="1400" dirty="0"/>
          </a:p>
        </p:txBody>
      </p:sp>
      <p:sp>
        <p:nvSpPr>
          <p:cNvPr id="54" name="Shape 47"/>
          <p:cNvSpPr/>
          <p:nvPr/>
        </p:nvSpPr>
        <p:spPr>
          <a:xfrm>
            <a:off x="6949440" y="5029200"/>
            <a:ext cx="1444752" cy="822960"/>
          </a:xfrm>
          <a:prstGeom prst="roundRect">
            <a:avLst>
              <a:gd name="adj" fmla="val 8889"/>
            </a:avLst>
          </a:prstGeom>
          <a:solidFill>
            <a:schemeClr val="bg1"/>
          </a:solidFill>
          <a:ln w="12700">
            <a:solidFill>
              <a:schemeClr val="accent5"/>
            </a:solidFill>
            <a:prstDash val="solid"/>
          </a:ln>
        </p:spPr>
      </p:sp>
      <p:sp>
        <p:nvSpPr>
          <p:cNvPr id="55" name="Text 48"/>
          <p:cNvSpPr txBox="1"/>
          <p:nvPr/>
        </p:nvSpPr>
        <p:spPr>
          <a:xfrm>
            <a:off x="6949440" y="5102352"/>
            <a:ext cx="1444752" cy="256032"/>
          </a:xfrm>
          <a:prstGeom prst="rect">
            <a:avLst/>
          </a:prstGeom>
          <a:noFill/>
          <a:ln/>
        </p:spPr>
        <p:txBody>
          <a:bodyPr wrap="square" lIns="0" tIns="0" rIns="0" bIns="0" rtlCol="0" anchor="ctr"/>
          <a:lstStyle/>
          <a:p>
            <a:pPr marL="0" indent="0" algn="ctr">
              <a:buNone/>
            </a:pPr>
            <a:r>
              <a:rPr lang="en-US" sz="900" b="1" dirty="0">
                <a:solidFill>
                  <a:schemeClr val="accent1"/>
                </a:solidFill>
                <a:latin typeface="Consolas" pitchFamily="34" charset="0"/>
                <a:ea typeface="Consolas" pitchFamily="34" charset="-122"/>
                <a:cs typeface="Consolas" pitchFamily="34" charset="-120"/>
              </a:rPr>
              <a:t>A* APPLIED</a:t>
            </a:r>
            <a:endParaRPr lang="en-US" sz="900" dirty="0"/>
          </a:p>
        </p:txBody>
      </p:sp>
      <p:sp>
        <p:nvSpPr>
          <p:cNvPr id="56" name="Text 49"/>
          <p:cNvSpPr txBox="1"/>
          <p:nvPr/>
        </p:nvSpPr>
        <p:spPr>
          <a:xfrm>
            <a:off x="6949440" y="5394960"/>
            <a:ext cx="1444752" cy="320040"/>
          </a:xfrm>
          <a:prstGeom prst="rect">
            <a:avLst/>
          </a:prstGeom>
          <a:noFill/>
          <a:ln/>
        </p:spPr>
        <p:txBody>
          <a:bodyPr wrap="square" lIns="0" tIns="0" rIns="0" bIns="0" rtlCol="0" anchor="ctr"/>
          <a:lstStyle/>
          <a:p>
            <a:pPr marL="0" indent="0" algn="ctr">
              <a:buNone/>
            </a:pPr>
            <a:r>
              <a:rPr lang="en-US" sz="1400" b="1" dirty="0">
                <a:solidFill>
                  <a:schemeClr val="tx1"/>
                </a:solidFill>
              </a:rPr>
              <a:t>slides 7–8</a:t>
            </a:r>
            <a:endParaRPr lang="en-US" sz="1400" dirty="0"/>
          </a:p>
        </p:txBody>
      </p:sp>
      <p:sp>
        <p:nvSpPr>
          <p:cNvPr id="57" name="Shape 50"/>
          <p:cNvSpPr/>
          <p:nvPr/>
        </p:nvSpPr>
        <p:spPr>
          <a:xfrm>
            <a:off x="8503920" y="5029200"/>
            <a:ext cx="1444752" cy="822960"/>
          </a:xfrm>
          <a:prstGeom prst="roundRect">
            <a:avLst>
              <a:gd name="adj" fmla="val 8889"/>
            </a:avLst>
          </a:prstGeom>
          <a:solidFill>
            <a:schemeClr val="bg1"/>
          </a:solidFill>
          <a:ln w="12700">
            <a:solidFill>
              <a:schemeClr val="accent5"/>
            </a:solidFill>
            <a:prstDash val="solid"/>
          </a:ln>
        </p:spPr>
      </p:sp>
      <p:sp>
        <p:nvSpPr>
          <p:cNvPr id="58" name="Text 51"/>
          <p:cNvSpPr txBox="1"/>
          <p:nvPr/>
        </p:nvSpPr>
        <p:spPr>
          <a:xfrm>
            <a:off x="8503920" y="5102352"/>
            <a:ext cx="1444752" cy="256032"/>
          </a:xfrm>
          <a:prstGeom prst="rect">
            <a:avLst/>
          </a:prstGeom>
          <a:noFill/>
          <a:ln/>
        </p:spPr>
        <p:txBody>
          <a:bodyPr wrap="square" lIns="0" tIns="0" rIns="0" bIns="0" rtlCol="0" anchor="ctr"/>
          <a:lstStyle/>
          <a:p>
            <a:pPr marL="0" indent="0" algn="ctr">
              <a:buNone/>
            </a:pPr>
            <a:r>
              <a:rPr lang="en-US" sz="900" b="1" dirty="0">
                <a:solidFill>
                  <a:schemeClr val="accent1"/>
                </a:solidFill>
                <a:latin typeface="Consolas" pitchFamily="34" charset="0"/>
                <a:ea typeface="Consolas" pitchFamily="34" charset="-122"/>
                <a:cs typeface="Consolas" pitchFamily="34" charset="-120"/>
              </a:rPr>
              <a:t>A* JUSTIFIED</a:t>
            </a:r>
            <a:endParaRPr lang="en-US" sz="900" dirty="0"/>
          </a:p>
        </p:txBody>
      </p:sp>
      <p:sp>
        <p:nvSpPr>
          <p:cNvPr id="59" name="Text 52"/>
          <p:cNvSpPr txBox="1"/>
          <p:nvPr/>
        </p:nvSpPr>
        <p:spPr>
          <a:xfrm>
            <a:off x="8503920" y="5394960"/>
            <a:ext cx="1444752" cy="320040"/>
          </a:xfrm>
          <a:prstGeom prst="rect">
            <a:avLst/>
          </a:prstGeom>
          <a:noFill/>
          <a:ln/>
        </p:spPr>
        <p:txBody>
          <a:bodyPr wrap="square" lIns="0" tIns="0" rIns="0" bIns="0" rtlCol="0" anchor="ctr"/>
          <a:lstStyle/>
          <a:p>
            <a:pPr marL="0" indent="0" algn="ctr">
              <a:buNone/>
            </a:pPr>
            <a:r>
              <a:rPr lang="en-US" sz="1400" b="1" dirty="0">
                <a:solidFill>
                  <a:schemeClr val="tx1"/>
                </a:solidFill>
              </a:rPr>
              <a:t>slides 8–9</a:t>
            </a:r>
            <a:endParaRPr lang="en-US" sz="1400" dirty="0"/>
          </a:p>
        </p:txBody>
      </p:sp>
      <p:sp>
        <p:nvSpPr>
          <p:cNvPr id="60" name="Shape 53"/>
          <p:cNvSpPr/>
          <p:nvPr/>
        </p:nvSpPr>
        <p:spPr>
          <a:xfrm>
            <a:off x="10058400" y="5029200"/>
            <a:ext cx="1444752" cy="822960"/>
          </a:xfrm>
          <a:prstGeom prst="roundRect">
            <a:avLst>
              <a:gd name="adj" fmla="val 8889"/>
            </a:avLst>
          </a:prstGeom>
          <a:solidFill>
            <a:schemeClr val="bg1"/>
          </a:solidFill>
          <a:ln w="12700">
            <a:solidFill>
              <a:schemeClr val="accent5"/>
            </a:solidFill>
            <a:prstDash val="solid"/>
          </a:ln>
        </p:spPr>
      </p:sp>
      <p:sp>
        <p:nvSpPr>
          <p:cNvPr id="61" name="Text 54"/>
          <p:cNvSpPr txBox="1"/>
          <p:nvPr/>
        </p:nvSpPr>
        <p:spPr>
          <a:xfrm>
            <a:off x="10058400" y="5102352"/>
            <a:ext cx="1444752" cy="256032"/>
          </a:xfrm>
          <a:prstGeom prst="rect">
            <a:avLst/>
          </a:prstGeom>
          <a:noFill/>
          <a:ln/>
        </p:spPr>
        <p:txBody>
          <a:bodyPr wrap="square" lIns="0" tIns="0" rIns="0" bIns="0" rtlCol="0" anchor="ctr"/>
          <a:lstStyle/>
          <a:p>
            <a:pPr marL="0" indent="0" algn="ctr">
              <a:buNone/>
            </a:pPr>
            <a:r>
              <a:rPr lang="en-US" sz="900" b="1" dirty="0">
                <a:solidFill>
                  <a:schemeClr val="accent1"/>
                </a:solidFill>
                <a:latin typeface="Consolas" pitchFamily="34" charset="0"/>
                <a:ea typeface="Consolas" pitchFamily="34" charset="-122"/>
                <a:cs typeface="Consolas" pitchFamily="34" charset="-120"/>
              </a:rPr>
              <a:t>IMPACT</a:t>
            </a:r>
            <a:endParaRPr lang="en-US" sz="900" dirty="0"/>
          </a:p>
        </p:txBody>
      </p:sp>
      <p:sp>
        <p:nvSpPr>
          <p:cNvPr id="62" name="Text 55"/>
          <p:cNvSpPr txBox="1"/>
          <p:nvPr/>
        </p:nvSpPr>
        <p:spPr>
          <a:xfrm>
            <a:off x="10058400" y="5394960"/>
            <a:ext cx="1444752" cy="320040"/>
          </a:xfrm>
          <a:prstGeom prst="rect">
            <a:avLst/>
          </a:prstGeom>
          <a:noFill/>
          <a:ln/>
        </p:spPr>
        <p:txBody>
          <a:bodyPr wrap="square" lIns="0" tIns="0" rIns="0" bIns="0" rtlCol="0" anchor="ctr"/>
          <a:lstStyle/>
          <a:p>
            <a:pPr marL="0" indent="0" algn="ctr">
              <a:buNone/>
            </a:pPr>
            <a:r>
              <a:rPr lang="en-US" sz="1400" b="1" dirty="0">
                <a:solidFill>
                  <a:schemeClr val="tx1"/>
                </a:solidFill>
              </a:rPr>
              <a:t>slides 10–11</a:t>
            </a:r>
            <a:endParaRPr lang="en-US" sz="1400" dirty="0"/>
          </a:p>
        </p:txBody>
      </p:sp>
      <p:sp>
        <p:nvSpPr>
          <p:cNvPr id="63" name="Text 56"/>
          <p:cNvSpPr txBox="1"/>
          <p:nvPr/>
        </p:nvSpPr>
        <p:spPr>
          <a:xfrm>
            <a:off x="731520" y="5943600"/>
            <a:ext cx="7315200" cy="228600"/>
          </a:xfrm>
          <a:prstGeom prst="rect">
            <a:avLst/>
          </a:prstGeom>
          <a:noFill/>
          <a:ln/>
        </p:spPr>
        <p:txBody>
          <a:bodyPr wrap="square" lIns="0" tIns="0" rIns="0" bIns="0" rtlCol="0" anchor="t"/>
          <a:lstStyle/>
          <a:p>
            <a:pPr marL="0" indent="0">
              <a:buNone/>
            </a:pPr>
            <a:r>
              <a:rPr lang="en-US" sz="900" dirty="0">
                <a:solidFill>
                  <a:schemeClr val="tx2"/>
                </a:solidFill>
                <a:latin typeface="Consolas" pitchFamily="34" charset="0"/>
                <a:ea typeface="Consolas" pitchFamily="34" charset="-122"/>
                <a:cs typeface="Consolas" pitchFamily="34" charset="-120"/>
              </a:rPr>
              <a:t>Proposed system, academic case study: all benefits are expected, not measured.</a:t>
            </a:r>
            <a:endParaRPr lang="en-US" sz="900" dirty="0"/>
          </a:p>
        </p:txBody>
      </p:sp>
      <p:sp>
        <p:nvSpPr>
          <p:cNvPr id="64" name="Slide Number Placeholder 0"/>
          <p:cNvSpPr>
            <a:spLocks noGrp="1"/>
          </p:cNvSpPr>
          <p:nvPr>
            <p:ph type="sldNum" sz="quarter" idx="4294967295"/>
          </p:nvPr>
        </p:nvSpPr>
        <p:spPr>
          <a:xfrm>
            <a:off x="11183112" y="6473952"/>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tx2"/>
                </a:solidFill>
                <a:latin typeface="Consolas"/>
                <a:ea typeface="Consolas"/>
                <a:cs typeface="Consolas"/>
              </a:defRPr>
            </a:lvl1pPr>
          </a:lstStyle>
          <a:p>
            <a:pPr algn="r"/>
            <a:fld id="{F7021451-1387-4CA6-816F-3879F97B5CBC}" type="slidenum">
              <a:rPr lang="en-US" b="0"/>
              <a:t>12</a:t>
            </a:fld>
            <a:endParaRPr lang="en-US"/>
          </a:p>
        </p:txBody>
      </p:sp>
    </p:spTree>
  </p:cSld>
  <p:clrMapOvr>
    <a:masterClrMapping/>
  </p:clrMapOvr>
  <p:transition spd="med">
    <p:fade/>
  </p:transition>
</p:sld>
</file>

<file path=ppt/theme/theme1.xml><?xml version="1.0" encoding="utf-8"?>
<a:theme xmlns:a="http://schemas.openxmlformats.org/drawingml/2006/main" name="Rescue HUD">
  <a:themeElements>
    <a:clrScheme name="Rescue HUD">
      <a:dk1>
        <a:srgbClr val="F1F5F9"/>
      </a:dk1>
      <a:lt1>
        <a:srgbClr val="0B1220"/>
      </a:lt1>
      <a:dk2>
        <a:srgbClr val="94A3B8"/>
      </a:dk2>
      <a:lt2>
        <a:srgbClr val="111B2E"/>
      </a:lt2>
      <a:accent1>
        <a:srgbClr val="22D3EE"/>
      </a:accent1>
      <a:accent2>
        <a:srgbClr val="F59E0B"/>
      </a:accent2>
      <a:accent3>
        <a:srgbClr val="EF4444"/>
      </a:accent3>
      <a:accent4>
        <a:srgbClr val="22C55E"/>
      </a:accent4>
      <a:accent5>
        <a:srgbClr val="24324D"/>
      </a:accent5>
      <a:accent6>
        <a:srgbClr val="1D2B48"/>
      </a:accent6>
      <a:hlink>
        <a:srgbClr val="22D3EE"/>
      </a:hlink>
      <a:folHlink>
        <a:srgbClr val="94A3B8"/>
      </a:folHlink>
    </a:clrScheme>
    <a:fontScheme name="Rescue HUD">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3818</Words>
  <Application>Microsoft Office PowerPoint</Application>
  <PresentationFormat>Widescreen</PresentationFormat>
  <Paragraphs>485</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Consolas</vt:lpstr>
      <vt:lpstr>Rescue HUD</vt:lpstr>
      <vt:lpstr>AI-Based Drone Search &amp; Rescue in Disaster Zones</vt:lpstr>
      <vt:lpstr>Why conventional search is hard</vt:lpstr>
      <vt:lpstr>Our proposed system: from camera to rescue</vt:lpstr>
      <vt:lpstr>How the drone “thinks”: five AI concepts</vt:lpstr>
      <vt:lpstr>The disaster zone becomes a search space</vt:lpstr>
      <vt:lpstr>Why A* search?</vt:lpstr>
      <vt:lpstr>A* in action: the first decision</vt:lpstr>
      <vt:lpstr>A* in action: the dead end, then the finish</vt:lpstr>
      <vt:lpstr>Why A* over other search methods?</vt:lpstr>
      <vt:lpstr>Limitations and where we go next</vt:lpstr>
      <vt:lpstr>Expected impact of the proposed system</vt:lpstr>
      <vt:lpstr>AI + Drone + A* = Intelligent Disaster Response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AI-Based Drone Search &amp; Rescue in Disaster Zones</dc:title>
  <dc:subject>PptxGenJS Presentation</dc:subject>
  <dc:creator>Shujaat Khan, Kaivalya Khandeshe, Ritesh Talpade</dc:creator>
  <cp:lastModifiedBy>shashank khandeshe</cp:lastModifiedBy>
  <cp:revision>2</cp:revision>
  <dcterms:created xsi:type="dcterms:W3CDTF">2026-10-08T11:50:53Z</dcterms:created>
  <dcterms:modified xsi:type="dcterms:W3CDTF">2026-10-09T08:00:38Z</dcterms:modified>
</cp:coreProperties>
</file>